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B57042"/>
            </a:solidFill>
            <a:effectLst/>
          </c:spPr>
          <c:invertIfNegative val="0"/>
          <c:dLbls>
            <c:numFmt formatCode="0.00&quot; mm&quot;"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B57042"/>
              </a:solidFill>
              <a:effectLst/>
            </c:spPr>
          </c:dPt>
          <c:dPt>
            <c:idx val="1"/>
            <c:invertIfNegative val="0"/>
            <c:bubble3D val="0"/>
            <c:spPr>
              <a:solidFill>
                <a:srgbClr val="A7B7A2"/>
              </a:solidFill>
              <a:effectLst/>
            </c:spPr>
          </c:dPt>
          <c:dPt>
            <c:idx val="2"/>
            <c:invertIfNegative val="0"/>
            <c:bubble3D val="0"/>
            <c:spPr>
              <a:solidFill>
                <a:srgbClr val="346A55"/>
              </a:solidFill>
              <a:effectLst/>
            </c:spPr>
          </c:dPt>
          <c:cat>
            <c:multiLvlStrRef>
              <c:f>Sheet1!$A$2:$A$4</c:f>
              <c:multiLvlStrCache>
                <c:ptCount val="3"/>
                <c:lvl>
                  <c:pt idx="0">
                    <c:v>Simply supported</c:v>
                  </c:pt>
                  <c:pt idx="1">
                    <c:v>Adopted L/200 target</c:v>
                  </c:pt>
                  <c:pt idx="2">
                    <c:v>Ideal fixed ends</c:v>
                  </c:pt>
                </c:lvl>
              </c:multiLvlStrCache>
            </c:multiLvlStrRef>
          </c:cat>
          <c:val>
            <c:numRef>
              <c:f>Sheet1!$B$2:$B$4</c:f>
              <c:numCache>
                <c:formatCode>General</c:formatCode>
                <c:ptCount val="3"/>
                <c:pt idx="0">
                  <c:v>100.533387276407</c:v>
                </c:pt>
                <c:pt idx="1">
                  <c:v>33.25</c:v>
                </c:pt>
                <c:pt idx="2">
                  <c:v>20.1066774552815</c:v>
                </c:pt>
              </c:numCache>
            </c:numRef>
          </c:val>
        </c:ser>
        <c:dLbls>
          <c:numFmt formatCode="0.00&quot; mm&quot;"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35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540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final geometry and its drawing definitions.
Q&amp;A
Where are the full roles? The cover retains the core allocation; the planning document records the complete supplied descriptions.
SOURCE BASIS (not spoken)
User-supplied team-allocation screenshot; project title approved in conversation.
P1: final Rhino model and project modelling reports.
Cover roles follow the supplied five-person allocation; no dates or school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
SOURCE BASIS (not spoken)
P1: original project report §03 actual canopy geometry.
Supplement 数据/00_结构参数与Rhino检查.json; original final-model mesh/centre-lines.
research/supplemental-geometric-check.json: geometry derived from the supplied baseline mesh and support curves.
Dimensions ≈6.22×6.66×3.48m; maximum projected span ≈6.91m; support endpoint-chord angles ≈45.9–50.7°. Model-derived descriptors, not measured site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Follow the sunlight, air and plant-water arrows; only shade is quantified here.
SPOKEN SCRIPT
The crown and foliage intercept direct sun before it reaches people and the ground. The solar arrows identify the pathway quantified in our optical scenarios. Blue arrows show potential air paths through open sides, not a simulated wind improvement. The dashed plant-water arrows indicate possible evapotranspiration, which depends on healthy plants and water. Denser foliage can also resist airflow.
TRANSITION
Material assignment follows the structural roles.
Q&amp;A
Do these arrows show simulated temperature or wind? No. They explain physical mechanisms; the project quantifies shade, not cooling degrees or wind speed.
SOURCE BASIS (not spoken)
Original analysis report §02 支架—植物—降温作用逻辑, table 遮阴/辐射/蒸腾/空气流动.
Original report: 没有把遮阴率换算为确定温降; no measured temperature/wind/Tmrt/UTCI results.
Source: 植物遮阴减少人体和地面直接太阳暴露; 叶片水分蒸发涉及潜热交换，收益受供水、气孔和天气影响; 开敞侧界保留侧向通道. Arrows explain reported mechanisms, not simulated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The screening table shows the inputs; the next decision is how to use them.
Q&amp;A
Does the exterior model contain the final wall thickness? No. The pipe exterior and proposed material section must be distinguished.
SOURCE BASIS (not spoken)
Cost-Analysis.xlsx / 材料比选!A17:G18; 几何与用量 section B.
Cost-Analysis.xlsx / 规格与连接!A4:E5; 模块化建造分析!A3.
Source split: 47 crown members, 219.28m, solid Ø80 bamboo; 12 ground-reaching steel Ø80×4 supports, 69.38m. Support text: 受压为主兼受风弯; crown text: 挠度在铰接下不满足L/200.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These inputs motivate a hybrid strategy, with conditions attached.
Q&amp;A
Are these all verified design values? No. They are workbook screening inputs, and the bamboo identity and properties must be confirmed consistently.
SOURCE BASIS (not spoken)
Cost-Analysis.xlsx / 材料比选!A6:O13, selected rows 6,7,11,12,13.
Cost-Analysis.xlsx / 选型决策矩阵!A32:B34.
Five displayed rows retain workbook inputs. Cost assumes all 288.66m use that row’s material; it is not the final hybrid unit cost. Durability and environmental scoring are workbook judgements, not verified product lifetimes.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material strategy follows structural roles and keeps feasibility conditions explicit.
SPOKEN SCRIPT
The workbook combines screening with a structural feasibility gate. Steel is assigned to supports under compression and wind bending. Bamboo is adopted for the crown using cost and carbon inputs, but the deflection sheet requires node rotational-stiffness verification. The lower cards summarise the five material criteria. Member-input savings do not establish a lower total unit cost.
TRANSITION
The next check shows why crown stiffness makes the joints important.
Q&amp;A
Does the material screen establish a lower total unit cost? No. It compares equal-length member inputs. The separate unit budget includes nodes, installation and care. Low conductivity also does not establish a measured temperature benefit.
SOURCE BASIS (not spoken)
Cost-Analysis.xlsx / 材料比选!A17:G18, A23:H24.
Cost-Analysis.xlsx / 挠度校核!A21:G23 and A46:B46.
Cost-Analysis.xlsx / 选型决策矩阵!A2:B2 and A28:B34; 规格与连接!A4:E5; 模块化建造分析!A3.
Workbook assigns steel to compression/wind-bending support role; tabulated EI steel145.2049 vs bamboo20.1062kN·m². Decision matrix requires feasibility gates in addition to scores. Row46 explicitly says 必须由结构同学出刚接节点详图并验算转动刚度 and the ≥3×simple-support assumption must hold. Five criteria follow the supplied rubric/workbook; no new performance result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adopted target is numerically between two ideal beam results; node verification is explicitly required by the workbook.
SPOKEN SCRIPT
The same six point six five metre bamboo-member calculation gives one hundred point five millimetres with simple supports and twenty point one with ideal fixed ends. The adopted target is thirty-three point two five millimetres, shown between them. This makes rotational restraint a design requirement to investigate. The proposed node does not prove that restraint, and the member check does not verify the whole frame.
TRANSITION
The proposed node also has a significant budget allowance.
Q&amp;A
What must be verified next? Product stiffness, node moment–rotation behaviour, load transfer and the whole frame under relevant loads. The supplied workbook explicitly requires a node detail and rotational-stiffness verification.
SOURCE BASIS (not spoken)
Cost-Analysis.xlsx / 挠度校核!B6:B16, A21:G23, A31:J32, A46:B46.
Cost-Analysis.xlsx / 模块化建造分析!A3.
Same simplified 6.65m solidØ80 bamboo member; E10GPa, wet foliage18kg/m² inputs; deflections100.5333873/20.1066775mm. Adopted6650/200=33.25mm; ratios3.02356 and0.60471. Node plate/sleeve/grout/adhesive/bolts are proposed in source, not verified restraint.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
SOURCE BASIS (not spoken)
Cost-Analysis.xlsx / 造价明细, seven category totals and materials detail.
Seven-category sum 51,675.7187099CNY; materials30,549.3022975CNY; 12 nodes×1,000CNY=12,000CNY. All displayed prices remain estimates; component rows are included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
SOURCE BASIS (not spoken)
Cost-Analysis.xlsx / 材料比选 carbon summary, adopted hybrid row.
Cost-Analysis.xlsx / 模块化建造分析 and original report maintenance/interface proposals.
Adopted estimate: members1581.19629365 + base1088.64 + other150 =2819.83629365kgCO₂e; base38.61%. Factor boundaries not verified; no biogenic credit. Maintenance text follows protection/inspection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2+1 mix is a project proposal, not a verified choice for every city.
SPOKEN SCRIPT
The material schedule proposes two Boston ivy plants and one Rangoon creeper. Boston ivy is deciduous, so a summer canopy should not be presented as year-round cover. The source lists Rangoon creeper as a twining companion and trumpet creeper as an alternative. Local climate and attachment still need checking, as required by the analysis report. Guides, irrigation and pruning are part of the planting design.
TRANSITION
Next, the optical method used to evaluate shade.
Q&amp;A
Is this mix suitable for every city? No. The analysis report requires checking local climate, climbing method, root space and maintenance.
SOURCE BASIS (not spoken)
Cost-Analysis.xlsx / 爬藤植物选择!A5:H7 and A14:B14.
Cost-Analysis.xlsx / 模块化建造分析!A10:H10.
Original analysis report §07 plant interface: 确认当地气候、攀附方式、根区、叶重、风荷载及落叶/落果维护.
Source identifies Parthenocissus tricuspidata as main, Combretum indicum companion, Campsis grandiflora alternative; proposes2+1 plants,1.2m³ substrate and drip. Local suitability/attachment are checks, not new verified botanical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Identify the metric and time window before interpreting any percentage.
SPOKEN SCRIPT
The first metric measures ideal leaf-envelope shadow on the target. The second includes frame shadows, assumed leaf patches, their overlap and transmittance. We use the first for the daily and solar-season result, and the second for parameter and coverage comparisons. The target is shared, but the percentages are not interchangeable. Neither is a temperature reduction.
TRANSITION
First, read the ideal daily result across the full time window.
Q&amp;A
What is the second formula? Aeq = Abare + (1 − τ)(Aleaf − Aoverlap), then divide by the target area. It is equivalent direct-beam blockage under the stated optical assumptions, not total solar-energy attenuation.
SOURCE BASIS (not spoken)
Original project report and 分析参数与汇总.json: ideal continuous-leaf projection.
Supplement D_Structure_and_Plant_Cover_Simulation.docx, §01–02; 数据/模拟参数与汇总.json.
Supplement formula Aeq=Abare+(1−tau)(Aleaf−Aoverlap), tau=.15 assumed; same5×5m target excludingr.75m. Ideal leaf-envelope overlap and equivalent direct-beam blockage have different definitions; neither is temperature or total solar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footprint and the whole time window, not only the noon peak.
SPOKEN SCRIPT
The solstice footprint overlaps about forty-seven percent of the target at nine and fifteen solar time, and almost ninety-nine percent at noon. The curve adds the intervening hours and an equinox solar case. Their means are about seventy-five and fifty percent. The noon peak therefore cannot stand for the whole use period: morning and afternoon exposure must be checked when placing seating. The equinox comparison changes solar conditions, not plant leaf cover.
TRANSITION
We then change one geometric control at a time.
Q&amp;A
Does winter use the equinox result? No. Winter solar conditions and plant leaf states would need their own inputs.
SOURCE BASIS (not spoken)
Original 04_图表与计算数据/01_原参数_C_D_典型时刻遮阴.csv and 02_原参数_C_D_15分钟遮阴曲线.csv, final-model rows.
Original report §结论与依据; §07 application and §08 evaluation.
09/12/15 solstice overlap47.2/98.7/47.2%; 09–15 means75.3% solstice and49.8% equinox. Source advises seating by use time and reporting weakest periods; noon peak cannot describe the whole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Seven cases change expansion, upper-height control or corner factor one at a time. At fifty percent cover, expansion changes mean blockage from fifty-two point three to sixty-six point one percent. The table retains the other results. The source report cautions that a larger crown at equal cover needs more planted area. These shade comparisons do not hold inputs equal or establish an optimum.
TRANSITION
Next, keep the structure fixed and change foliage.
Q&amp;A
Does the height control shift the whole model by 0.4 metres? No. It is smoothly weighted; actual maximum heights must be read from the geometry records.
SOURCE BASIS (not spoken)
Supplement 数据/02_参数与生长覆盖_汇总.csv: Solstice, cover=.5, seven cases.
Supplement 数据/00_结构参数与Rhino检查.json and report §01–02.
Expansion52.2795–66.1435%; height57.7692–62.6491%; corner59.0899–61.7752% (rounded). Largest tested max–min spread is expansion; this does not compare sensitivities per unit change. Source: a larger crown at equal cover percentage also requires more planted area; equal percentage does not imply equal material or plant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curve separates plan cover from mean direct-beam blockage. Bare members already provide shade at zero leaf cover. From eighty to ninety-five percent cover, mean blockage increases by only two point eight percentage points in these scenarios. Separately, at the same fifty percent cover, the three layouts give noon blockage from sixty-two point six to seventy-seven point five percent. The supplied report therefore asks us to consider leaf location and occupied-hour seating, not coverage alone.
TRANSITION
We connect that moving footprint to public use.
Q&amp;A
Why is 95% cover not 95% blockage? Target intersection, frame overlap, leaf placement and transmittance all affect the metric.
SOURCE BASIS (not spoken)
Supplement 数据/02_参数与生长覆盖_汇总.csv: baseline Solstice cover0/.2/.5/.8/.95.
Supplement 数据/05_相同50覆盖_分布敏感性.csv: cover=.5, solar time12.
Supplement report §02: compare seat locations during occupied hours; same-cover spatial placement matters.
Mean blockage40.2187/48.6371/60.1972/67.9113/70.6955%;80→95 cover gives70.69545−67.91127=2.78418percentage points≈2.8pp. Noon patterns inner_spreading/dispersed/outer_first give77.4671/71.3662/62.6164%. These are distinct comparisons, not growth-time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
SOURCE BASIS (not spoken)
Original report §07 application scenarios and §08 evaluation/validation.
Supplement report §02; fixed-cover daytime-shadow GIF and related CSV.
Source: compare seating during occupied hours; allow root/water/maintenance/circulation; measure shaded/unshaded environmental variables. No actual-street or measured-comfort result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
SOURCE BASIS (not spoken)
Cost-Analysis.xlsx / 模块化建造分析!A3:H10 and labour/assembly sections.
Cost-Analysis.xlsx / 造价明细 labour and counterweight entries.
Source modules: crown/supports/nodes/base/planting; grouting requires curing and changes reversibility. Base9072kg and labour14person-days are source estimates, not certified foundation or calendar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plant suitability and real-site performance are the next checks. Thank you.
TRANSITION
We welcome your questions.
Q&amp;A
What can be stated most confidently? The defined project geometry and the calculated shade scenarios under their explicit assumptions.
SOURCE BASIS (not spoken)
P1 supplied Rhino/GH model; P3 workbook; P2/P5 analysis reports and datasets.
Supplement 数据/01_参数与生长覆盖_时段结果.csv and native-model checks.
Work summary traces three supplied streams; seven parameter cases, five cover states and1750main result rows. Remaining checks reflect explicitly assumed inputs and unverified nodes/site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
SOURCE BASIS (not spoken)
Original analysis report bibliography entries for Watanabe etal2014, Hoelscher etal2016, NOAA and UTCI.
User-provided project files P1–P5.
Bibliographic leads were supplied by the project; original-source checks remain pending. No DOI or new literature conclusion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4-1.gif"/><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7/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pic>
        <p:nvPicPr>
          <p:cNvPr id="15" name="Image 0" descr="/workspace/temp/presentation/v7/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7/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How the canopy can improve pedestrian comfort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physical pathways, with the strength of evidence shown next to each.</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 project P2/P5. Greening mechanisms: [1,2]. Arrows are conceptual; no temperature or airflow field is simulated.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7/assets/cover-80.png">    </p:cNvPr>
          <p:cNvPicPr>
            <a:picLocks noChangeAspect="1"/>
          </p:cNvPicPr>
          <p:nvPr/>
        </p:nvPicPr>
        <p:blipFill>
          <a:blip r:embed="rId1"/>
          <a:stretch>
            <a:fillRect/>
          </a:stretch>
        </p:blipFill>
        <p:spPr>
          <a:xfrm>
            <a:off x="3967184" y="2148840"/>
            <a:ext cx="4172288" cy="3017520"/>
          </a:xfrm>
          <a:prstGeom prst="rect">
            <a:avLst/>
          </a:prstGeom>
        </p:spPr>
      </p:pic>
      <p:sp>
        <p:nvSpPr>
          <p:cNvPr id="16" name="Shape 13"/>
          <p:cNvSpPr/>
          <p:nvPr/>
        </p:nvSpPr>
        <p:spPr>
          <a:xfrm>
            <a:off x="950976" y="2423160"/>
            <a:ext cx="512064" cy="512064"/>
          </a:xfrm>
          <a:prstGeom prst="ellipse">
            <a:avLst/>
          </a:prstGeom>
          <a:solidFill>
            <a:srgbClr val="E3B45D"/>
          </a:solidFill>
          <a:ln w="12700">
            <a:solidFill>
              <a:srgbClr val="E3B45D"/>
            </a:solidFill>
            <a:prstDash val="solid"/>
          </a:ln>
        </p:spPr>
      </p:sp>
      <p:sp>
        <p:nvSpPr>
          <p:cNvPr id="17" name="Shape 14"/>
          <p:cNvSpPr/>
          <p:nvPr/>
        </p:nvSpPr>
        <p:spPr>
          <a:xfrm>
            <a:off x="1627632" y="2651760"/>
            <a:ext cx="1901952" cy="731520"/>
          </a:xfrm>
          <a:prstGeom prst="line">
            <a:avLst/>
          </a:prstGeom>
          <a:noFill/>
          <a:ln w="26670">
            <a:solidFill>
              <a:srgbClr val="D3A14B"/>
            </a:solidFill>
            <a:prstDash val="solid"/>
            <a:headEnd type="none"/>
            <a:tailEnd type="triangle"/>
          </a:ln>
        </p:spPr>
      </p:sp>
      <p:sp>
        <p:nvSpPr>
          <p:cNvPr id="18" name="Shape 15"/>
          <p:cNvSpPr/>
          <p:nvPr/>
        </p:nvSpPr>
        <p:spPr>
          <a:xfrm>
            <a:off x="2039112" y="2651760"/>
            <a:ext cx="1901952" cy="731520"/>
          </a:xfrm>
          <a:prstGeom prst="line">
            <a:avLst/>
          </a:prstGeom>
          <a:noFill/>
          <a:ln w="26670">
            <a:solidFill>
              <a:srgbClr val="D3A14B"/>
            </a:solidFill>
            <a:prstDash val="solid"/>
            <a:headEnd type="none"/>
            <a:tailEnd type="triangle"/>
          </a:ln>
        </p:spPr>
      </p:sp>
      <p:sp>
        <p:nvSpPr>
          <p:cNvPr id="19" name="Shape 16"/>
          <p:cNvSpPr/>
          <p:nvPr/>
        </p:nvSpPr>
        <p:spPr>
          <a:xfrm>
            <a:off x="2450592" y="2651760"/>
            <a:ext cx="1901952" cy="731520"/>
          </a:xfrm>
          <a:prstGeom prst="line">
            <a:avLst/>
          </a:prstGeom>
          <a:noFill/>
          <a:ln w="26670">
            <a:solidFill>
              <a:srgbClr val="D3A14B"/>
            </a:solidFill>
            <a:prstDash val="solid"/>
            <a:headEnd type="none"/>
            <a:tailEnd type="triangle"/>
          </a:ln>
        </p:spPr>
      </p:sp>
      <p:sp>
        <p:nvSpPr>
          <p:cNvPr id="20" name="Shape 17"/>
          <p:cNvSpPr/>
          <p:nvPr/>
        </p:nvSpPr>
        <p:spPr>
          <a:xfrm>
            <a:off x="4069080" y="4946904"/>
            <a:ext cx="2971800" cy="192024"/>
          </a:xfrm>
          <a:prstGeom prst="rect">
            <a:avLst>
              <a:gd name="adj" fmla="val 47619"/>
            </a:avLst>
          </a:prstGeom>
          <a:solidFill>
            <a:srgbClr val="D8E4CC"/>
          </a:solidFill>
          <a:ln w="7620">
            <a:solidFill>
              <a:srgbClr val="D8E4CC"/>
            </a:solidFill>
            <a:prstDash val="solid"/>
          </a:ln>
        </p:spPr>
      </p:sp>
      <p:sp>
        <p:nvSpPr>
          <p:cNvPr id="21" name="Shape 18"/>
          <p:cNvSpPr/>
          <p:nvPr/>
        </p:nvSpPr>
        <p:spPr>
          <a:xfrm>
            <a:off x="5257800" y="4005072"/>
            <a:ext cx="137160" cy="137160"/>
          </a:xfrm>
          <a:prstGeom prst="ellipse">
            <a:avLst/>
          </a:prstGeom>
          <a:solidFill>
            <a:srgbClr val="173C51"/>
          </a:solidFill>
          <a:ln w="12700">
            <a:solidFill>
              <a:srgbClr val="173C51"/>
            </a:solidFill>
            <a:prstDash val="solid"/>
          </a:ln>
        </p:spPr>
      </p:sp>
      <p:sp>
        <p:nvSpPr>
          <p:cNvPr id="22" name="Shape 19"/>
          <p:cNvSpPr/>
          <p:nvPr/>
        </p:nvSpPr>
        <p:spPr>
          <a:xfrm>
            <a:off x="5326380" y="4169664"/>
            <a:ext cx="0" cy="356616"/>
          </a:xfrm>
          <a:prstGeom prst="line">
            <a:avLst/>
          </a:prstGeom>
          <a:noFill/>
          <a:ln w="25400">
            <a:solidFill>
              <a:srgbClr val="173C51"/>
            </a:solidFill>
            <a:prstDash val="solid"/>
          </a:ln>
        </p:spPr>
      </p:sp>
      <p:sp>
        <p:nvSpPr>
          <p:cNvPr id="23" name="Shape 20"/>
          <p:cNvSpPr/>
          <p:nvPr/>
        </p:nvSpPr>
        <p:spPr>
          <a:xfrm>
            <a:off x="5326380" y="4288536"/>
            <a:ext cx="-178308" cy="146304"/>
          </a:xfrm>
          <a:prstGeom prst="line">
            <a:avLst/>
          </a:prstGeom>
          <a:noFill/>
          <a:ln w="21590">
            <a:solidFill>
              <a:srgbClr val="173C51"/>
            </a:solidFill>
            <a:prstDash val="solid"/>
          </a:ln>
        </p:spPr>
      </p:sp>
      <p:sp>
        <p:nvSpPr>
          <p:cNvPr id="24" name="Shape 21"/>
          <p:cNvSpPr/>
          <p:nvPr/>
        </p:nvSpPr>
        <p:spPr>
          <a:xfrm>
            <a:off x="5326380" y="4288536"/>
            <a:ext cx="178308" cy="146304"/>
          </a:xfrm>
          <a:prstGeom prst="line">
            <a:avLst/>
          </a:prstGeom>
          <a:noFill/>
          <a:ln w="21590">
            <a:solidFill>
              <a:srgbClr val="173C51"/>
            </a:solidFill>
            <a:prstDash val="solid"/>
          </a:ln>
        </p:spPr>
      </p:sp>
      <p:sp>
        <p:nvSpPr>
          <p:cNvPr id="25" name="Shape 22"/>
          <p:cNvSpPr/>
          <p:nvPr/>
        </p:nvSpPr>
        <p:spPr>
          <a:xfrm>
            <a:off x="5326380" y="4526280"/>
            <a:ext cx="-150876" cy="228600"/>
          </a:xfrm>
          <a:prstGeom prst="line">
            <a:avLst/>
          </a:prstGeom>
          <a:noFill/>
          <a:ln w="21590">
            <a:solidFill>
              <a:srgbClr val="173C51"/>
            </a:solidFill>
            <a:prstDash val="solid"/>
          </a:ln>
        </p:spPr>
      </p:sp>
      <p:sp>
        <p:nvSpPr>
          <p:cNvPr id="26" name="Shape 23"/>
          <p:cNvSpPr/>
          <p:nvPr/>
        </p:nvSpPr>
        <p:spPr>
          <a:xfrm>
            <a:off x="5326380" y="4526280"/>
            <a:ext cx="150876" cy="228600"/>
          </a:xfrm>
          <a:prstGeom prst="line">
            <a:avLst/>
          </a:prstGeom>
          <a:noFill/>
          <a:ln w="21590">
            <a:solidFill>
              <a:srgbClr val="173C51"/>
            </a:solidFill>
            <a:prstDash val="solid"/>
          </a:ln>
        </p:spPr>
      </p:sp>
      <p:sp>
        <p:nvSpPr>
          <p:cNvPr id="27" name="Shape 24"/>
          <p:cNvSpPr/>
          <p:nvPr/>
        </p:nvSpPr>
        <p:spPr>
          <a:xfrm>
            <a:off x="2331720" y="4480560"/>
            <a:ext cx="2377440" cy="0"/>
          </a:xfrm>
          <a:prstGeom prst="line">
            <a:avLst/>
          </a:prstGeom>
          <a:noFill/>
          <a:ln w="25400">
            <a:solidFill>
              <a:srgbClr val="3E6E9E"/>
            </a:solidFill>
            <a:prstDash val="solid"/>
            <a:headEnd type="none"/>
            <a:tailEnd type="triangle"/>
          </a:ln>
        </p:spPr>
      </p:sp>
      <p:sp>
        <p:nvSpPr>
          <p:cNvPr id="28" name="Shape 25"/>
          <p:cNvSpPr/>
          <p:nvPr/>
        </p:nvSpPr>
        <p:spPr>
          <a:xfrm>
            <a:off x="2331720" y="4754880"/>
            <a:ext cx="2377440" cy="0"/>
          </a:xfrm>
          <a:prstGeom prst="line">
            <a:avLst/>
          </a:prstGeom>
          <a:noFill/>
          <a:ln w="25400">
            <a:solidFill>
              <a:srgbClr val="3E6E9E"/>
            </a:solidFill>
            <a:prstDash val="solid"/>
            <a:headEnd type="none"/>
            <a:tailEnd type="triangle"/>
          </a:ln>
        </p:spPr>
      </p:sp>
      <p:sp>
        <p:nvSpPr>
          <p:cNvPr id="29" name="Shape 26"/>
          <p:cNvSpPr/>
          <p:nvPr/>
        </p:nvSpPr>
        <p:spPr>
          <a:xfrm>
            <a:off x="6601968" y="2999232"/>
            <a:ext cx="73152" cy="-612648"/>
          </a:xfrm>
          <a:prstGeom prst="line">
            <a:avLst/>
          </a:prstGeom>
          <a:noFill/>
          <a:ln w="19050">
            <a:solidFill>
              <a:srgbClr val="346A55"/>
            </a:solidFill>
            <a:prstDash val="dash"/>
            <a:tailEnd type="triangle"/>
          </a:ln>
        </p:spPr>
      </p:sp>
      <p:sp>
        <p:nvSpPr>
          <p:cNvPr id="30" name="Shape 27"/>
          <p:cNvSpPr/>
          <p:nvPr/>
        </p:nvSpPr>
        <p:spPr>
          <a:xfrm>
            <a:off x="6940296" y="2999232"/>
            <a:ext cx="73152" cy="-612648"/>
          </a:xfrm>
          <a:prstGeom prst="line">
            <a:avLst/>
          </a:prstGeom>
          <a:noFill/>
          <a:ln w="19050">
            <a:solidFill>
              <a:srgbClr val="346A55"/>
            </a:solidFill>
            <a:prstDash val="dash"/>
            <a:tailEnd type="triangle"/>
          </a:ln>
        </p:spPr>
      </p:sp>
      <p:sp>
        <p:nvSpPr>
          <p:cNvPr id="31" name="Shape 28"/>
          <p:cNvSpPr/>
          <p:nvPr/>
        </p:nvSpPr>
        <p:spPr>
          <a:xfrm>
            <a:off x="7278624" y="2999232"/>
            <a:ext cx="73152" cy="-612648"/>
          </a:xfrm>
          <a:prstGeom prst="line">
            <a:avLst/>
          </a:prstGeom>
          <a:noFill/>
          <a:ln w="19050">
            <a:solidFill>
              <a:srgbClr val="346A55"/>
            </a:solidFill>
            <a:prstDash val="dash"/>
            <a:tailEnd type="triangle"/>
          </a:ln>
        </p:spPr>
      </p:sp>
      <p:sp>
        <p:nvSpPr>
          <p:cNvPr id="32" name="Shape 29"/>
          <p:cNvSpPr/>
          <p:nvPr/>
        </p:nvSpPr>
        <p:spPr>
          <a:xfrm>
            <a:off x="658368" y="5404104"/>
            <a:ext cx="3657600" cy="832104"/>
          </a:xfrm>
          <a:prstGeom prst="rect">
            <a:avLst>
              <a:gd name="adj" fmla="val 10989"/>
            </a:avLst>
          </a:prstGeom>
          <a:solidFill>
            <a:srgbClr val="EDF1E9"/>
          </a:solidFill>
          <a:ln w="7620">
            <a:solidFill>
              <a:srgbClr val="D9DDD2"/>
            </a:solidFill>
            <a:prstDash val="solid"/>
          </a:ln>
        </p:spPr>
      </p:sp>
      <p:sp>
        <p:nvSpPr>
          <p:cNvPr id="33" name="Text 30"/>
          <p:cNvSpPr/>
          <p:nvPr/>
        </p:nvSpPr>
        <p:spPr>
          <a:xfrm>
            <a:off x="804672" y="5522976"/>
            <a:ext cx="3364992" cy="246888"/>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01  SHADE → LOWER EXPOSURE</a:t>
            </a:r>
            <a:endParaRPr lang="en-US" sz="1500" dirty="0"/>
          </a:p>
        </p:txBody>
      </p:sp>
      <p:sp>
        <p:nvSpPr>
          <p:cNvPr id="34" name="Text 31"/>
          <p:cNvSpPr/>
          <p:nvPr/>
        </p:nvSpPr>
        <p:spPr>
          <a:xfrm>
            <a:off x="804672" y="5879592"/>
            <a:ext cx="3364992" cy="219456"/>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Direct sun on people and ground</a:t>
            </a:r>
            <a:endParaRPr lang="en-US" sz="1350" dirty="0"/>
          </a:p>
        </p:txBody>
      </p:sp>
      <p:sp>
        <p:nvSpPr>
          <p:cNvPr id="35" name="Shape 32"/>
          <p:cNvSpPr/>
          <p:nvPr/>
        </p:nvSpPr>
        <p:spPr>
          <a:xfrm>
            <a:off x="8174736" y="3611880"/>
            <a:ext cx="3319272" cy="1517904"/>
          </a:xfrm>
          <a:prstGeom prst="rect">
            <a:avLst>
              <a:gd name="adj" fmla="val 6024"/>
            </a:avLst>
          </a:prstGeom>
          <a:solidFill>
            <a:srgbClr val="EDF1E9"/>
          </a:solidFill>
          <a:ln w="7620">
            <a:solidFill>
              <a:srgbClr val="D9DDD2"/>
            </a:solidFill>
            <a:prstDash val="solid"/>
          </a:ln>
        </p:spPr>
      </p:sp>
      <p:sp>
        <p:nvSpPr>
          <p:cNvPr id="36" name="Text 33"/>
          <p:cNvSpPr/>
          <p:nvPr/>
        </p:nvSpPr>
        <p:spPr>
          <a:xfrm>
            <a:off x="8339328" y="3730752"/>
            <a:ext cx="2990088"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02  AIRFLOW</a:t>
            </a:r>
            <a:endParaRPr lang="en-US" sz="2000" dirty="0"/>
          </a:p>
        </p:txBody>
      </p:sp>
      <p:sp>
        <p:nvSpPr>
          <p:cNvPr id="37" name="Text 34"/>
          <p:cNvSpPr/>
          <p:nvPr/>
        </p:nvSpPr>
        <p:spPr>
          <a:xfrm>
            <a:off x="8339328" y="4151376"/>
            <a:ext cx="2990088" cy="8961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Open sides retain possible air paths.</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Dense foliage can also add resistance.</a:t>
            </a:r>
            <a:endParaRPr lang="en-US" sz="1600" dirty="0"/>
          </a:p>
        </p:txBody>
      </p:sp>
      <p:sp>
        <p:nvSpPr>
          <p:cNvPr id="38" name="Shape 35"/>
          <p:cNvSpPr/>
          <p:nvPr/>
        </p:nvSpPr>
        <p:spPr>
          <a:xfrm>
            <a:off x="8174736" y="2011680"/>
            <a:ext cx="3319272" cy="1417320"/>
          </a:xfrm>
          <a:prstGeom prst="rect">
            <a:avLst>
              <a:gd name="adj" fmla="val 6452"/>
            </a:avLst>
          </a:prstGeom>
          <a:solidFill>
            <a:srgbClr val="EDF1E9"/>
          </a:solidFill>
          <a:ln w="7620">
            <a:solidFill>
              <a:srgbClr val="D9DDD2"/>
            </a:solidFill>
            <a:prstDash val="solid"/>
          </a:ln>
        </p:spPr>
      </p:sp>
      <p:sp>
        <p:nvSpPr>
          <p:cNvPr id="39" name="Text 36"/>
          <p:cNvSpPr/>
          <p:nvPr/>
        </p:nvSpPr>
        <p:spPr>
          <a:xfrm>
            <a:off x="8339328" y="2130552"/>
            <a:ext cx="299008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03  PLANT WATER</a:t>
            </a:r>
            <a:endParaRPr lang="en-US" sz="2000" dirty="0"/>
          </a:p>
        </p:txBody>
      </p:sp>
      <p:sp>
        <p:nvSpPr>
          <p:cNvPr id="40" name="Text 37"/>
          <p:cNvSpPr/>
          <p:nvPr/>
        </p:nvSpPr>
        <p:spPr>
          <a:xfrm>
            <a:off x="8339328" y="2551176"/>
            <a:ext cx="299008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Evapotranspiration may exchange latent heat; it needs healthy, watered plants.</a:t>
            </a:r>
            <a:endParaRPr lang="en-US" sz="1600" dirty="0"/>
          </a:p>
        </p:txBody>
      </p:sp>
      <p:sp>
        <p:nvSpPr>
          <p:cNvPr id="41" name="Text 38"/>
          <p:cNvSpPr/>
          <p:nvPr/>
        </p:nvSpPr>
        <p:spPr>
          <a:xfrm>
            <a:off x="731520" y="2048256"/>
            <a:ext cx="2468880" cy="265176"/>
          </a:xfrm>
          <a:prstGeom prst="rect">
            <a:avLst/>
          </a:prstGeom>
          <a:noFill/>
          <a:ln/>
        </p:spPr>
        <p:txBody>
          <a:bodyPr wrap="square" lIns="0" tIns="0" rIns="0" bIns="0" rtlCol="0" anchor="ctr"/>
          <a:lstStyle/>
          <a:p>
            <a:pPr indent="0" marL="0">
              <a:buNone/>
            </a:pPr>
            <a:r>
              <a:rPr lang="en-US" sz="1700" b="1" dirty="0">
                <a:solidFill>
                  <a:srgbClr val="AA7E4A"/>
                </a:solidFill>
                <a:latin typeface="Noto Sans" pitchFamily="34" charset="0"/>
                <a:ea typeface="Noto Sans" pitchFamily="34" charset="-122"/>
                <a:cs typeface="Noto Sans" pitchFamily="34" charset="-120"/>
              </a:rPr>
              <a:t>01  DIRECT SUN</a:t>
            </a:r>
            <a:endParaRPr lang="en-US" sz="1700" dirty="0"/>
          </a:p>
        </p:txBody>
      </p:sp>
      <p:sp>
        <p:nvSpPr>
          <p:cNvPr id="42" name="Text 39"/>
          <p:cNvSpPr/>
          <p:nvPr/>
        </p:nvSpPr>
        <p:spPr>
          <a:xfrm>
            <a:off x="950976" y="3337560"/>
            <a:ext cx="2286000" cy="27432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MODELLED</a:t>
            </a:r>
            <a:endParaRPr lang="en-US" sz="1400" dirty="0"/>
          </a:p>
        </p:txBody>
      </p:sp>
      <p:sp>
        <p:nvSpPr>
          <p:cNvPr id="43" name="Text 40"/>
          <p:cNvSpPr/>
          <p:nvPr/>
        </p:nvSpPr>
        <p:spPr>
          <a:xfrm>
            <a:off x="768096" y="3694176"/>
            <a:ext cx="2423160" cy="539496"/>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 leaf location</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change useful shade.</a:t>
            </a:r>
            <a:endParaRPr lang="en-US" sz="1600" dirty="0"/>
          </a:p>
        </p:txBody>
      </p:sp>
      <p:sp>
        <p:nvSpPr>
          <p:cNvPr id="44" name="Text 41"/>
          <p:cNvSpPr/>
          <p:nvPr/>
        </p:nvSpPr>
        <p:spPr>
          <a:xfrm>
            <a:off x="4608576" y="5605272"/>
            <a:ext cx="6711696" cy="274320"/>
          </a:xfrm>
          <a:prstGeom prst="rect">
            <a:avLst/>
          </a:prstGeom>
          <a:noFill/>
          <a:ln/>
        </p:spPr>
        <p:txBody>
          <a:bodyPr wrap="square" lIns="0" tIns="0" rIns="0" bIns="0" rtlCol="0" anchor="ctr"/>
          <a:lstStyle/>
          <a:p>
            <a:pPr algn="ctr" indent="0" marL="0">
              <a:buNone/>
            </a:pPr>
            <a:r>
              <a:rPr lang="en-US" sz="1500" b="1" dirty="0">
                <a:solidFill>
                  <a:srgbClr val="66736D"/>
                </a:solidFill>
                <a:latin typeface="Noto Sans" pitchFamily="34" charset="0"/>
                <a:ea typeface="Noto Sans" pitchFamily="34" charset="-122"/>
                <a:cs typeface="Noto Sans" pitchFamily="34" charset="-120"/>
              </a:rPr>
              <a:t>02 / 03: QUALITATIVE MECHANISMS</a:t>
            </a:r>
            <a:endParaRPr lang="en-US" sz="1500" dirty="0"/>
          </a:p>
        </p:txBody>
      </p:sp>
      <p:sp>
        <p:nvSpPr>
          <p:cNvPr id="45" name="Text 42"/>
          <p:cNvSpPr/>
          <p:nvPr/>
        </p:nvSpPr>
        <p:spPr>
          <a:xfrm>
            <a:off x="4608576" y="5961888"/>
            <a:ext cx="6711696" cy="246888"/>
          </a:xfrm>
          <a:prstGeom prst="rect">
            <a:avLst/>
          </a:prstGeom>
          <a:noFill/>
          <a:ln/>
        </p:spPr>
        <p:txBody>
          <a:bodyPr wrap="square" lIns="0" tIns="0" rIns="0" bIns="0" rtlCol="0" anchor="ctr"/>
          <a:lstStyle/>
          <a:p>
            <a:pPr algn="ctr" indent="0" marL="0">
              <a:buNone/>
            </a:pPr>
            <a:r>
              <a:rPr lang="en-US" sz="1500" b="1" dirty="0">
                <a:solidFill>
                  <a:srgbClr val="173C51"/>
                </a:solidFill>
                <a:latin typeface="Noto Sans" pitchFamily="34" charset="0"/>
                <a:ea typeface="Noto Sans" pitchFamily="34" charset="-122"/>
                <a:cs typeface="Noto Sans" pitchFamily="34" charset="-120"/>
              </a:rPr>
              <a:t>Shade % does not equal cooling °C.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Assign materials to the roles they must perform</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Steel at the ground-reaching supports; proposed engineered bamboo across the crown.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7/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are proposed for force transfer and connection detailing. Crown bamboo requires stiffness, treatment and fabrication checks.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Read the material inputs before making the choice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Representative screening inputs: section resistance, conductivity, carbon factor and equal-length material cost.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DECISION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Why steel supports and an engineered-bamboo crown?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Match structural roles first; weigh cost and environmental inputs together with practical constraints.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Design rationale P1/P3/P4. Screening values are preliminary; the hybrid strategy is not an optimised or certified structure.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sp>
        <p:nvSpPr>
          <p:cNvPr id="15" name="Shape 13"/>
          <p:cNvSpPr/>
          <p:nvPr/>
        </p:nvSpPr>
        <p:spPr>
          <a:xfrm>
            <a:off x="658368" y="2112264"/>
            <a:ext cx="5285232" cy="2596896"/>
          </a:xfrm>
          <a:prstGeom prst="rect">
            <a:avLst>
              <a:gd name="adj" fmla="val 3521"/>
            </a:avLst>
          </a:prstGeom>
          <a:solidFill>
            <a:srgbClr val="EDF1E9"/>
          </a:solidFill>
          <a:ln w="7620">
            <a:solidFill>
              <a:srgbClr val="D9DDD2"/>
            </a:solidFill>
            <a:prstDash val="solid"/>
          </a:ln>
        </p:spPr>
      </p:sp>
      <p:sp>
        <p:nvSpPr>
          <p:cNvPr id="16" name="Shape 14"/>
          <p:cNvSpPr/>
          <p:nvPr/>
        </p:nvSpPr>
        <p:spPr>
          <a:xfrm>
            <a:off x="6181344" y="2112264"/>
            <a:ext cx="5285232" cy="2596896"/>
          </a:xfrm>
          <a:prstGeom prst="rect">
            <a:avLst>
              <a:gd name="adj" fmla="val 3521"/>
            </a:avLst>
          </a:prstGeom>
          <a:solidFill>
            <a:srgbClr val="EDF1E9"/>
          </a:solidFill>
          <a:ln w="7620">
            <a:solidFill>
              <a:srgbClr val="D9DDD2"/>
            </a:solidFill>
            <a:prstDash val="solid"/>
          </a:ln>
        </p:spPr>
      </p:sp>
      <p:sp>
        <p:nvSpPr>
          <p:cNvPr id="17" name="Text 15"/>
          <p:cNvSpPr/>
          <p:nvPr/>
        </p:nvSpPr>
        <p:spPr>
          <a:xfrm>
            <a:off x="850392" y="2304288"/>
            <a:ext cx="4892040" cy="283464"/>
          </a:xfrm>
          <a:prstGeom prst="rect">
            <a:avLst/>
          </a:prstGeom>
          <a:noFill/>
          <a:ln/>
        </p:spPr>
        <p:txBody>
          <a:bodyPr wrap="square" lIns="0" tIns="0" rIns="0" bIns="0" rtlCol="0" anchor="ctr"/>
          <a:lstStyle/>
          <a:p>
            <a:pPr indent="0" marL="0">
              <a:buNone/>
            </a:pPr>
            <a:r>
              <a:rPr lang="en-US" sz="1500" b="1" dirty="0">
                <a:solidFill>
                  <a:srgbClr val="3E6E9E"/>
                </a:solidFill>
                <a:latin typeface="Noto Sans" pitchFamily="34" charset="0"/>
                <a:ea typeface="Noto Sans" pitchFamily="34" charset="-122"/>
                <a:cs typeface="Noto Sans" pitchFamily="34" charset="-120"/>
              </a:rPr>
              <a:t>STEEL • 12 GROUND-REACHING MEMBERS</a:t>
            </a:r>
            <a:endParaRPr lang="en-US" sz="1500" dirty="0"/>
          </a:p>
        </p:txBody>
      </p:sp>
      <p:sp>
        <p:nvSpPr>
          <p:cNvPr id="18" name="Text 16"/>
          <p:cNvSpPr/>
          <p:nvPr/>
        </p:nvSpPr>
        <p:spPr>
          <a:xfrm>
            <a:off x="850392" y="2770632"/>
            <a:ext cx="4892040" cy="640080"/>
          </a:xfrm>
          <a:prstGeom prst="rect">
            <a:avLst/>
          </a:prstGeom>
          <a:noFill/>
          <a:ln/>
        </p:spPr>
        <p:txBody>
          <a:bodyPr wrap="square" lIns="0" tIns="0" rIns="0" bIns="0" rtlCol="0" anchor="ctr"/>
          <a:lstStyle/>
          <a:p>
            <a:pPr indent="0" marL="0">
              <a:buNone/>
            </a:pPr>
            <a:r>
              <a:rPr lang="en-US" sz="2400" b="1" dirty="0">
                <a:solidFill>
                  <a:srgbClr val="173C51"/>
                </a:solidFill>
                <a:latin typeface="Noto Serif" pitchFamily="34" charset="0"/>
                <a:ea typeface="Noto Serif" pitchFamily="34" charset="-122"/>
                <a:cs typeface="Noto Serif" pitchFamily="34" charset="-120"/>
              </a:rPr>
              <a:t>Prioritise stiffness and force transfer</a:t>
            </a:r>
            <a:endParaRPr lang="en-US" sz="2400" dirty="0"/>
          </a:p>
        </p:txBody>
      </p:sp>
      <p:sp>
        <p:nvSpPr>
          <p:cNvPr id="19" name="Text 17"/>
          <p:cNvSpPr/>
          <p:nvPr/>
        </p:nvSpPr>
        <p:spPr>
          <a:xfrm>
            <a:off x="850392" y="3630168"/>
            <a:ext cx="4837176" cy="804672"/>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workbook assigns steel to supports under compression and wind bending. Its tabulated section stiffness EI exceeds the proposed bamboo section.</a:t>
            </a:r>
            <a:endParaRPr lang="en-US" sz="1700" dirty="0"/>
          </a:p>
        </p:txBody>
      </p:sp>
      <p:sp>
        <p:nvSpPr>
          <p:cNvPr id="20" name="Text 18"/>
          <p:cNvSpPr/>
          <p:nvPr/>
        </p:nvSpPr>
        <p:spPr>
          <a:xfrm>
            <a:off x="6373368" y="2304288"/>
            <a:ext cx="4892040" cy="283464"/>
          </a:xfrm>
          <a:prstGeom prst="rect">
            <a:avLst/>
          </a:prstGeom>
          <a:noFill/>
          <a:ln/>
        </p:spPr>
        <p:txBody>
          <a:bodyPr wrap="square" lIns="0" tIns="0" rIns="0" bIns="0" rtlCol="0" anchor="ctr"/>
          <a:lstStyle/>
          <a:p>
            <a:pPr indent="0" marL="0">
              <a:buNone/>
            </a:pPr>
            <a:r>
              <a:rPr lang="en-US" sz="1500" b="1" dirty="0">
                <a:solidFill>
                  <a:srgbClr val="AA7E4A"/>
                </a:solidFill>
                <a:latin typeface="Noto Sans" pitchFamily="34" charset="0"/>
                <a:ea typeface="Noto Sans" pitchFamily="34" charset="-122"/>
                <a:cs typeface="Noto Sans" pitchFamily="34" charset="-120"/>
              </a:rPr>
              <a:t>ENGINEERED BAMBOO • 47 CROWN MEMBERS</a:t>
            </a:r>
            <a:endParaRPr lang="en-US" sz="1500" dirty="0"/>
          </a:p>
        </p:txBody>
      </p:sp>
      <p:sp>
        <p:nvSpPr>
          <p:cNvPr id="21" name="Text 19"/>
          <p:cNvSpPr/>
          <p:nvPr/>
        </p:nvSpPr>
        <p:spPr>
          <a:xfrm>
            <a:off x="6373368" y="2770632"/>
            <a:ext cx="4892040" cy="640080"/>
          </a:xfrm>
          <a:prstGeom prst="rect">
            <a:avLst/>
          </a:prstGeom>
          <a:noFill/>
          <a:ln/>
        </p:spPr>
        <p:txBody>
          <a:bodyPr wrap="square" lIns="0" tIns="0" rIns="0" bIns="0" rtlCol="0" anchor="ctr"/>
          <a:lstStyle/>
          <a:p>
            <a:pPr indent="0" marL="0">
              <a:buNone/>
            </a:pPr>
            <a:r>
              <a:rPr lang="en-US" sz="2400" b="1" dirty="0">
                <a:solidFill>
                  <a:srgbClr val="173C51"/>
                </a:solidFill>
                <a:latin typeface="Noto Serif" pitchFamily="34" charset="0"/>
                <a:ea typeface="Noto Serif" pitchFamily="34" charset="-122"/>
                <a:cs typeface="Noto Serif" pitchFamily="34" charset="-120"/>
              </a:rPr>
              <a:t>Use material benefits where feasible</a:t>
            </a:r>
            <a:endParaRPr lang="en-US" sz="2400" dirty="0"/>
          </a:p>
        </p:txBody>
      </p:sp>
      <p:sp>
        <p:nvSpPr>
          <p:cNvPr id="22" name="Text 20"/>
          <p:cNvSpPr/>
          <p:nvPr/>
        </p:nvSpPr>
        <p:spPr>
          <a:xfrm>
            <a:off x="6373368" y="3630168"/>
            <a:ext cx="4837176" cy="804672"/>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workbook adopts bamboo for the crown using cost and carbon inputs. It also requires restrained joints and verification of node rotational stiffness.</a:t>
            </a:r>
            <a:endParaRPr lang="en-US" sz="1700" dirty="0"/>
          </a:p>
        </p:txBody>
      </p:sp>
      <p:sp>
        <p:nvSpPr>
          <p:cNvPr id="23" name="Shape 21"/>
          <p:cNvSpPr/>
          <p:nvPr/>
        </p:nvSpPr>
        <p:spPr>
          <a:xfrm>
            <a:off x="667512" y="5047488"/>
            <a:ext cx="2029968" cy="0"/>
          </a:xfrm>
          <a:prstGeom prst="line">
            <a:avLst/>
          </a:prstGeom>
          <a:noFill/>
          <a:ln w="12700">
            <a:solidFill>
              <a:srgbClr val="AA7E4A"/>
            </a:solidFill>
            <a:prstDash val="solid"/>
          </a:ln>
        </p:spPr>
      </p:sp>
      <p:sp>
        <p:nvSpPr>
          <p:cNvPr id="24" name="Text 22"/>
          <p:cNvSpPr/>
          <p:nvPr/>
        </p:nvSpPr>
        <p:spPr>
          <a:xfrm>
            <a:off x="667512"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DURABILITY</a:t>
            </a:r>
            <a:endParaRPr lang="en-US" sz="1240" dirty="0"/>
          </a:p>
        </p:txBody>
      </p:sp>
      <p:sp>
        <p:nvSpPr>
          <p:cNvPr id="25" name="Text 23"/>
          <p:cNvSpPr/>
          <p:nvPr/>
        </p:nvSpPr>
        <p:spPr>
          <a:xfrm>
            <a:off x="667512"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Coat steel; protect and inspect bamboo.</a:t>
            </a:r>
            <a:endParaRPr lang="en-US" sz="1380" dirty="0"/>
          </a:p>
        </p:txBody>
      </p:sp>
      <p:sp>
        <p:nvSpPr>
          <p:cNvPr id="26" name="Shape 24"/>
          <p:cNvSpPr/>
          <p:nvPr/>
        </p:nvSpPr>
        <p:spPr>
          <a:xfrm>
            <a:off x="2871216" y="5047488"/>
            <a:ext cx="2029968" cy="0"/>
          </a:xfrm>
          <a:prstGeom prst="line">
            <a:avLst/>
          </a:prstGeom>
          <a:noFill/>
          <a:ln w="12700">
            <a:solidFill>
              <a:srgbClr val="AA7E4A"/>
            </a:solidFill>
            <a:prstDash val="solid"/>
          </a:ln>
        </p:spPr>
      </p:sp>
      <p:sp>
        <p:nvSpPr>
          <p:cNvPr id="27" name="Text 25"/>
          <p:cNvSpPr/>
          <p:nvPr/>
        </p:nvSpPr>
        <p:spPr>
          <a:xfrm>
            <a:off x="2871216"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COST</a:t>
            </a:r>
            <a:endParaRPr lang="en-US" sz="1240" dirty="0"/>
          </a:p>
        </p:txBody>
      </p:sp>
      <p:sp>
        <p:nvSpPr>
          <p:cNvPr id="28" name="Text 26"/>
          <p:cNvSpPr/>
          <p:nvPr/>
        </p:nvSpPr>
        <p:spPr>
          <a:xfrm>
            <a:off x="2871216"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Include joints, installation and care.</a:t>
            </a:r>
            <a:endParaRPr lang="en-US" sz="1380" dirty="0"/>
          </a:p>
        </p:txBody>
      </p:sp>
      <p:sp>
        <p:nvSpPr>
          <p:cNvPr id="29" name="Shape 27"/>
          <p:cNvSpPr/>
          <p:nvPr/>
        </p:nvSpPr>
        <p:spPr>
          <a:xfrm>
            <a:off x="5074920" y="5047488"/>
            <a:ext cx="2029968" cy="0"/>
          </a:xfrm>
          <a:prstGeom prst="line">
            <a:avLst/>
          </a:prstGeom>
          <a:noFill/>
          <a:ln w="12700">
            <a:solidFill>
              <a:srgbClr val="AA7E4A"/>
            </a:solidFill>
            <a:prstDash val="solid"/>
          </a:ln>
        </p:spPr>
      </p:sp>
      <p:sp>
        <p:nvSpPr>
          <p:cNvPr id="30" name="Text 28"/>
          <p:cNvSpPr/>
          <p:nvPr/>
        </p:nvSpPr>
        <p:spPr>
          <a:xfrm>
            <a:off x="5074920"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CONDUCTIVITY</a:t>
            </a:r>
            <a:endParaRPr lang="en-US" sz="1240" dirty="0"/>
          </a:p>
        </p:txBody>
      </p:sp>
      <p:sp>
        <p:nvSpPr>
          <p:cNvPr id="31" name="Text 29"/>
          <p:cNvSpPr/>
          <p:nvPr/>
        </p:nvSpPr>
        <p:spPr>
          <a:xfrm>
            <a:off x="5074920"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A material property, not a cooling result.</a:t>
            </a:r>
            <a:endParaRPr lang="en-US" sz="1380" dirty="0"/>
          </a:p>
        </p:txBody>
      </p:sp>
      <p:sp>
        <p:nvSpPr>
          <p:cNvPr id="32" name="Shape 30"/>
          <p:cNvSpPr/>
          <p:nvPr/>
        </p:nvSpPr>
        <p:spPr>
          <a:xfrm>
            <a:off x="7278624" y="5047488"/>
            <a:ext cx="2029968" cy="0"/>
          </a:xfrm>
          <a:prstGeom prst="line">
            <a:avLst/>
          </a:prstGeom>
          <a:noFill/>
          <a:ln w="12700">
            <a:solidFill>
              <a:srgbClr val="AA7E4A"/>
            </a:solidFill>
            <a:prstDash val="solid"/>
          </a:ln>
        </p:spPr>
      </p:sp>
      <p:sp>
        <p:nvSpPr>
          <p:cNvPr id="33" name="Text 31"/>
          <p:cNvSpPr/>
          <p:nvPr/>
        </p:nvSpPr>
        <p:spPr>
          <a:xfrm>
            <a:off x="7278624"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CARBON</a:t>
            </a:r>
            <a:endParaRPr lang="en-US" sz="1240" dirty="0"/>
          </a:p>
        </p:txBody>
      </p:sp>
      <p:sp>
        <p:nvSpPr>
          <p:cNvPr id="34" name="Text 32"/>
          <p:cNvSpPr/>
          <p:nvPr/>
        </p:nvSpPr>
        <p:spPr>
          <a:xfrm>
            <a:off x="7278624"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Verify product factors and boundaries.</a:t>
            </a:r>
            <a:endParaRPr lang="en-US" sz="1380" dirty="0"/>
          </a:p>
        </p:txBody>
      </p:sp>
      <p:sp>
        <p:nvSpPr>
          <p:cNvPr id="35" name="Shape 33"/>
          <p:cNvSpPr/>
          <p:nvPr/>
        </p:nvSpPr>
        <p:spPr>
          <a:xfrm>
            <a:off x="9482328" y="5047488"/>
            <a:ext cx="2029968" cy="0"/>
          </a:xfrm>
          <a:prstGeom prst="line">
            <a:avLst/>
          </a:prstGeom>
          <a:noFill/>
          <a:ln w="12700">
            <a:solidFill>
              <a:srgbClr val="AA7E4A"/>
            </a:solidFill>
            <a:prstDash val="solid"/>
          </a:ln>
        </p:spPr>
      </p:sp>
      <p:sp>
        <p:nvSpPr>
          <p:cNvPr id="36" name="Text 34"/>
          <p:cNvSpPr/>
          <p:nvPr/>
        </p:nvSpPr>
        <p:spPr>
          <a:xfrm>
            <a:off x="9482328"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ADAPTABILITY</a:t>
            </a:r>
            <a:endParaRPr lang="en-US" sz="1240" dirty="0"/>
          </a:p>
        </p:txBody>
      </p:sp>
      <p:sp>
        <p:nvSpPr>
          <p:cNvPr id="37" name="Text 35"/>
          <p:cNvSpPr/>
          <p:nvPr/>
        </p:nvSpPr>
        <p:spPr>
          <a:xfrm>
            <a:off x="9482328"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Check moisture, UV and local supply.</a:t>
            </a:r>
            <a:endParaRPr lang="en-US" sz="1380" dirty="0"/>
          </a:p>
        </p:txBody>
      </p:sp>
      <p:sp>
        <p:nvSpPr>
          <p:cNvPr id="38" name="Text 36"/>
          <p:cNvSpPr/>
          <p:nvPr/>
        </p:nvSpPr>
        <p:spPr>
          <a:xfrm>
            <a:off x="749808" y="6135624"/>
            <a:ext cx="10735056" cy="210312"/>
          </a:xfrm>
          <a:prstGeom prst="rect">
            <a:avLst/>
          </a:prstGeom>
          <a:noFill/>
          <a:ln/>
        </p:spPr>
        <p:txBody>
          <a:bodyPr wrap="square" lIns="0" tIns="0" rIns="0" bIns="0" rtlCol="0" anchor="ctr"/>
          <a:lstStyle/>
          <a:p>
            <a:pPr algn="ctr" indent="0" marL="0">
              <a:buNone/>
            </a:pPr>
            <a:r>
              <a:rPr lang="en-US" sz="1400" b="1" dirty="0">
                <a:solidFill>
                  <a:srgbClr val="173C51"/>
                </a:solidFill>
                <a:latin typeface="Noto Sans" pitchFamily="34" charset="0"/>
                <a:ea typeface="Noto Sans" pitchFamily="34" charset="-122"/>
                <a:cs typeface="Noto Sans" pitchFamily="34" charset="-120"/>
              </a:rPr>
              <a:t>Source decision: bamboo crown + steel supports; node rotational stiffness still requires verification.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beam check sets a requirement for the joint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Same member and loading assumptions; different ideal end restraints produce different deflections.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P3 simplified beam check: self-weight + assumed 18 kg/m² wet foliage. E = 10 GPa and adopted L/200 need product/design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sp>
        <p:nvSpPr>
          <p:cNvPr id="15" name="Shape 13"/>
          <p:cNvSpPr/>
          <p:nvPr/>
        </p:nvSpPr>
        <p:spPr>
          <a:xfrm>
            <a:off x="694944" y="2048256"/>
            <a:ext cx="5961888" cy="411480"/>
          </a:xfrm>
          <a:prstGeom prst="rect">
            <a:avLst>
              <a:gd name="adj" fmla="val 22222"/>
            </a:avLst>
          </a:prstGeom>
          <a:solidFill>
            <a:srgbClr val="EDF1E9"/>
          </a:solidFill>
          <a:ln w="7620">
            <a:solidFill>
              <a:srgbClr val="EDF1E9"/>
            </a:solidFill>
            <a:prstDash val="solid"/>
          </a:ln>
        </p:spPr>
      </p:sp>
      <p:sp>
        <p:nvSpPr>
          <p:cNvPr id="16" name="Text 14"/>
          <p:cNvSpPr/>
          <p:nvPr/>
        </p:nvSpPr>
        <p:spPr>
          <a:xfrm>
            <a:off x="804672" y="2112264"/>
            <a:ext cx="5742432"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SIMPLIFIED MEMBER: L = 6.65 m  ·  SOLID Ø80 mm</a:t>
            </a:r>
            <a:endParaRPr lang="en-US" sz="1400" dirty="0"/>
          </a:p>
        </p:txBody>
      </p:sp>
      <p:sp>
        <p:nvSpPr>
          <p:cNvPr id="17" name="Shape 15"/>
          <p:cNvSpPr/>
          <p:nvPr/>
        </p:nvSpPr>
        <p:spPr>
          <a:xfrm>
            <a:off x="1170432" y="2816352"/>
            <a:ext cx="4754880" cy="0"/>
          </a:xfrm>
          <a:prstGeom prst="line">
            <a:avLst/>
          </a:prstGeom>
          <a:noFill/>
          <a:ln w="50800">
            <a:solidFill>
              <a:srgbClr val="AA7E4A"/>
            </a:solidFill>
            <a:prstDash val="solid"/>
          </a:ln>
        </p:spPr>
      </p:sp>
      <p:sp>
        <p:nvSpPr>
          <p:cNvPr id="18" name="Shape 16"/>
          <p:cNvSpPr/>
          <p:nvPr/>
        </p:nvSpPr>
        <p:spPr>
          <a:xfrm>
            <a:off x="1170432" y="2816352"/>
            <a:ext cx="0" cy="146304"/>
          </a:xfrm>
          <a:prstGeom prst="line">
            <a:avLst/>
          </a:prstGeom>
          <a:noFill/>
          <a:ln w="19050">
            <a:solidFill>
              <a:srgbClr val="173C51"/>
            </a:solidFill>
            <a:prstDash val="solid"/>
          </a:ln>
        </p:spPr>
      </p:sp>
      <p:sp>
        <p:nvSpPr>
          <p:cNvPr id="19" name="Shape 17"/>
          <p:cNvSpPr/>
          <p:nvPr/>
        </p:nvSpPr>
        <p:spPr>
          <a:xfrm>
            <a:off x="5925312" y="2816352"/>
            <a:ext cx="0" cy="146304"/>
          </a:xfrm>
          <a:prstGeom prst="line">
            <a:avLst/>
          </a:prstGeom>
          <a:noFill/>
          <a:ln w="19050">
            <a:solidFill>
              <a:srgbClr val="173C51"/>
            </a:solidFill>
            <a:prstDash val="solid"/>
          </a:ln>
        </p:spPr>
      </p:sp>
      <p:sp>
        <p:nvSpPr>
          <p:cNvPr id="20" name="Shape 18"/>
          <p:cNvSpPr/>
          <p:nvPr/>
        </p:nvSpPr>
        <p:spPr>
          <a:xfrm>
            <a:off x="1481328" y="2578608"/>
            <a:ext cx="0" cy="173736"/>
          </a:xfrm>
          <a:prstGeom prst="line">
            <a:avLst/>
          </a:prstGeom>
          <a:noFill/>
          <a:ln w="12700">
            <a:solidFill>
              <a:srgbClr val="66736D"/>
            </a:solidFill>
            <a:prstDash val="solid"/>
            <a:tailEnd type="triangle"/>
          </a:ln>
        </p:spPr>
      </p:sp>
      <p:sp>
        <p:nvSpPr>
          <p:cNvPr id="21" name="Shape 19"/>
          <p:cNvSpPr/>
          <p:nvPr/>
        </p:nvSpPr>
        <p:spPr>
          <a:xfrm>
            <a:off x="2249424" y="2578608"/>
            <a:ext cx="0" cy="173736"/>
          </a:xfrm>
          <a:prstGeom prst="line">
            <a:avLst/>
          </a:prstGeom>
          <a:noFill/>
          <a:ln w="12700">
            <a:solidFill>
              <a:srgbClr val="66736D"/>
            </a:solidFill>
            <a:prstDash val="solid"/>
            <a:tailEnd type="triangle"/>
          </a:ln>
        </p:spPr>
      </p:sp>
      <p:sp>
        <p:nvSpPr>
          <p:cNvPr id="22" name="Shape 20"/>
          <p:cNvSpPr/>
          <p:nvPr/>
        </p:nvSpPr>
        <p:spPr>
          <a:xfrm>
            <a:off x="3017520" y="2578608"/>
            <a:ext cx="0" cy="173736"/>
          </a:xfrm>
          <a:prstGeom prst="line">
            <a:avLst/>
          </a:prstGeom>
          <a:noFill/>
          <a:ln w="12700">
            <a:solidFill>
              <a:srgbClr val="66736D"/>
            </a:solidFill>
            <a:prstDash val="solid"/>
            <a:tailEnd type="triangle"/>
          </a:ln>
        </p:spPr>
      </p:sp>
      <p:sp>
        <p:nvSpPr>
          <p:cNvPr id="23" name="Shape 21"/>
          <p:cNvSpPr/>
          <p:nvPr/>
        </p:nvSpPr>
        <p:spPr>
          <a:xfrm>
            <a:off x="3785616" y="2578608"/>
            <a:ext cx="0" cy="173736"/>
          </a:xfrm>
          <a:prstGeom prst="line">
            <a:avLst/>
          </a:prstGeom>
          <a:noFill/>
          <a:ln w="12700">
            <a:solidFill>
              <a:srgbClr val="66736D"/>
            </a:solidFill>
            <a:prstDash val="solid"/>
            <a:tailEnd type="triangle"/>
          </a:ln>
        </p:spPr>
      </p:sp>
      <p:sp>
        <p:nvSpPr>
          <p:cNvPr id="24" name="Shape 22"/>
          <p:cNvSpPr/>
          <p:nvPr/>
        </p:nvSpPr>
        <p:spPr>
          <a:xfrm>
            <a:off x="4553712" y="2578608"/>
            <a:ext cx="0" cy="173736"/>
          </a:xfrm>
          <a:prstGeom prst="line">
            <a:avLst/>
          </a:prstGeom>
          <a:noFill/>
          <a:ln w="12700">
            <a:solidFill>
              <a:srgbClr val="66736D"/>
            </a:solidFill>
            <a:prstDash val="solid"/>
            <a:tailEnd type="triangle"/>
          </a:ln>
        </p:spPr>
      </p:sp>
      <p:sp>
        <p:nvSpPr>
          <p:cNvPr id="25" name="Shape 23"/>
          <p:cNvSpPr/>
          <p:nvPr/>
        </p:nvSpPr>
        <p:spPr>
          <a:xfrm>
            <a:off x="5321808" y="2578608"/>
            <a:ext cx="0" cy="173736"/>
          </a:xfrm>
          <a:prstGeom prst="line">
            <a:avLst/>
          </a:prstGeom>
          <a:noFill/>
          <a:ln w="12700">
            <a:solidFill>
              <a:srgbClr val="66736D"/>
            </a:solidFill>
            <a:prstDash val="solid"/>
            <a:tailEnd type="triangle"/>
          </a:ln>
        </p:spPr>
      </p:sp>
      <p:graphicFrame>
        <p:nvGraphicFramePr>
          <p:cNvPr id="26" name="Chart 0" descr=""/>
          <p:cNvGraphicFramePr/>
          <p:nvPr/>
        </p:nvGraphicFramePr>
        <p:xfrm>
          <a:off x="576072" y="3108960"/>
          <a:ext cx="6208776" cy="233172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p:nvPr/>
        </p:nvSpPr>
        <p:spPr>
          <a:xfrm>
            <a:off x="758952" y="5650992"/>
            <a:ext cx="6080760" cy="566928"/>
          </a:xfrm>
          <a:prstGeom prst="rect">
            <a:avLst/>
          </a:prstGeom>
          <a:noFill/>
          <a:ln/>
        </p:spPr>
        <p:txBody>
          <a:bodyPr wrap="square" lIns="0" tIns="0" rIns="0" bIns="0" rtlCol="0" anchor="ctr"/>
          <a:lstStyle/>
          <a:p>
            <a:pPr indent="0" marL="0">
              <a:buNone/>
            </a:pPr>
            <a:r>
              <a:rPr lang="en-US" sz="1540" b="1" dirty="0">
                <a:solidFill>
                  <a:srgbClr val="173C51"/>
                </a:solidFill>
                <a:latin typeface="Noto Sans" pitchFamily="34" charset="0"/>
                <a:ea typeface="Noto Sans" pitchFamily="34" charset="-122"/>
                <a:cs typeface="Noto Sans" pitchFamily="34" charset="-120"/>
              </a:rPr>
              <a:t>Simple support: 3.02 × target   |   Ideal fixity: 0.60 × target</a:t>
            </a:r>
            <a:endParaRPr lang="en-US" sz="1540" dirty="0"/>
          </a:p>
        </p:txBody>
      </p:sp>
      <p:sp>
        <p:nvSpPr>
          <p:cNvPr id="28" name="Shape 25"/>
          <p:cNvSpPr/>
          <p:nvPr/>
        </p:nvSpPr>
        <p:spPr>
          <a:xfrm>
            <a:off x="7351776" y="2057400"/>
            <a:ext cx="4096512" cy="3401568"/>
          </a:xfrm>
          <a:prstGeom prst="rect">
            <a:avLst>
              <a:gd name="adj" fmla="val 2688"/>
            </a:avLst>
          </a:prstGeom>
          <a:solidFill>
            <a:srgbClr val="EDF1E9"/>
          </a:solidFill>
          <a:ln w="7620">
            <a:solidFill>
              <a:srgbClr val="D9DDD2"/>
            </a:solidFill>
            <a:prstDash val="solid"/>
          </a:ln>
        </p:spPr>
      </p:sp>
      <p:sp>
        <p:nvSpPr>
          <p:cNvPr id="29" name="Text 26"/>
          <p:cNvSpPr/>
          <p:nvPr/>
        </p:nvSpPr>
        <p:spPr>
          <a:xfrm>
            <a:off x="7543800" y="2240280"/>
            <a:ext cx="3694176" cy="402336"/>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PROPOSED SUPPORT-HEAD NODE</a:t>
            </a:r>
            <a:endParaRPr lang="en-US" sz="1550" dirty="0"/>
          </a:p>
        </p:txBody>
      </p:sp>
      <p:sp>
        <p:nvSpPr>
          <p:cNvPr id="30" name="Shape 27"/>
          <p:cNvSpPr/>
          <p:nvPr/>
        </p:nvSpPr>
        <p:spPr>
          <a:xfrm>
            <a:off x="8247888" y="4370832"/>
            <a:ext cx="0" cy="-1170432"/>
          </a:xfrm>
          <a:prstGeom prst="line">
            <a:avLst/>
          </a:prstGeom>
          <a:noFill/>
          <a:ln w="165100">
            <a:solidFill>
              <a:srgbClr val="3E6E9E"/>
            </a:solidFill>
            <a:prstDash val="solid"/>
          </a:ln>
        </p:spPr>
      </p:sp>
      <p:sp>
        <p:nvSpPr>
          <p:cNvPr id="31" name="Shape 28"/>
          <p:cNvSpPr/>
          <p:nvPr/>
        </p:nvSpPr>
        <p:spPr>
          <a:xfrm>
            <a:off x="8247888" y="3200400"/>
            <a:ext cx="2194560" cy="-429768"/>
          </a:xfrm>
          <a:prstGeom prst="line">
            <a:avLst/>
          </a:prstGeom>
          <a:noFill/>
          <a:ln w="139700">
            <a:solidFill>
              <a:srgbClr val="AA7E4A"/>
            </a:solidFill>
            <a:prstDash val="solid"/>
          </a:ln>
        </p:spPr>
      </p:sp>
      <p:sp>
        <p:nvSpPr>
          <p:cNvPr id="32" name="Shape 29"/>
          <p:cNvSpPr/>
          <p:nvPr/>
        </p:nvSpPr>
        <p:spPr>
          <a:xfrm>
            <a:off x="7991856" y="3026664"/>
            <a:ext cx="566928" cy="384048"/>
          </a:xfrm>
          <a:prstGeom prst="rect">
            <a:avLst>
              <a:gd name="adj" fmla="val 23810"/>
            </a:avLst>
          </a:prstGeom>
          <a:solidFill>
            <a:srgbClr val="CED8DD"/>
          </a:solidFill>
          <a:ln w="7620">
            <a:solidFill>
              <a:srgbClr val="3E6E9E"/>
            </a:solidFill>
            <a:prstDash val="solid"/>
          </a:ln>
        </p:spPr>
      </p:sp>
      <p:sp>
        <p:nvSpPr>
          <p:cNvPr id="33" name="Shape 30"/>
          <p:cNvSpPr/>
          <p:nvPr/>
        </p:nvSpPr>
        <p:spPr>
          <a:xfrm>
            <a:off x="8101584" y="3090672"/>
            <a:ext cx="137160" cy="137160"/>
          </a:xfrm>
          <a:prstGeom prst="ellipse">
            <a:avLst/>
          </a:prstGeom>
          <a:solidFill>
            <a:srgbClr val="F8F7F2"/>
          </a:solidFill>
          <a:ln w="12700">
            <a:solidFill>
              <a:srgbClr val="173C51"/>
            </a:solidFill>
            <a:prstDash val="solid"/>
          </a:ln>
        </p:spPr>
      </p:sp>
      <p:sp>
        <p:nvSpPr>
          <p:cNvPr id="34" name="Text 31"/>
          <p:cNvSpPr/>
          <p:nvPr/>
        </p:nvSpPr>
        <p:spPr>
          <a:xfrm>
            <a:off x="7552944" y="4590288"/>
            <a:ext cx="3685032" cy="338328"/>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Plate + sleeve + adhesive + bolts</a:t>
            </a:r>
            <a:endParaRPr lang="en-US" sz="1500" dirty="0"/>
          </a:p>
        </p:txBody>
      </p:sp>
      <p:sp>
        <p:nvSpPr>
          <p:cNvPr id="35" name="Text 32"/>
          <p:cNvSpPr/>
          <p:nvPr/>
        </p:nvSpPr>
        <p:spPr>
          <a:xfrm>
            <a:off x="7552944" y="5074920"/>
            <a:ext cx="3685032" cy="24688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Concept: restraint is not yet demonstrated.</a:t>
            </a:r>
            <a:endParaRPr lang="en-US" sz="1250" dirty="0"/>
          </a:p>
        </p:txBody>
      </p:sp>
      <p:sp>
        <p:nvSpPr>
          <p:cNvPr id="36" name="Text 33"/>
          <p:cNvSpPr/>
          <p:nvPr/>
        </p:nvSpPr>
        <p:spPr>
          <a:xfrm>
            <a:off x="7370064" y="5632704"/>
            <a:ext cx="4078224" cy="566928"/>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Next: verify joint rotation and whole-frame behaviour before claiming compliance.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Keep the planting mix conditional on the site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Source proposal: 2 Boston ivy + 1 Rangoon creeper per unit; trumpet creeper is an alternative.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P3. Botanical traits, attachment and local suitability need site/nursery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Shape 13"/>
          <p:cNvSpPr/>
          <p:nvPr/>
        </p:nvSpPr>
        <p:spPr>
          <a:xfrm>
            <a:off x="621792" y="2148840"/>
            <a:ext cx="3602736" cy="2926080"/>
          </a:xfrm>
          <a:prstGeom prst="rect">
            <a:avLst>
              <a:gd name="adj" fmla="val 3125"/>
            </a:avLst>
          </a:prstGeom>
          <a:solidFill>
            <a:srgbClr val="EDF1E9"/>
          </a:solidFill>
          <a:ln w="7620">
            <a:solidFill>
              <a:srgbClr val="D9DDD2"/>
            </a:solidFill>
            <a:prstDash val="solid"/>
          </a:ln>
        </p:spPr>
      </p:sp>
      <p:sp>
        <p:nvSpPr>
          <p:cNvPr id="16" name="Text 14"/>
          <p:cNvSpPr/>
          <p:nvPr/>
        </p:nvSpPr>
        <p:spPr>
          <a:xfrm>
            <a:off x="80467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PRIMARY • 2 PLANTS</a:t>
            </a:r>
            <a:endParaRPr lang="en-US" sz="1300" dirty="0"/>
          </a:p>
        </p:txBody>
      </p:sp>
      <p:sp>
        <p:nvSpPr>
          <p:cNvPr id="17" name="Text 15"/>
          <p:cNvSpPr/>
          <p:nvPr/>
        </p:nvSpPr>
        <p:spPr>
          <a:xfrm>
            <a:off x="80467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8" name="Text 16"/>
          <p:cNvSpPr/>
          <p:nvPr/>
        </p:nvSpPr>
        <p:spPr>
          <a:xfrm>
            <a:off x="80467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Parthenocissus tricuspidata</a:t>
            </a:r>
            <a:endParaRPr lang="en-US" sz="1400" dirty="0"/>
          </a:p>
        </p:txBody>
      </p:sp>
      <p:sp>
        <p:nvSpPr>
          <p:cNvPr id="19" name="Text 17"/>
          <p:cNvSpPr/>
          <p:nvPr/>
        </p:nvSpPr>
        <p:spPr>
          <a:xfrm>
            <a:off x="80467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Deciduous: summer leaf cover, winter leaf loss. Adhesive tendrils; train and check grip on the support.</a:t>
            </a:r>
            <a:endParaRPr lang="en-US" sz="1600" dirty="0"/>
          </a:p>
        </p:txBody>
      </p:sp>
      <p:sp>
        <p:nvSpPr>
          <p:cNvPr id="20" name="Shape 18"/>
          <p:cNvSpPr/>
          <p:nvPr/>
        </p:nvSpPr>
        <p:spPr>
          <a:xfrm>
            <a:off x="4416552" y="2148840"/>
            <a:ext cx="3602736" cy="2926080"/>
          </a:xfrm>
          <a:prstGeom prst="rect">
            <a:avLst>
              <a:gd name="adj" fmla="val 3125"/>
            </a:avLst>
          </a:prstGeom>
          <a:solidFill>
            <a:srgbClr val="EDF1E9"/>
          </a:solidFill>
          <a:ln w="7620">
            <a:solidFill>
              <a:srgbClr val="D9DDD2"/>
            </a:solidFill>
            <a:prstDash val="solid"/>
          </a:ln>
        </p:spPr>
      </p:sp>
      <p:sp>
        <p:nvSpPr>
          <p:cNvPr id="21" name="Text 19"/>
          <p:cNvSpPr/>
          <p:nvPr/>
        </p:nvSpPr>
        <p:spPr>
          <a:xfrm>
            <a:off x="459943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COMPANION • 1 PLANT</a:t>
            </a:r>
            <a:endParaRPr lang="en-US" sz="1300" dirty="0"/>
          </a:p>
        </p:txBody>
      </p:sp>
      <p:sp>
        <p:nvSpPr>
          <p:cNvPr id="22" name="Text 20"/>
          <p:cNvSpPr/>
          <p:nvPr/>
        </p:nvSpPr>
        <p:spPr>
          <a:xfrm>
            <a:off x="459943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23" name="Text 21"/>
          <p:cNvSpPr/>
          <p:nvPr/>
        </p:nvSpPr>
        <p:spPr>
          <a:xfrm>
            <a:off x="459943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Combretum indicum</a:t>
            </a:r>
            <a:endParaRPr lang="en-US" sz="1400" dirty="0"/>
          </a:p>
        </p:txBody>
      </p:sp>
      <p:sp>
        <p:nvSpPr>
          <p:cNvPr id="24" name="Text 22"/>
          <p:cNvSpPr/>
          <p:nvPr/>
        </p:nvSpPr>
        <p:spPr>
          <a:xfrm>
            <a:off x="459943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role: companion; twining climber. Confirm local suitability and attachment to the proposed rods.</a:t>
            </a:r>
            <a:endParaRPr lang="en-US" sz="1600" dirty="0"/>
          </a:p>
        </p:txBody>
      </p:sp>
      <p:sp>
        <p:nvSpPr>
          <p:cNvPr id="25" name="Shape 23"/>
          <p:cNvSpPr/>
          <p:nvPr/>
        </p:nvSpPr>
        <p:spPr>
          <a:xfrm>
            <a:off x="8211312" y="2148840"/>
            <a:ext cx="3602736" cy="2926080"/>
          </a:xfrm>
          <a:prstGeom prst="rect">
            <a:avLst>
              <a:gd name="adj" fmla="val 3125"/>
            </a:avLst>
          </a:prstGeom>
          <a:solidFill>
            <a:srgbClr val="EDF1E9"/>
          </a:solidFill>
          <a:ln w="7620">
            <a:solidFill>
              <a:srgbClr val="D9DDD2"/>
            </a:solidFill>
            <a:prstDash val="solid"/>
          </a:ln>
        </p:spPr>
      </p:sp>
      <p:sp>
        <p:nvSpPr>
          <p:cNvPr id="26" name="Text 24"/>
          <p:cNvSpPr/>
          <p:nvPr/>
        </p:nvSpPr>
        <p:spPr>
          <a:xfrm>
            <a:off x="839419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ALTERNATIVE</a:t>
            </a:r>
            <a:endParaRPr lang="en-US" sz="1300" dirty="0"/>
          </a:p>
        </p:txBody>
      </p:sp>
      <p:sp>
        <p:nvSpPr>
          <p:cNvPr id="27" name="Text 25"/>
          <p:cNvSpPr/>
          <p:nvPr/>
        </p:nvSpPr>
        <p:spPr>
          <a:xfrm>
            <a:off x="839419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28" name="Text 26"/>
          <p:cNvSpPr/>
          <p:nvPr/>
        </p:nvSpPr>
        <p:spPr>
          <a:xfrm>
            <a:off x="839419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Campsis grandiflora*</a:t>
            </a:r>
            <a:endParaRPr lang="en-US" sz="1400" dirty="0"/>
          </a:p>
        </p:txBody>
      </p:sp>
      <p:sp>
        <p:nvSpPr>
          <p:cNvPr id="29" name="Text 27"/>
          <p:cNvSpPr/>
          <p:nvPr/>
        </p:nvSpPr>
        <p:spPr>
          <a:xfrm>
            <a:off x="839419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Vigorous woody climber; check roots, pruning demand and attachment. Confirm nursery species.</a:t>
            </a:r>
            <a:endParaRPr lang="en-US" sz="1600" dirty="0"/>
          </a:p>
        </p:txBody>
      </p:sp>
      <p:sp>
        <p:nvSpPr>
          <p:cNvPr id="30" name="Text 28"/>
          <p:cNvSpPr/>
          <p:nvPr/>
        </p:nvSpPr>
        <p:spPr>
          <a:xfrm>
            <a:off x="713232" y="5376672"/>
            <a:ext cx="2011680" cy="26517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ROOTS + CARE</a:t>
            </a:r>
            <a:endParaRPr lang="en-US" sz="1500" dirty="0"/>
          </a:p>
        </p:txBody>
      </p:sp>
      <p:sp>
        <p:nvSpPr>
          <p:cNvPr id="31" name="Text 29"/>
          <p:cNvSpPr/>
          <p:nvPr/>
        </p:nvSpPr>
        <p:spPr>
          <a:xfrm>
            <a:off x="2761488" y="5376672"/>
            <a:ext cx="8503920" cy="365760"/>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drip irrigation, training and pruning.</a:t>
            </a:r>
            <a:endParaRPr lang="en-US" sz="1600" dirty="0"/>
          </a:p>
        </p:txBody>
      </p:sp>
      <p:sp>
        <p:nvSpPr>
          <p:cNvPr id="32" name="Text 30"/>
          <p:cNvSpPr/>
          <p:nvPr/>
        </p:nvSpPr>
        <p:spPr>
          <a:xfrm>
            <a:off x="713232" y="5971032"/>
            <a:ext cx="10744200" cy="274320"/>
          </a:xfrm>
          <a:prstGeom prst="rect">
            <a:avLst/>
          </a:prstGeom>
          <a:noFill/>
          <a:ln/>
        </p:spPr>
        <p:txBody>
          <a:bodyPr wrap="square" lIns="0" tIns="0" rIns="0" bIns="0" rtlCol="0" anchor="ctr"/>
          <a:lstStyle/>
          <a:p>
            <a:pPr indent="0" marL="0">
              <a:buNone/>
            </a:pPr>
            <a:r>
              <a:rPr lang="en-US" sz="1240" dirty="0">
                <a:solidFill>
                  <a:srgbClr val="66736D"/>
                </a:solidFill>
                <a:latin typeface="Noto Sans" pitchFamily="34" charset="0"/>
                <a:ea typeface="Noto Sans" pitchFamily="34" charset="-122"/>
                <a:cs typeface="Noto Sans" pitchFamily="34" charset="-120"/>
              </a:rPr>
              <a:t>Plant traits and quantities follow the workbook; local suitability and attachment require confirmation.</a:t>
            </a:r>
            <a:endParaRPr lang="en-US" sz="12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Two shade metrics answer different questions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same reference zone.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methods/assumptions P2/P5. Reference zone is not net usable floor area; no temperature change is calculated.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Shape 13"/>
          <p:cNvSpPr/>
          <p:nvPr/>
        </p:nvSpPr>
        <p:spPr>
          <a:xfrm>
            <a:off x="594360" y="2084832"/>
            <a:ext cx="2624328" cy="685800"/>
          </a:xfrm>
          <a:prstGeom prst="rect">
            <a:avLst>
              <a:gd name="adj" fmla="val 13333"/>
            </a:avLst>
          </a:prstGeom>
          <a:solidFill>
            <a:srgbClr val="EDF1E9"/>
          </a:solidFill>
          <a:ln w="7620">
            <a:solidFill>
              <a:srgbClr val="D9DDD2"/>
            </a:solidFill>
            <a:prstDash val="solid"/>
          </a:ln>
        </p:spPr>
      </p:sp>
      <p:sp>
        <p:nvSpPr>
          <p:cNvPr id="16" name="Text 14"/>
          <p:cNvSpPr/>
          <p:nvPr/>
        </p:nvSpPr>
        <p:spPr>
          <a:xfrm>
            <a:off x="713232"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01</a:t>
            </a:r>
            <a:endParaRPr lang="en-US" sz="1300" dirty="0"/>
          </a:p>
        </p:txBody>
      </p:sp>
      <p:sp>
        <p:nvSpPr>
          <p:cNvPr id="17" name="Text 15"/>
          <p:cNvSpPr/>
          <p:nvPr/>
        </p:nvSpPr>
        <p:spPr>
          <a:xfrm>
            <a:off x="1170432"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SUN DIRECTION</a:t>
            </a:r>
            <a:endParaRPr lang="en-US" sz="1270" dirty="0"/>
          </a:p>
        </p:txBody>
      </p:sp>
      <p:sp>
        <p:nvSpPr>
          <p:cNvPr id="18" name="Shape 16"/>
          <p:cNvSpPr/>
          <p:nvPr/>
        </p:nvSpPr>
        <p:spPr>
          <a:xfrm>
            <a:off x="3410712" y="2084832"/>
            <a:ext cx="2624328" cy="685800"/>
          </a:xfrm>
          <a:prstGeom prst="rect">
            <a:avLst>
              <a:gd name="adj" fmla="val 13333"/>
            </a:avLst>
          </a:prstGeom>
          <a:solidFill>
            <a:srgbClr val="EDF1E9"/>
          </a:solidFill>
          <a:ln w="7620">
            <a:solidFill>
              <a:srgbClr val="D9DDD2"/>
            </a:solidFill>
            <a:prstDash val="solid"/>
          </a:ln>
        </p:spPr>
      </p:sp>
      <p:sp>
        <p:nvSpPr>
          <p:cNvPr id="19" name="Text 17"/>
          <p:cNvSpPr/>
          <p:nvPr/>
        </p:nvSpPr>
        <p:spPr>
          <a:xfrm>
            <a:off x="3529584"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02</a:t>
            </a:r>
            <a:endParaRPr lang="en-US" sz="1300" dirty="0"/>
          </a:p>
        </p:txBody>
      </p:sp>
      <p:sp>
        <p:nvSpPr>
          <p:cNvPr id="20" name="Text 18"/>
          <p:cNvSpPr/>
          <p:nvPr/>
        </p:nvSpPr>
        <p:spPr>
          <a:xfrm>
            <a:off x="3986784"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MODEL + LEAVES</a:t>
            </a:r>
            <a:endParaRPr lang="en-US" sz="1270" dirty="0"/>
          </a:p>
        </p:txBody>
      </p:sp>
      <p:sp>
        <p:nvSpPr>
          <p:cNvPr id="21" name="Shape 19"/>
          <p:cNvSpPr/>
          <p:nvPr/>
        </p:nvSpPr>
        <p:spPr>
          <a:xfrm>
            <a:off x="6227064" y="2084832"/>
            <a:ext cx="2624328" cy="685800"/>
          </a:xfrm>
          <a:prstGeom prst="rect">
            <a:avLst>
              <a:gd name="adj" fmla="val 13333"/>
            </a:avLst>
          </a:prstGeom>
          <a:solidFill>
            <a:srgbClr val="EDF1E9"/>
          </a:solidFill>
          <a:ln w="7620">
            <a:solidFill>
              <a:srgbClr val="D9DDD2"/>
            </a:solidFill>
            <a:prstDash val="solid"/>
          </a:ln>
        </p:spPr>
      </p:sp>
      <p:sp>
        <p:nvSpPr>
          <p:cNvPr id="22" name="Text 20"/>
          <p:cNvSpPr/>
          <p:nvPr/>
        </p:nvSpPr>
        <p:spPr>
          <a:xfrm>
            <a:off x="6345936"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03</a:t>
            </a:r>
            <a:endParaRPr lang="en-US" sz="1300" dirty="0"/>
          </a:p>
        </p:txBody>
      </p:sp>
      <p:sp>
        <p:nvSpPr>
          <p:cNvPr id="23" name="Text 21"/>
          <p:cNvSpPr/>
          <p:nvPr/>
        </p:nvSpPr>
        <p:spPr>
          <a:xfrm>
            <a:off x="6803136"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SHADOW PROJECTION</a:t>
            </a:r>
            <a:endParaRPr lang="en-US" sz="1270" dirty="0"/>
          </a:p>
        </p:txBody>
      </p:sp>
      <p:sp>
        <p:nvSpPr>
          <p:cNvPr id="24" name="Shape 22"/>
          <p:cNvSpPr/>
          <p:nvPr/>
        </p:nvSpPr>
        <p:spPr>
          <a:xfrm>
            <a:off x="9043416" y="2084832"/>
            <a:ext cx="2624328" cy="685800"/>
          </a:xfrm>
          <a:prstGeom prst="rect">
            <a:avLst>
              <a:gd name="adj" fmla="val 13333"/>
            </a:avLst>
          </a:prstGeom>
          <a:solidFill>
            <a:srgbClr val="EDF1E9"/>
          </a:solidFill>
          <a:ln w="7620">
            <a:solidFill>
              <a:srgbClr val="D9DDD2"/>
            </a:solidFill>
            <a:prstDash val="solid"/>
          </a:ln>
        </p:spPr>
      </p:sp>
      <p:sp>
        <p:nvSpPr>
          <p:cNvPr id="25" name="Text 23"/>
          <p:cNvSpPr/>
          <p:nvPr/>
        </p:nvSpPr>
        <p:spPr>
          <a:xfrm>
            <a:off x="9162288"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04</a:t>
            </a:r>
            <a:endParaRPr lang="en-US" sz="1300" dirty="0"/>
          </a:p>
        </p:txBody>
      </p:sp>
      <p:sp>
        <p:nvSpPr>
          <p:cNvPr id="26" name="Text 24"/>
          <p:cNvSpPr/>
          <p:nvPr/>
        </p:nvSpPr>
        <p:spPr>
          <a:xfrm>
            <a:off x="9619488"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TARGET INTERSECTION</a:t>
            </a:r>
            <a:endParaRPr lang="en-US" sz="1270" dirty="0"/>
          </a:p>
        </p:txBody>
      </p:sp>
      <p:sp>
        <p:nvSpPr>
          <p:cNvPr id="27" name="Shape 25"/>
          <p:cNvSpPr/>
          <p:nvPr/>
        </p:nvSpPr>
        <p:spPr>
          <a:xfrm>
            <a:off x="612648" y="3063240"/>
            <a:ext cx="5330952" cy="2212848"/>
          </a:xfrm>
          <a:prstGeom prst="rect">
            <a:avLst>
              <a:gd name="adj" fmla="val 4132"/>
            </a:avLst>
          </a:prstGeom>
          <a:solidFill>
            <a:srgbClr val="FFFFFF"/>
          </a:solidFill>
          <a:ln w="7620">
            <a:solidFill>
              <a:srgbClr val="D9DDD2"/>
            </a:solidFill>
            <a:prstDash val="solid"/>
          </a:ln>
        </p:spPr>
      </p:sp>
      <p:sp>
        <p:nvSpPr>
          <p:cNvPr id="28" name="Text 26"/>
          <p:cNvSpPr/>
          <p:nvPr/>
        </p:nvSpPr>
        <p:spPr>
          <a:xfrm>
            <a:off x="804672" y="3246120"/>
            <a:ext cx="4919472" cy="292608"/>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01  IDEAL LEAF-SHADOW OVERLAP</a:t>
            </a:r>
            <a:endParaRPr lang="en-US" sz="1550" dirty="0"/>
          </a:p>
        </p:txBody>
      </p:sp>
      <p:sp>
        <p:nvSpPr>
          <p:cNvPr id="29" name="Text 27"/>
          <p:cNvSpPr/>
          <p:nvPr/>
        </p:nvSpPr>
        <p:spPr>
          <a:xfrm>
            <a:off x="804672" y="3767328"/>
            <a:ext cx="4892040" cy="713232"/>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Where could a continuous leaf envelope cast shade?</a:t>
            </a:r>
            <a:endParaRPr lang="en-US" sz="2300" dirty="0"/>
          </a:p>
        </p:txBody>
      </p:sp>
      <p:sp>
        <p:nvSpPr>
          <p:cNvPr id="30" name="Text 28"/>
          <p:cNvSpPr/>
          <p:nvPr/>
        </p:nvSpPr>
        <p:spPr>
          <a:xfrm>
            <a:off x="804672" y="4663440"/>
            <a:ext cx="4892040" cy="438912"/>
          </a:xfrm>
          <a:prstGeom prst="rect">
            <a:avLst/>
          </a:prstGeom>
          <a:noFill/>
          <a:ln/>
        </p:spPr>
        <p:txBody>
          <a:bodyPr wrap="square" lIns="0" tIns="0" rIns="0" bIns="0" rtlCol="0" anchor="ctr"/>
          <a:lstStyle/>
          <a:p>
            <a:pPr indent="0" marL="0">
              <a:buNone/>
            </a:pPr>
            <a:r>
              <a:rPr lang="en-US" sz="1460" dirty="0">
                <a:solidFill>
                  <a:srgbClr val="34434A"/>
                </a:solidFill>
                <a:latin typeface="Noto Sans" pitchFamily="34" charset="0"/>
                <a:ea typeface="Noto Sans" pitchFamily="34" charset="-122"/>
                <a:cs typeface="Noto Sans" pitchFamily="34" charset="-120"/>
              </a:rPr>
              <a:t>Leaf-envelope shadow on target ÷ target area. Used for the ideal daily / solar-season result.</a:t>
            </a:r>
            <a:endParaRPr lang="en-US" sz="1460" dirty="0"/>
          </a:p>
        </p:txBody>
      </p:sp>
      <p:sp>
        <p:nvSpPr>
          <p:cNvPr id="31" name="Shape 29"/>
          <p:cNvSpPr/>
          <p:nvPr/>
        </p:nvSpPr>
        <p:spPr>
          <a:xfrm>
            <a:off x="6190488" y="3063240"/>
            <a:ext cx="5330952" cy="2212848"/>
          </a:xfrm>
          <a:prstGeom prst="rect">
            <a:avLst>
              <a:gd name="adj" fmla="val 4132"/>
            </a:avLst>
          </a:prstGeom>
          <a:solidFill>
            <a:srgbClr val="FFFFFF"/>
          </a:solidFill>
          <a:ln w="7620">
            <a:solidFill>
              <a:srgbClr val="D9DDD2"/>
            </a:solidFill>
            <a:prstDash val="solid"/>
          </a:ln>
        </p:spPr>
      </p:sp>
      <p:sp>
        <p:nvSpPr>
          <p:cNvPr id="32" name="Text 30"/>
          <p:cNvSpPr/>
          <p:nvPr/>
        </p:nvSpPr>
        <p:spPr>
          <a:xfrm>
            <a:off x="6382512" y="3246120"/>
            <a:ext cx="4919472" cy="292608"/>
          </a:xfrm>
          <a:prstGeom prst="rect">
            <a:avLst/>
          </a:prstGeom>
          <a:noFill/>
          <a:ln/>
        </p:spPr>
        <p:txBody>
          <a:bodyPr wrap="square" lIns="0" tIns="0" rIns="0" bIns="0" rtlCol="0" anchor="ctr"/>
          <a:lstStyle/>
          <a:p>
            <a:pPr indent="0" marL="0">
              <a:buNone/>
            </a:pPr>
            <a:r>
              <a:rPr lang="en-US" sz="1410" b="1" dirty="0">
                <a:solidFill>
                  <a:srgbClr val="346A55"/>
                </a:solidFill>
                <a:latin typeface="Noto Sans" pitchFamily="34" charset="0"/>
                <a:ea typeface="Noto Sans" pitchFamily="34" charset="-122"/>
                <a:cs typeface="Noto Sans" pitchFamily="34" charset="-120"/>
              </a:rPr>
              <a:t>02  EQUIVALENT DIRECT-BEAM BLOCKAGE</a:t>
            </a:r>
            <a:endParaRPr lang="en-US" sz="1410" dirty="0"/>
          </a:p>
        </p:txBody>
      </p:sp>
      <p:sp>
        <p:nvSpPr>
          <p:cNvPr id="33" name="Text 31"/>
          <p:cNvSpPr/>
          <p:nvPr/>
        </p:nvSpPr>
        <p:spPr>
          <a:xfrm>
            <a:off x="6382512" y="3767328"/>
            <a:ext cx="4892040" cy="713232"/>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How much direct beam do the frame and assumed leaves block?</a:t>
            </a:r>
            <a:endParaRPr lang="en-US" sz="2300" dirty="0"/>
          </a:p>
        </p:txBody>
      </p:sp>
      <p:sp>
        <p:nvSpPr>
          <p:cNvPr id="34" name="Text 32"/>
          <p:cNvSpPr/>
          <p:nvPr/>
        </p:nvSpPr>
        <p:spPr>
          <a:xfrm>
            <a:off x="6382512" y="4663440"/>
            <a:ext cx="4892040" cy="438912"/>
          </a:xfrm>
          <a:prstGeom prst="rect">
            <a:avLst/>
          </a:prstGeom>
          <a:noFill/>
          <a:ln/>
        </p:spPr>
        <p:txBody>
          <a:bodyPr wrap="square" lIns="0" tIns="0" rIns="0" bIns="0" rtlCol="0" anchor="ctr"/>
          <a:lstStyle/>
          <a:p>
            <a:pPr indent="0" marL="0">
              <a:buNone/>
            </a:pPr>
            <a:r>
              <a:rPr lang="en-US" sz="1460" dirty="0">
                <a:solidFill>
                  <a:srgbClr val="34434A"/>
                </a:solidFill>
                <a:latin typeface="Noto Sans" pitchFamily="34" charset="0"/>
                <a:ea typeface="Noto Sans" pitchFamily="34" charset="-122"/>
                <a:cs typeface="Noto Sans" pitchFamily="34" charset="-120"/>
              </a:rPr>
              <a:t>Accounts for frame/leaf overlap and assumed leaf transmittance τ = 0.15; used for sensitivity tests.</a:t>
            </a:r>
            <a:endParaRPr lang="en-US" sz="1460" dirty="0"/>
          </a:p>
        </p:txBody>
      </p:sp>
      <p:sp>
        <p:nvSpPr>
          <p:cNvPr id="35" name="Shape 33"/>
          <p:cNvSpPr/>
          <p:nvPr/>
        </p:nvSpPr>
        <p:spPr>
          <a:xfrm>
            <a:off x="722376" y="5568696"/>
            <a:ext cx="10735056" cy="411480"/>
          </a:xfrm>
          <a:prstGeom prst="rect">
            <a:avLst>
              <a:gd name="adj" fmla="val 22222"/>
            </a:avLst>
          </a:prstGeom>
          <a:solidFill>
            <a:srgbClr val="EDF1E9"/>
          </a:solidFill>
          <a:ln w="7620">
            <a:solidFill>
              <a:srgbClr val="EDF1E9"/>
            </a:solidFill>
            <a:prstDash val="solid"/>
          </a:ln>
        </p:spPr>
      </p:sp>
      <p:sp>
        <p:nvSpPr>
          <p:cNvPr id="36" name="Text 34"/>
          <p:cNvSpPr/>
          <p:nvPr/>
        </p:nvSpPr>
        <p:spPr>
          <a:xfrm>
            <a:off x="832104" y="5632704"/>
            <a:ext cx="10515600"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COMMON TARGET: 5 × 5 m MINUS r = 0.75 m → 23.23 m²</a:t>
            </a:r>
            <a:endParaRPr lang="en-US" sz="1400" dirty="0"/>
          </a:p>
        </p:txBody>
      </p:sp>
      <p:sp>
        <p:nvSpPr>
          <p:cNvPr id="37" name="Text 35"/>
          <p:cNvSpPr/>
          <p:nvPr/>
        </p:nvSpPr>
        <p:spPr>
          <a:xfrm>
            <a:off x="777240" y="6126480"/>
            <a:ext cx="10625328" cy="219456"/>
          </a:xfrm>
          <a:prstGeom prst="rect">
            <a:avLst/>
          </a:prstGeom>
          <a:noFill/>
          <a:ln/>
        </p:spPr>
        <p:txBody>
          <a:bodyPr wrap="square" lIns="0" tIns="0" rIns="0" bIns="0" rtlCol="0" anchor="ctr"/>
          <a:lstStyle/>
          <a:p>
            <a:pPr algn="ctr" indent="0" marL="0">
              <a:buNone/>
            </a:pPr>
            <a:r>
              <a:rPr lang="en-US" sz="1400" b="1" dirty="0">
                <a:solidFill>
                  <a:srgbClr val="173C51"/>
                </a:solidFill>
                <a:latin typeface="Noto Sans" pitchFamily="34" charset="0"/>
                <a:ea typeface="Noto Sans" pitchFamily="34" charset="-122"/>
                <a:cs typeface="Noto Sans" pitchFamily="34" charset="-120"/>
              </a:rPr>
              <a:t>Compare results within the same metric and time window; do not add the two percentages.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noon peak does not ensure all-day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01: ideal leaf-shadow overlap. Read the moving footprint and the full 09–15 window.</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data (P2, P5). Solar-season comparison under the assumed foliage geometry.</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pic>
        <p:nvPicPr>
          <p:cNvPr id="15" name="Image 0" descr="/workspace/temp/presentation/v7/assets/ideal-shadow-09.png">    </p:cNvPr>
          <p:cNvPicPr>
            <a:picLocks noChangeAspect="1"/>
          </p:cNvPicPr>
          <p:nvPr/>
        </p:nvPicPr>
        <p:blipFill>
          <a:blip r:embed="rId1"/>
          <a:stretch>
            <a:fillRect/>
          </a:stretch>
        </p:blipFill>
        <p:spPr>
          <a:xfrm>
            <a:off x="1167003" y="1984248"/>
            <a:ext cx="2539746" cy="1847088"/>
          </a:xfrm>
          <a:prstGeom prst="rect">
            <a:avLst/>
          </a:prstGeom>
        </p:spPr>
      </p:pic>
      <p:sp>
        <p:nvSpPr>
          <p:cNvPr id="16" name="Text 13"/>
          <p:cNvSpPr/>
          <p:nvPr/>
        </p:nvSpPr>
        <p:spPr>
          <a:xfrm>
            <a:off x="630936"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09:00</a:t>
            </a:r>
            <a:endParaRPr lang="en-US" sz="1400" dirty="0"/>
          </a:p>
        </p:txBody>
      </p:sp>
      <p:sp>
        <p:nvSpPr>
          <p:cNvPr id="17" name="Text 14"/>
          <p:cNvSpPr/>
          <p:nvPr/>
        </p:nvSpPr>
        <p:spPr>
          <a:xfrm>
            <a:off x="630936"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pic>
        <p:nvPicPr>
          <p:cNvPr id="18" name="Image 1" descr="/workspace/temp/presentation/v7/assets/ideal-shadow-12.png">    </p:cNvPr>
          <p:cNvPicPr>
            <a:picLocks noChangeAspect="1"/>
          </p:cNvPicPr>
          <p:nvPr/>
        </p:nvPicPr>
        <p:blipFill>
          <a:blip r:embed="rId2"/>
          <a:stretch>
            <a:fillRect/>
          </a:stretch>
        </p:blipFill>
        <p:spPr>
          <a:xfrm>
            <a:off x="4943475" y="1984248"/>
            <a:ext cx="2539746" cy="1847088"/>
          </a:xfrm>
          <a:prstGeom prst="rect">
            <a:avLst/>
          </a:prstGeom>
        </p:spPr>
      </p:pic>
      <p:sp>
        <p:nvSpPr>
          <p:cNvPr id="19" name="Text 15"/>
          <p:cNvSpPr/>
          <p:nvPr/>
        </p:nvSpPr>
        <p:spPr>
          <a:xfrm>
            <a:off x="4407408"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12:00</a:t>
            </a:r>
            <a:endParaRPr lang="en-US" sz="1400" dirty="0"/>
          </a:p>
        </p:txBody>
      </p:sp>
      <p:sp>
        <p:nvSpPr>
          <p:cNvPr id="20" name="Text 16"/>
          <p:cNvSpPr/>
          <p:nvPr/>
        </p:nvSpPr>
        <p:spPr>
          <a:xfrm>
            <a:off x="4407408"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98.7%</a:t>
            </a:r>
            <a:endParaRPr lang="en-US" sz="2500" dirty="0"/>
          </a:p>
        </p:txBody>
      </p:sp>
      <p:pic>
        <p:nvPicPr>
          <p:cNvPr id="21" name="Image 2" descr="/workspace/temp/presentation/v7/assets/ideal-shadow-15.png">    </p:cNvPr>
          <p:cNvPicPr>
            <a:picLocks noChangeAspect="1"/>
          </p:cNvPicPr>
          <p:nvPr/>
        </p:nvPicPr>
        <p:blipFill>
          <a:blip r:embed="rId3"/>
          <a:stretch>
            <a:fillRect/>
          </a:stretch>
        </p:blipFill>
        <p:spPr>
          <a:xfrm>
            <a:off x="8719947" y="1984248"/>
            <a:ext cx="2539746" cy="1847088"/>
          </a:xfrm>
          <a:prstGeom prst="rect">
            <a:avLst/>
          </a:prstGeom>
        </p:spPr>
      </p:pic>
      <p:sp>
        <p:nvSpPr>
          <p:cNvPr id="22" name="Text 17"/>
          <p:cNvSpPr/>
          <p:nvPr/>
        </p:nvSpPr>
        <p:spPr>
          <a:xfrm>
            <a:off x="8183880"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15:00</a:t>
            </a:r>
            <a:endParaRPr lang="en-US" sz="1400" dirty="0"/>
          </a:p>
        </p:txBody>
      </p:sp>
      <p:sp>
        <p:nvSpPr>
          <p:cNvPr id="23" name="Text 18"/>
          <p:cNvSpPr/>
          <p:nvPr/>
        </p:nvSpPr>
        <p:spPr>
          <a:xfrm>
            <a:off x="8183880"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graphicFrame>
        <p:nvGraphicFramePr>
          <p:cNvPr id="24" name="Chart 0" descr=""/>
          <p:cNvGraphicFramePr/>
          <p:nvPr/>
        </p:nvGraphicFramePr>
        <p:xfrm>
          <a:off x="685800" y="4718304"/>
          <a:ext cx="7104888" cy="14904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p:nvPr/>
        </p:nvSpPr>
        <p:spPr>
          <a:xfrm>
            <a:off x="8247888" y="4782312"/>
            <a:ext cx="3054096"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26" name="Text 20"/>
          <p:cNvSpPr/>
          <p:nvPr/>
        </p:nvSpPr>
        <p:spPr>
          <a:xfrm>
            <a:off x="8247888" y="5166360"/>
            <a:ext cx="3054096" cy="649224"/>
          </a:xfrm>
          <a:prstGeom prst="rect">
            <a:avLst/>
          </a:prstGeom>
          <a:noFill/>
          <a:ln/>
        </p:spPr>
        <p:txBody>
          <a:bodyPr wrap="square" lIns="0" tIns="0" rIns="0" bIns="0" rtlCol="0" anchor="ctr"/>
          <a:lstStyle/>
          <a:p>
            <a:pPr indent="0" marL="0">
              <a:buNone/>
            </a:pPr>
            <a:r>
              <a:rPr lang="en-US" sz="2000" b="1" dirty="0">
                <a:solidFill>
                  <a:srgbClr val="173C51"/>
                </a:solidFill>
                <a:latin typeface="Noto Sans" pitchFamily="34" charset="0"/>
                <a:ea typeface="Noto Sans" pitchFamily="34" charset="-122"/>
                <a:cs typeface="Noto Sans" pitchFamily="34" charset="-120"/>
              </a:rPr>
              <a:t>Solstice 75.3%</a:t>
            </a:r>
            <a:endParaRPr lang="en-US" sz="2000" dirty="0"/>
          </a:p>
          <a:p>
            <a:pPr indent="0" marL="0">
              <a:buNone/>
            </a:pPr>
            <a:r>
              <a:rPr lang="en-US" sz="2000" b="1" dirty="0">
                <a:solidFill>
                  <a:srgbClr val="173C51"/>
                </a:solidFill>
                <a:latin typeface="Noto Sans" pitchFamily="34" charset="0"/>
                <a:ea typeface="Noto Sans" pitchFamily="34" charset="-122"/>
                <a:cs typeface="Noto Sans" pitchFamily="34" charset="-120"/>
              </a:rPr>
              <a:t>Equinox 49.8%</a:t>
            </a:r>
            <a:endParaRPr lang="en-US" sz="2000" dirty="0"/>
          </a:p>
        </p:txBody>
      </p:sp>
      <p:sp>
        <p:nvSpPr>
          <p:cNvPr id="27" name="Text 21"/>
          <p:cNvSpPr/>
          <p:nvPr/>
        </p:nvSpPr>
        <p:spPr>
          <a:xfrm>
            <a:off x="8165592" y="5971032"/>
            <a:ext cx="3319272" cy="32918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Design implication: check morning</a:t>
            </a:r>
            <a:endParaRPr lang="en-US" sz="1270" dirty="0"/>
          </a:p>
          <a:p>
            <a:pPr indent="0" marL="0">
              <a:buNone/>
            </a:pPr>
            <a:r>
              <a:rPr lang="en-US" sz="1270" b="1" dirty="0">
                <a:solidFill>
                  <a:srgbClr val="346A55"/>
                </a:solidFill>
                <a:latin typeface="Noto Sans" pitchFamily="34" charset="0"/>
                <a:ea typeface="Noto Sans" pitchFamily="34" charset="-122"/>
                <a:cs typeface="Noto Sans" pitchFamily="34" charset="-120"/>
              </a:rPr>
              <a:t>and afternoon seating exposure.</a:t>
            </a:r>
            <a:endParaRPr lang="en-US" sz="12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Expanding the crown raises mean blockage: 52.3% → 66.1%</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02: 09–15 mean blockage; one control at a time, 50% plan cover, solstice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7/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7/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7/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22" name="Text 16"/>
          <p:cNvSpPr/>
          <p:nvPr/>
        </p:nvSpPr>
        <p:spPr>
          <a:xfrm>
            <a:off x="758952" y="6144768"/>
            <a:ext cx="10744200" cy="201168"/>
          </a:xfrm>
          <a:prstGeom prst="rect">
            <a:avLst/>
          </a:prstGeom>
          <a:noFill/>
          <a:ln/>
        </p:spPr>
        <p:txBody>
          <a:bodyPr wrap="square" lIns="0" tIns="0" rIns="0" bIns="0" rtlCol="0" anchor="ctr"/>
          <a:lstStyle/>
          <a:p>
            <a:pPr algn="ctr" indent="0" marL="0">
              <a:buNone/>
            </a:pPr>
            <a:r>
              <a:rPr lang="en-US" sz="1370" b="1" dirty="0">
                <a:solidFill>
                  <a:srgbClr val="346A55"/>
                </a:solidFill>
                <a:latin typeface="Noto Sans" pitchFamily="34" charset="0"/>
                <a:ea typeface="Noto Sans" pitchFamily="34" charset="-122"/>
                <a:cs typeface="Noto Sans" pitchFamily="34" charset="-120"/>
              </a:rPr>
              <a:t>Wider crown → more planted area at the same cover percentage; input quantities are not held equal.</a:t>
            </a:r>
            <a:endParaRPr lang="en-US" sz="13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02: fixed structure, five spatial-cover scenarios; 09–15 mean blockage under the same assumptions.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7/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217920" y="1975104"/>
            <a:ext cx="5102352" cy="237744"/>
          </a:xfrm>
          <a:prstGeom prst="rect">
            <a:avLst/>
          </a:prstGeom>
          <a:noFill/>
          <a:ln/>
        </p:spPr>
        <p:txBody>
          <a:bodyPr wrap="square" lIns="0" tIns="0" rIns="0" bIns="0" rtlCol="0" anchor="ctr"/>
          <a:lstStyle/>
          <a:p>
            <a:pPr indent="0" marL="0">
              <a:buNone/>
            </a:pPr>
            <a:r>
              <a:rPr lang="en-US" sz="1180" b="1" dirty="0">
                <a:solidFill>
                  <a:srgbClr val="346A55"/>
                </a:solidFill>
                <a:latin typeface="Noto Sans" pitchFamily="34" charset="0"/>
                <a:ea typeface="Noto Sans" pitchFamily="34" charset="-122"/>
                <a:cs typeface="Noto Sans" pitchFamily="34" charset="-120"/>
              </a:rPr>
              <a:t>09–15 MEAN DIRECT-BEAM BLOCKAGE (%)</a:t>
            </a:r>
            <a:endParaRPr lang="en-US" sz="1180" dirty="0"/>
          </a:p>
        </p:txBody>
      </p:sp>
      <p:sp>
        <p:nvSpPr>
          <p:cNvPr id="18" name="Text 14"/>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9" name="Text 15"/>
          <p:cNvSpPr/>
          <p:nvPr/>
        </p:nvSpPr>
        <p:spPr>
          <a:xfrm>
            <a:off x="6236208" y="5486400"/>
            <a:ext cx="5093208" cy="22860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80 → 95% cover adds only 2.8 pp here.</a:t>
            </a:r>
            <a:endParaRPr lang="en-US" sz="1400" dirty="0"/>
          </a:p>
        </p:txBody>
      </p:sp>
      <p:sp>
        <p:nvSpPr>
          <p:cNvPr id="20" name="Text 16"/>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21" name="Shape 17"/>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2" name="Text 18"/>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noon blockage varies from 62.6% to 77.5%. Leaf location matters.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7/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and site-specific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check plant suitability, and test the real site.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Project models, optical scenarios and estimates are identified separately from published literature.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V7</dc:title>
  <dc:subject>green building — VineWeave Canopy</dc:subject>
  <dc:creator>Group 12</dc:creator>
  <cp:lastModifiedBy>Group 12</cp:lastModifiedBy>
  <cp:revision>1</cp:revision>
  <dcterms:created xsi:type="dcterms:W3CDTF">2026-10-25T10:20:56Z</dcterms:created>
  <dcterms:modified xsi:type="dcterms:W3CDTF">2026-10-25T10:20:56Z</dcterms:modified>
</cp:coreProperties>
</file>
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5.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Deflection / mm</c:v>
                </c:pt>
              </c:strCache>
            </c:strRef>
          </c:tx>
          <c:spPr>
            <a:solidFill>
              <a:srgbClr val="346A55"/>
            </a:solidFill>
            <a:effectLst/>
          </c:spPr>
          <c:invertIfNegative val="0"/>
          <c:dLbls>
            <c:numFmt formatCode="0.0&quot; mm&quot;" sourceLinked="0"/>
            <c:txPr>
              <a:bodyPr/>
              <a:lstStyle/>
              <a:p>
                <a:pPr>
                  <a:defRPr b="0" i="0" strike="noStrike" sz="1600" u="none">
                    <a:solidFill>
                      <a:srgbClr val="173C51"/>
                    </a:solidFill>
                    <a:latin typeface="Arial"/>
                  </a:defRPr>
                </a:pPr>
              </a:p>
            </c:txPr>
            <c:showLegendKey val="0"/>
            <c:showVal val="1"/>
            <c:showCatName val="0"/>
            <c:showSerName val="0"/>
            <c:showPercent val="0"/>
            <c:showBubbleSize val="0"/>
            <c:showLeaderLines val="0"/>
          </c:dLbls>
          <c:dPt>
            <c:idx val="0"/>
            <c:invertIfNegative val="0"/>
            <c:bubble3D val="0"/>
            <c:spPr>
              <a:solidFill>
                <a:srgbClr val="346A55"/>
              </a:solidFill>
              <a:effectLst/>
            </c:spPr>
          </c:dPt>
          <c:dPt>
            <c:idx val="1"/>
            <c:invertIfNegative val="0"/>
            <c:bubble3D val="0"/>
            <c:spPr>
              <a:solidFill>
                <a:srgbClr val="A7B7A2"/>
              </a:solidFill>
              <a:effectLst/>
            </c:spPr>
          </c:dPt>
          <c:cat>
            <c:multiLvlStrRef>
              <c:f>Sheet1!$A$2:$A$3</c:f>
              <c:multiLvlStrCache>
                <c:ptCount val="2"/>
                <c:lvl>
                  <c:pt idx="0">
                    <c:v>Simply supported</c:v>
                  </c:pt>
                  <c:pt idx="1">
                    <c:v>Ideal fixed ends</c:v>
                  </c:pt>
                </c:lvl>
              </c:multiLvlStrCache>
            </c:multiLvlStrRef>
          </c:cat>
          <c:val>
            <c:numRef>
              <c:f>Sheet1!$B$2:$B$3</c:f>
              <c:numCache>
                <c:formatCode>General</c:formatCode>
                <c:ptCount val="2"/>
                <c:pt idx="0">
                  <c:v>100.533387276407</c:v>
                </c:pt>
                <c:pt idx="1">
                  <c:v>20.1066774552815</c:v>
                </c:pt>
              </c:numCache>
            </c:numRef>
          </c:val>
        </c:ser>
        <c:dLbls>
          <c:numFmt formatCode="0.0&quot; mm&quot;" sourceLinked="0"/>
          <c:txPr>
            <a:bodyPr/>
            <a:lstStyle/>
            <a:p>
              <a:pPr>
                <a:defRPr b="0" i="0" strike="noStrike" sz="1600" u="none">
                  <a:solidFill>
                    <a:srgbClr val="173C5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9DDD2"/>
            </a:solidFill>
            <a:prstDash val="solid"/>
            <a:round/>
          </a:ln>
        </c:spPr>
        <c:txPr>
          <a:bodyPr/>
          <a:lstStyle/>
          <a:p>
            <a:pPr>
              <a:defRPr sz="1500" b="0" i="0" u="none" strike="noStrike">
                <a:solidFill>
                  <a:srgbClr val="000000"/>
                </a:solidFill>
                <a:latin typeface="Noto Sans"/>
              </a:defRPr>
            </a:pPr>
            <a:endParaRPr lang="en-US"/>
          </a:p>
        </c:txPr>
        <c:crossAx val="2094734552"/>
        <c:crosses val="autoZero"/>
        <c:auto val="1"/>
        <c:lblAlgn val="ctr"/>
        <c:noMultiLvlLbl val="1"/>
      </c:catAx>
      <c:valAx>
        <c:axId val="2094734552"/>
        <c:scaling>
          <c:orientation val="minMax"/>
          <c:max val="120"/>
          <c:min val="0"/>
        </c:scaling>
        <c:delete val="0"/>
        <c:axPos val="b"/>
        <c:majorGridlines>
          <c:spPr>
            <a:ln w="12700" cap="flat">
              <a:solidFill>
                <a:srgbClr val="D9DDD2"/>
              </a:solidFill>
              <a:prstDash val="solid"/>
              <a:round/>
            </a:ln>
          </c:spPr>
        </c:majorGridlines>
        <c:numFmt formatCode="General" sourceLinked="0"/>
        <c:majorTickMark val="out"/>
        <c:minorTickMark val="none"/>
        <c:tickLblPos val="low"/>
        <c:spPr>
          <a:ln w="12700" cap="flat">
            <a:solidFill>
              <a:srgbClr val="D9DDD2"/>
            </a:solidFill>
            <a:prstDash val="solid"/>
            <a:round/>
          </a:ln>
        </c:spPr>
        <c:txPr>
          <a:bodyPr/>
          <a:lstStyle/>
          <a:p>
            <a:pPr>
              <a:defRPr sz="1300" b="0" i="0" u="none" strike="noStrike">
                <a:solidFill>
                  <a:srgbClr val="000000"/>
                </a:solidFill>
                <a:latin typeface="Noto Sans"/>
              </a:defRPr>
            </a:pPr>
            <a:endParaRPr lang="en-US"/>
          </a:p>
        </c:txPr>
        <c:crossAx val="2094734554"/>
        <c:crosses val="autoZero"/>
        <c:crossBetween val="between"/>
        <c:majorUnit val="4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CNY</c:v>
                </c:pt>
              </c:strCache>
            </c:strRef>
          </c:tx>
          <c:spPr>
            <a:solidFill>
              <a:srgbClr val="346A55"/>
            </a:solidFill>
            <a:effectLst/>
          </c:spPr>
          <c:invertIfNegative val="0"/>
          <c:dLbls>
            <c:numFmt formatCode="#,##0" sourceLinked="0"/>
            <c:txPr>
              <a:bodyPr/>
              <a:lstStyle/>
              <a:p>
                <a:pPr>
                  <a:defRPr b="0" i="0" strike="noStrike" sz="1400" u="none">
                    <a:solidFill>
                      <a:srgbClr val="173C51"/>
                    </a:solidFill>
                    <a:latin typeface="Arial"/>
                  </a:defRPr>
                </a:pPr>
              </a:p>
            </c:txPr>
            <c:showLegendKey val="0"/>
            <c:showVal val="1"/>
            <c:showCatName val="0"/>
            <c:showSerName val="0"/>
            <c:showPercent val="0"/>
            <c:showBubbleSize val="0"/>
            <c:showLeaderLines val="0"/>
          </c:dLbls>
          <c:dPt>
            <c:idx val="0"/>
            <c:invertIfNegative val="0"/>
            <c:bubble3D val="0"/>
            <c:spPr>
              <a:solidFill>
                <a:srgbClr val="346A55"/>
              </a:solidFill>
              <a:effectLst/>
            </c:spPr>
          </c:dPt>
          <c:dPt>
            <c:idx val="1"/>
            <c:invertIfNegative val="0"/>
            <c:bubble3D val="0"/>
            <c:spPr>
              <a:solidFill>
                <a:srgbClr val="A7B7A2"/>
              </a:solidFill>
              <a:effectLst/>
            </c:spPr>
          </c:dPt>
          <c:dPt>
            <c:idx val="2"/>
            <c:invertIfNegative val="0"/>
            <c:bubble3D val="0"/>
            <c:spPr>
              <a:solidFill>
                <a:srgbClr val="AA7E4A"/>
              </a:solidFill>
              <a:effectLst/>
            </c:spPr>
          </c:dPt>
          <c:dPt>
            <c:idx val="3"/>
            <c:invertIfNegative val="0"/>
            <c:bubble3D val="0"/>
            <c:spPr>
              <a:solidFill>
                <a:srgbClr val="346A55"/>
              </a:solidFill>
              <a:effectLst/>
            </c:spPr>
          </c:dPt>
          <c:dPt>
            <c:idx val="4"/>
            <c:invertIfNegative val="0"/>
            <c:bubble3D val="0"/>
            <c:spPr>
              <a:solidFill>
                <a:srgbClr val="A7B7A2"/>
              </a:solidFill>
              <a:effectLst/>
            </c:spPr>
          </c:dPt>
          <c:dPt>
            <c:idx val="5"/>
            <c:invertIfNegative val="0"/>
            <c:bubble3D val="0"/>
            <c:spPr>
              <a:solidFill>
                <a:srgbClr val="AA7E4A"/>
              </a:solidFill>
              <a:effectLst/>
            </c:spPr>
          </c:dPt>
          <c:dPt>
            <c:idx val="6"/>
            <c:invertIfNegative val="0"/>
            <c:bubble3D val="0"/>
            <c:spPr>
              <a:solidFill>
                <a:srgbClr val="346A55"/>
              </a:solidFill>
              <a:effectLst/>
            </c:spPr>
          </c:dPt>
          <c:cat>
            <c:multiLvlStrRef>
              <c:f>Sheet1!$A$2:$A$8</c:f>
              <c:multiLvlStrCache>
                <c:ptCount val="7"/>
                <c:lvl>
                  <c:pt idx="0">
                    <c:v>Materials</c:v>
                  </c:pt>
                  <c:pt idx="1">
                    <c:v>Installation</c:v>
                  </c:pt>
                  <c:pt idx="2">
                    <c:v>Other</c:v>
                  </c:pt>
                  <c:pt idx="3">
                    <c:v>Fabrication</c:v>
                  </c:pt>
                  <c:pt idx="4">
                    <c:v>Maintenance</c:v>
                  </c:pt>
                  <c:pt idx="5">
                    <c:v>Planting</c:v>
                  </c:pt>
                  <c:pt idx="6">
                    <c:v>Transport</c:v>
                  </c:pt>
                </c:lvl>
              </c:multiLvlStrCache>
            </c:multiLvlStrRef>
          </c:cat>
          <c:val>
            <c:numRef>
              <c:f>Sheet1!$B$2:$B$8</c:f>
              <c:numCache>
                <c:formatCode>General</c:formatCode>
                <c:ptCount val="7"/>
                <c:pt idx="0">
                  <c:v>30549.3022975</c:v>
                </c:pt>
                <c:pt idx="1">
                  <c:v>6050</c:v>
                </c:pt>
                <c:pt idx="2">
                  <c:v>5679.6828674</c:v>
                </c:pt>
                <c:pt idx="3">
                  <c:v>5241.733545</c:v>
                </c:pt>
                <c:pt idx="4">
                  <c:v>2300</c:v>
                </c:pt>
                <c:pt idx="5">
                  <c:v>1165</c:v>
                </c:pt>
                <c:pt idx="6">
                  <c:v>690</c:v>
                </c:pt>
              </c:numCache>
            </c:numRef>
          </c:val>
        </c:ser>
        <c:dLbls>
          <c:numFmt formatCode="#,##0" sourceLinked="0"/>
          <c:txPr>
            <a:bodyPr/>
            <a:lstStyle/>
            <a:p>
              <a:pPr>
                <a:defRPr b="0" i="0" strike="noStrike" sz="1400" u="none">
                  <a:solidFill>
                    <a:srgbClr val="173C5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9DDD2"/>
            </a:solidFill>
            <a:prstDash val="solid"/>
            <a:round/>
          </a:ln>
        </c:spPr>
        <c:txPr>
          <a:bodyPr/>
          <a:lstStyle/>
          <a:p>
            <a:pPr>
              <a:defRPr sz="1400" b="0" i="0" u="none" strike="noStrike">
                <a:solidFill>
                  <a:srgbClr val="000000"/>
                </a:solidFill>
                <a:latin typeface="Noto Sans"/>
              </a:defRPr>
            </a:pPr>
            <a:endParaRPr lang="en-US"/>
          </a:p>
        </c:txPr>
        <c:crossAx val="2094734552"/>
        <c:crosses val="autoZero"/>
        <c:auto val="1"/>
        <c:lblAlgn val="ctr"/>
        <c:noMultiLvlLbl val="1"/>
      </c:catAx>
      <c:valAx>
        <c:axId val="2094734552"/>
        <c:scaling>
          <c:orientation val="minMax"/>
          <c:max val="35000"/>
          <c:min val="0"/>
        </c:scaling>
        <c:delete val="0"/>
        <c:axPos val="b"/>
        <c:majorGridlines>
          <c:spPr>
            <a:ln w="12700" cap="flat">
              <a:solidFill>
                <a:srgbClr val="D9DDD2"/>
              </a:solidFill>
              <a:prstDash val="solid"/>
              <a:round/>
            </a:ln>
          </c:spPr>
        </c:majorGridlines>
        <c:numFmt formatCode="0,&quot;k&quot;" sourceLinked="0"/>
        <c:majorTickMark val="out"/>
        <c:minorTickMark val="none"/>
        <c:tickLblPos val="low"/>
        <c:spPr>
          <a:ln w="12700" cap="flat">
            <a:solidFill>
              <a:srgbClr val="D9DDD2"/>
            </a:solidFill>
            <a:prstDash val="solid"/>
            <a:round/>
          </a:ln>
        </c:spPr>
        <c:txPr>
          <a:bodyPr/>
          <a:lstStyle/>
          <a:p>
            <a:pPr>
              <a:defRPr sz="1300" b="0" i="0" u="none" strike="noStrike">
                <a:solidFill>
                  <a:srgbClr val="000000"/>
                </a:solidFill>
                <a:latin typeface="Noto Sans"/>
              </a:defRPr>
            </a:pPr>
            <a:endParaRPr lang="en-US"/>
          </a:p>
        </c:txPr>
        <c:crossAx val="2094734554"/>
        <c:crosses val="autoZero"/>
        <c:crossBetween val="between"/>
        <c:majorUnit val="1000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kgCO₂e</c:v>
                </c:pt>
              </c:strCache>
            </c:strRef>
          </c:tx>
          <c:spPr>
            <a:solidFill>
              <a:schemeClr val="accent1"/>
            </a:solidFill>
            <a:ln w="9525" cap="flat">
              <a:solidFill>
                <a:srgbClr val="F9F9F9"/>
              </a:solidFill>
              <a:prstDash val="solid"/>
              <a:round/>
            </a:ln>
            <a:effectLst/>
          </c:spPr>
          <c:dPt>
            <c:idx val="0"/>
            <c:bubble3D val="0"/>
            <c:spPr>
              <a:solidFill>
                <a:srgbClr val="346A55"/>
              </a:solidFill>
              <a:effectLst/>
            </c:spPr>
          </c:dPt>
          <c:dPt>
            <c:idx val="1"/>
            <c:bubble3D val="0"/>
            <c:spPr>
              <a:solidFill>
                <a:srgbClr val="A7B7A2"/>
              </a:solidFill>
              <a:effectLst/>
            </c:spPr>
          </c:dPt>
          <c:dPt>
            <c:idx val="2"/>
            <c:bubble3D val="0"/>
            <c:spPr>
              <a:solidFill>
                <a:srgbClr val="AA7E4A"/>
              </a:solidFill>
              <a:effectLst/>
            </c:spPr>
          </c:dPt>
          <c:dLbls>
            <c:dLbl>
              <c:idx val="0"/>
              <c:numFmt formatCode="0.0" sourceLinked="0"/>
              <c:spPr/>
              <c:txPr>
                <a:bodyPr/>
                <a:lstStyle/>
                <a:p>
                  <a:pPr>
                    <a:defRPr sz="1600" b="0" i="0" u="none" strike="noStrike">
                      <a:solidFill>
                        <a:srgbClr val="173C51"/>
                      </a:solidFill>
                      <a:latin typeface="Arial"/>
                    </a:defRPr>
                  </a:pPr>
                </a:p>
              </c:txPr>
              <c:showLegendKey val="0"/>
              <c:showVal val="0"/>
              <c:showCatName val="0"/>
              <c:showSerName val="0"/>
              <c:showPercent val="0"/>
              <c:showBubbleSize val="0"/>
            </c:dLbl>
            <c:dLbl>
              <c:idx val="1"/>
              <c:numFmt formatCode="0.0" sourceLinked="0"/>
              <c:spPr/>
              <c:txPr>
                <a:bodyPr/>
                <a:lstStyle/>
                <a:p>
                  <a:pPr>
                    <a:defRPr sz="1600" b="0" i="0" u="none" strike="noStrike">
                      <a:solidFill>
                        <a:srgbClr val="173C51"/>
                      </a:solidFill>
                      <a:latin typeface="Arial"/>
                    </a:defRPr>
                  </a:pPr>
                </a:p>
              </c:txPr>
              <c:showLegendKey val="0"/>
              <c:showVal val="0"/>
              <c:showCatName val="0"/>
              <c:showSerName val="0"/>
              <c:showPercent val="0"/>
              <c:showBubbleSize val="0"/>
            </c:dLbl>
            <c:dLbl>
              <c:idx val="2"/>
              <c:numFmt formatCode="0.0" sourceLinked="0"/>
              <c:spPr/>
              <c:txPr>
                <a:bodyPr/>
                <a:lstStyle/>
                <a:p>
                  <a:pPr>
                    <a:defRPr sz="1600" b="0" i="0" u="none" strike="noStrike">
                      <a:solidFill>
                        <a:srgbClr val="173C51"/>
                      </a:solidFill>
                      <a:latin typeface="Arial"/>
                    </a:defRPr>
                  </a:pPr>
                </a:p>
              </c:txPr>
              <c:showLegendKey val="0"/>
              <c:showVal val="0"/>
              <c:showCatName val="0"/>
              <c:showSerName val="0"/>
              <c:showPercent val="0"/>
              <c:showBubbleSize val="0"/>
            </c:dLbl>
            <c:numFmt formatCode="0.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Primary members</c:v>
                </c:pt>
                <c:pt idx="1">
                  <c:v>Counterweight</c:v>
                </c:pt>
                <c:pt idx="2">
                  <c:v>Other components</c:v>
                </c:pt>
              </c:strCache>
            </c:strRef>
          </c:cat>
          <c:val>
            <c:numRef>
              <c:f>Sheet1!$B$2:$B$4</c:f>
              <c:numCache>
                <c:ptCount val="3"/>
                <c:pt idx="0">
                  <c:v>1581.19629365</c:v>
                </c:pt>
                <c:pt idx="1">
                  <c:v>1088.64</c:v>
                </c:pt>
                <c:pt idx="2">
                  <c:v>150</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Solstice</c:v>
                </c:pt>
              </c:strCache>
            </c:strRef>
          </c:tx>
          <c:spPr>
            <a:solidFill>
              <a:srgbClr val="346A55"/>
            </a:solidFill>
            <a:ln w="25400" cap="flat">
              <a:solidFill>
                <a:srgbClr val="346A55"/>
              </a:solidFill>
              <a:prstDash val="solid"/>
              <a:round/>
            </a:ln>
            <a:effectLst/>
          </c:spPr>
          <c:invertIfNegative val="0"/>
          <c:dLbls>
            <c:numFmt formatCode="0.0" sourceLinked="0"/>
            <c:txPr>
              <a:bodyPr/>
              <a:lstStyle/>
              <a:p>
                <a:pPr>
                  <a:defRPr b="0" i="0" strike="noStrike" sz="1600" u="none">
                    <a:solidFill>
                      <a:srgbClr val="173C51"/>
                    </a:solidFill>
                    <a:latin typeface="Arial"/>
                  </a:defRPr>
                </a:pPr>
              </a:p>
            </c:txPr>
            <c:showLegendKey val="0"/>
            <c:showVal val="0"/>
            <c:showCatName val="0"/>
            <c:showSerName val="0"/>
            <c:showPercent val="0"/>
            <c:showBubbleSize val="0"/>
            <c:showLeaderLines val="0"/>
          </c:dLbls>
          <c:marker>
            <c:symbol val="circle"/>
            <c:size val="6"/>
            <c:spPr>
              <a:solidFill>
                <a:srgbClr val="346A55"/>
              </a:solidFill>
              <a:ln w="9525" cap="flat">
                <a:solidFill>
                  <a:srgbClr val="346A55"/>
                </a:solidFill>
                <a:prstDash val="solid"/>
                <a:round/>
              </a:ln>
              <a:effectLst/>
            </c:spPr>
          </c:marker>
          <c:cat>
            <c:multiLvlStrRef>
              <c:f>Sheet1!$A$2:$A$26</c:f>
              <c:multiLvlStrCache>
                <c:ptCount val="25"/>
                <c:lvl>
                  <c:pt idx="0">
                    <c:v>09:00</c:v>
                  </c:pt>
                  <c:pt idx="1">
                    <c:v/>
                  </c:pt>
                  <c:pt idx="2">
                    <c:v/>
                  </c:pt>
                  <c:pt idx="3">
                    <c:v/>
                  </c:pt>
                  <c:pt idx="4">
                    <c:v>10:00</c:v>
                  </c:pt>
                  <c:pt idx="5">
                    <c:v/>
                  </c:pt>
                  <c:pt idx="6">
                    <c:v/>
                  </c:pt>
                  <c:pt idx="7">
                    <c:v/>
                  </c:pt>
                  <c:pt idx="8">
                    <c:v>11:00</c:v>
                  </c:pt>
                  <c:pt idx="9">
                    <c:v/>
                  </c:pt>
                  <c:pt idx="10">
                    <c:v/>
                  </c:pt>
                  <c:pt idx="11">
                    <c:v/>
                  </c:pt>
                  <c:pt idx="12">
                    <c:v>12:00</c:v>
                  </c:pt>
                  <c:pt idx="13">
                    <c:v/>
                  </c:pt>
                  <c:pt idx="14">
                    <c:v/>
                  </c:pt>
                  <c:pt idx="15">
                    <c:v/>
                  </c:pt>
                  <c:pt idx="16">
                    <c:v>13:00</c:v>
                  </c:pt>
                  <c:pt idx="17">
                    <c:v/>
                  </c:pt>
                  <c:pt idx="18">
                    <c:v/>
                  </c:pt>
                  <c:pt idx="19">
                    <c:v/>
                  </c:pt>
                  <c:pt idx="20">
                    <c:v>14:00</c:v>
                  </c:pt>
                  <c:pt idx="21">
                    <c:v/>
                  </c:pt>
                  <c:pt idx="22">
                    <c:v/>
                  </c:pt>
                  <c:pt idx="23">
                    <c:v/>
                  </c:pt>
                  <c:pt idx="24">
                    <c:v>15:00</c:v>
                  </c:pt>
                </c:lvl>
              </c:multiLvlStrCache>
            </c:multiLvlStrRef>
          </c:cat>
          <c:val>
            <c:numRef>
              <c:f>Sheet1!$B$2:$B$26</c:f>
              <c:numCache>
                <c:formatCode>General</c:formatCode>
                <c:ptCount val="25"/>
                <c:pt idx="0">
                  <c:v>47.155661526250725</c:v>
                </c:pt>
                <c:pt idx="1">
                  <c:v>50.95515412268991</c:v>
                </c:pt>
                <c:pt idx="2">
                  <c:v>55.07011631579294</c:v>
                </c:pt>
                <c:pt idx="3">
                  <c:v>60.039564767330674</c:v>
                </c:pt>
                <c:pt idx="4">
                  <c:v>65.50654278454971</c:v>
                </c:pt>
                <c:pt idx="5">
                  <c:v>70.7723802048107</c:v>
                </c:pt>
                <c:pt idx="6">
                  <c:v>75.79576381742402</c:v>
                </c:pt>
                <c:pt idx="7">
                  <c:v>81.01882159676518</c:v>
                </c:pt>
                <c:pt idx="8">
                  <c:v>86.38341216660314</c:v>
                </c:pt>
                <c:pt idx="9">
                  <c:v>91.72295924019801</c:v>
                </c:pt>
                <c:pt idx="10">
                  <c:v>95.76669431441525</c:v>
                </c:pt>
                <c:pt idx="11">
                  <c:v>97.95178473599358</c:v>
                </c:pt>
                <c:pt idx="12">
                  <c:v>98.72481459764712</c:v>
                </c:pt>
                <c:pt idx="13">
                  <c:v>97.95178473599354</c:v>
                </c:pt>
                <c:pt idx="14">
                  <c:v>95.76669431441523</c:v>
                </c:pt>
                <c:pt idx="15">
                  <c:v>91.72295924019798</c:v>
                </c:pt>
                <c:pt idx="16">
                  <c:v>86.38341216660315</c:v>
                </c:pt>
                <c:pt idx="17">
                  <c:v>81.01882159676518</c:v>
                </c:pt>
                <c:pt idx="18">
                  <c:v>75.79576381742399</c:v>
                </c:pt>
                <c:pt idx="19">
                  <c:v>70.7723802048107</c:v>
                </c:pt>
                <c:pt idx="20">
                  <c:v>65.50654278454974</c:v>
                </c:pt>
                <c:pt idx="21">
                  <c:v>60.039564767330546</c:v>
                </c:pt>
                <c:pt idx="22">
                  <c:v>55.07011631579296</c:v>
                </c:pt>
                <c:pt idx="23">
                  <c:v>50.95515412269004</c:v>
                </c:pt>
                <c:pt idx="24">
                  <c:v>47.155661526250775</c:v>
                </c:pt>
              </c:numCache>
            </c:numRef>
          </c:val>
          <c:smooth val="0"/>
        </c:ser>
        <c:ser>
          <c:idx val="1"/>
          <c:order val="1"/>
          <c:tx>
            <c:strRef>
              <c:f>Sheet1!$C$1</c:f>
              <c:strCache>
                <c:ptCount val="1"/>
                <c:pt idx="0">
                  <c:v>Equinox</c:v>
                </c:pt>
              </c:strCache>
            </c:strRef>
          </c:tx>
          <c:spPr>
            <a:solidFill>
              <a:srgbClr val="3E6E9E"/>
            </a:solidFill>
            <a:ln w="25400" cap="flat">
              <a:solidFill>
                <a:srgbClr val="3E6E9E"/>
              </a:solidFill>
              <a:prstDash val="solid"/>
              <a:round/>
            </a:ln>
            <a:effectLst/>
          </c:spPr>
          <c:invertIfNegative val="0"/>
          <c:dLbls>
            <c:numFmt formatCode="0.0" sourceLinked="0"/>
            <c:txPr>
              <a:bodyPr/>
              <a:lstStyle/>
              <a:p>
                <a:pPr>
                  <a:defRPr b="0" i="0" strike="noStrike" sz="1600" u="none">
                    <a:solidFill>
                      <a:srgbClr val="173C51"/>
                    </a:solidFill>
                    <a:latin typeface="Arial"/>
                  </a:defRPr>
                </a:pPr>
              </a:p>
            </c:txPr>
            <c:showLegendKey val="0"/>
            <c:showVal val="0"/>
            <c:showCatName val="0"/>
            <c:showSerName val="0"/>
            <c:showPercent val="0"/>
            <c:showBubbleSize val="0"/>
            <c:showLeaderLines val="0"/>
          </c:dLbls>
          <c:marker>
            <c:symbol val="circle"/>
            <c:size val="6"/>
            <c:spPr>
              <a:solidFill>
                <a:srgbClr val="3E6E9E"/>
              </a:solidFill>
              <a:ln w="9525" cap="flat">
                <a:solidFill>
                  <a:srgbClr val="3E6E9E"/>
                </a:solidFill>
                <a:prstDash val="solid"/>
                <a:round/>
              </a:ln>
              <a:effectLst/>
            </c:spPr>
          </c:marker>
          <c:cat>
            <c:multiLvlStrRef>
              <c:f>Sheet1!$A$2:$A$26</c:f>
              <c:multiLvlStrCache>
                <c:ptCount val="25"/>
                <c:lvl>
                  <c:pt idx="0">
                    <c:v>09:00</c:v>
                  </c:pt>
                  <c:pt idx="1">
                    <c:v/>
                  </c:pt>
                  <c:pt idx="2">
                    <c:v/>
                  </c:pt>
                  <c:pt idx="3">
                    <c:v/>
                  </c:pt>
                  <c:pt idx="4">
                    <c:v>10:00</c:v>
                  </c:pt>
                  <c:pt idx="5">
                    <c:v/>
                  </c:pt>
                  <c:pt idx="6">
                    <c:v/>
                  </c:pt>
                  <c:pt idx="7">
                    <c:v/>
                  </c:pt>
                  <c:pt idx="8">
                    <c:v>11:00</c:v>
                  </c:pt>
                  <c:pt idx="9">
                    <c:v/>
                  </c:pt>
                  <c:pt idx="10">
                    <c:v/>
                  </c:pt>
                  <c:pt idx="11">
                    <c:v/>
                  </c:pt>
                  <c:pt idx="12">
                    <c:v>12:00</c:v>
                  </c:pt>
                  <c:pt idx="13">
                    <c:v/>
                  </c:pt>
                  <c:pt idx="14">
                    <c:v/>
                  </c:pt>
                  <c:pt idx="15">
                    <c:v/>
                  </c:pt>
                  <c:pt idx="16">
                    <c:v>13:00</c:v>
                  </c:pt>
                  <c:pt idx="17">
                    <c:v/>
                  </c:pt>
                  <c:pt idx="18">
                    <c:v/>
                  </c:pt>
                  <c:pt idx="19">
                    <c:v/>
                  </c:pt>
                  <c:pt idx="20">
                    <c:v>14:00</c:v>
                  </c:pt>
                  <c:pt idx="21">
                    <c:v/>
                  </c:pt>
                  <c:pt idx="22">
                    <c:v/>
                  </c:pt>
                  <c:pt idx="23">
                    <c:v/>
                  </c:pt>
                  <c:pt idx="24">
                    <c:v>15:00</c:v>
                  </c:pt>
                </c:lvl>
              </c:multiLvlStrCache>
            </c:multiLvlStrRef>
          </c:cat>
          <c:val>
            <c:numRef>
              <c:f>Sheet1!$C$2:$C$26</c:f>
              <c:numCache>
                <c:formatCode>General</c:formatCode>
                <c:ptCount val="25"/>
                <c:pt idx="0">
                  <c:v>21.806368574443294</c:v>
                </c:pt>
                <c:pt idx="1">
                  <c:v>29.687120625398375</c:v>
                </c:pt>
                <c:pt idx="2">
                  <c:v>35.13483151321812</c:v>
                </c:pt>
                <c:pt idx="3">
                  <c:v>38.232603296876206</c:v>
                </c:pt>
                <c:pt idx="4">
                  <c:v>40.84379456356151</c:v>
                </c:pt>
                <c:pt idx="5">
                  <c:v>44.42122578139083</c:v>
                </c:pt>
                <c:pt idx="6">
                  <c:v>49.75245498148766</c:v>
                </c:pt>
                <c:pt idx="7">
                  <c:v>54.723445258224686</c:v>
                </c:pt>
                <c:pt idx="8">
                  <c:v>59.36744916873808</c:v>
                </c:pt>
                <c:pt idx="9">
                  <c:v>63.71937827724124</c:v>
                </c:pt>
                <c:pt idx="10">
                  <c:v>67.5361638686349</c:v>
                </c:pt>
                <c:pt idx="11">
                  <c:v>69.0650903902777</c:v>
                </c:pt>
                <c:pt idx="12">
                  <c:v>69.55856994686033</c:v>
                </c:pt>
                <c:pt idx="13">
                  <c:v>69.06509039027779</c:v>
                </c:pt>
                <c:pt idx="14">
                  <c:v>67.53616386863492</c:v>
                </c:pt>
                <c:pt idx="15">
                  <c:v>63.71937827724119</c:v>
                </c:pt>
                <c:pt idx="16">
                  <c:v>59.367449168738254</c:v>
                </c:pt>
                <c:pt idx="17">
                  <c:v>54.72344525822474</c:v>
                </c:pt>
                <c:pt idx="18">
                  <c:v>49.75245498148764</c:v>
                </c:pt>
                <c:pt idx="19">
                  <c:v>44.421225781390774</c:v>
                </c:pt>
                <c:pt idx="20">
                  <c:v>40.84379456356133</c:v>
                </c:pt>
                <c:pt idx="21">
                  <c:v>38.23260329687617</c:v>
                </c:pt>
                <c:pt idx="22">
                  <c:v>35.13483151321814</c:v>
                </c:pt>
                <c:pt idx="23">
                  <c:v>29.68712062539837</c:v>
                </c:pt>
                <c:pt idx="24">
                  <c:v>21.806368574443294</c:v>
                </c:pt>
              </c:numCache>
            </c:numRef>
          </c:val>
          <c:smooth val="0"/>
        </c:ser>
        <c:dLbls>
          <c:numFmt formatCode="0.0" sourceLinked="0"/>
          <c:txPr>
            <a:bodyPr/>
            <a:lstStyle/>
            <a:p>
              <a:pPr>
                <a:defRPr b="0" i="0" strike="noStrike" sz="1600" u="none">
                  <a:solidFill>
                    <a:srgbClr val="173C51"/>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9DDD2"/>
            </a:solidFill>
            <a:prstDash val="solid"/>
            <a:round/>
          </a:ln>
        </c:spPr>
        <c:txPr>
          <a:bodyPr/>
          <a:lstStyle/>
          <a:p>
            <a:pPr>
              <a:defRPr sz="1000" b="0" i="0" u="none" strike="noStrike">
                <a:solidFill>
                  <a:srgbClr val="000000"/>
                </a:solidFill>
                <a:latin typeface="Noto Sans"/>
              </a:defRPr>
            </a:pPr>
            <a:endParaRPr lang="en-US"/>
          </a:p>
        </c:txPr>
        <c:crossAx val="2094734552"/>
        <c:crosses val="autoZero"/>
        <c:auto val="1"/>
        <c:lblAlgn val="ctr"/>
        <c:noMultiLvlLbl val="1"/>
        <c:tickLblSkip val="4"/>
      </c:catAx>
      <c:valAx>
        <c:axId val="2094734552"/>
        <c:scaling>
          <c:orientation val="minMax"/>
          <c:max val="100"/>
          <c:min val="0"/>
        </c:scaling>
        <c:delete val="0"/>
        <c:axPos val="l"/>
        <c:majorGridlines>
          <c:spPr>
            <a:ln w="12700" cap="flat">
              <a:solidFill>
                <a:srgbClr val="D9DDD2"/>
              </a:solidFill>
              <a:prstDash val="solid"/>
              <a:round/>
            </a:ln>
          </c:spPr>
        </c:majorGridlines>
        <c:numFmt formatCode="General" sourceLinked="0"/>
        <c:majorTickMark val="out"/>
        <c:minorTickMark val="none"/>
        <c:tickLblPos val="nextTo"/>
        <c:spPr>
          <a:ln w="12700" cap="flat">
            <a:solidFill>
              <a:srgbClr val="D9DDD2"/>
            </a:solidFill>
            <a:prstDash val="solid"/>
            <a:round/>
          </a:ln>
        </c:spPr>
        <c:txPr>
          <a:bodyPr/>
          <a:lstStyle/>
          <a:p>
            <a:pPr>
              <a:defRPr sz="1000" b="0" i="0" u="none" strike="noStrike">
                <a:solidFill>
                  <a:srgbClr val="000000"/>
                </a:solidFill>
                <a:latin typeface="Noto Sans"/>
              </a:defRPr>
            </a:pPr>
            <a:endParaRPr lang="en-US"/>
          </a:p>
        </c:txPr>
        <c:crossAx val="2094734554"/>
        <c:crosses val="autoZero"/>
        <c:crossBetween val="between"/>
        <c:majorUnit val="50"/>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09–15 mean blockage (%)</c:v>
                </c:pt>
              </c:strCache>
            </c:strRef>
          </c:tx>
          <c:spPr>
            <a:solidFill>
              <a:srgbClr val="346A55"/>
            </a:solidFill>
            <a:ln w="25400" cap="flat">
              <a:solidFill>
                <a:srgbClr val="346A55"/>
              </a:solidFill>
              <a:prstDash val="solid"/>
              <a:round/>
            </a:ln>
            <a:effectLst/>
          </c:spPr>
          <c:invertIfNegative val="0"/>
          <c:dLbls>
            <c:numFmt formatCode="0.0" sourceLinked="0"/>
            <c:txPr>
              <a:bodyPr/>
              <a:lstStyle/>
              <a:p>
                <a:pPr>
                  <a:defRPr b="0" i="0" strike="noStrike" sz="1400" u="none">
                    <a:solidFill>
                      <a:srgbClr val="173C51"/>
                    </a:solidFill>
                    <a:latin typeface="Arial"/>
                  </a:defRPr>
                </a:pPr>
              </a:p>
            </c:txPr>
            <c:dLblPos val="t"/>
            <c:showLegendKey val="0"/>
            <c:showVal val="1"/>
            <c:showCatName val="0"/>
            <c:showSerName val="0"/>
            <c:showPercent val="0"/>
            <c:showBubbleSize val="0"/>
            <c:showLeaderLines val="0"/>
          </c:dLbls>
          <c:marker>
            <c:symbol val="circle"/>
            <c:size val="6"/>
            <c:spPr>
              <a:solidFill>
                <a:srgbClr val="346A55"/>
              </a:solidFill>
              <a:ln w="9525" cap="flat">
                <a:solidFill>
                  <a:srgbClr val="346A55"/>
                </a:solidFill>
                <a:prstDash val="solid"/>
                <a:round/>
              </a:ln>
              <a:effectLst/>
            </c:spPr>
          </c:marker>
          <c:cat>
            <c:multiLvlStrRef>
              <c:f>Sheet1!$A$2:$A$6</c:f>
              <c:multiLvlStrCache>
                <c:ptCount val="5"/>
                <c:lvl>
                  <c:pt idx="0">
                    <c:v>0%</c:v>
                  </c:pt>
                  <c:pt idx="1">
                    <c:v>20%</c:v>
                  </c:pt>
                  <c:pt idx="2">
                    <c:v>50%</c:v>
                  </c:pt>
                  <c:pt idx="3">
                    <c:v>80%</c:v>
                  </c:pt>
                  <c:pt idx="4">
                    <c:v>95%</c:v>
                  </c:pt>
                </c:lvl>
              </c:multiLvlStrCache>
            </c:multiLvlStrRef>
          </c:cat>
          <c:val>
            <c:numRef>
              <c:f>Sheet1!$B$2:$B$6</c:f>
              <c:numCache>
                <c:formatCode>General</c:formatCode>
                <c:ptCount val="5"/>
                <c:pt idx="0">
                  <c:v>40.21868884193895</c:v>
                </c:pt>
                <c:pt idx="1">
                  <c:v>48.63711463942608</c:v>
                </c:pt>
                <c:pt idx="2">
                  <c:v>60.19719328472306</c:v>
                </c:pt>
                <c:pt idx="3">
                  <c:v>67.91126834429677</c:v>
                </c:pt>
                <c:pt idx="4">
                  <c:v>70.6954503684305</c:v>
                </c:pt>
              </c:numCache>
            </c:numRef>
          </c:val>
          <c:smooth val="0"/>
        </c:ser>
        <c:dLbls>
          <c:numFmt formatCode="0.0" sourceLinked="0"/>
          <c:txPr>
            <a:bodyPr/>
            <a:lstStyle/>
            <a:p>
              <a:pPr>
                <a:defRPr b="0" i="0" strike="noStrike" sz="1400" u="none">
                  <a:solidFill>
                    <a:srgbClr val="173C51"/>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9DDD2"/>
            </a:solidFill>
            <a:prstDash val="solid"/>
            <a:round/>
          </a:ln>
        </c:spPr>
        <c:txPr>
          <a:bodyPr/>
          <a:lstStyle/>
          <a:p>
            <a:pPr>
              <a:defRPr sz="1400" b="0" i="0" u="none" strike="noStrike">
                <a:solidFill>
                  <a:srgbClr val="000000"/>
                </a:solidFill>
                <a:latin typeface="Noto Sans"/>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D9DDD2"/>
              </a:solidFill>
              <a:prstDash val="solid"/>
              <a:round/>
            </a:ln>
          </c:spPr>
        </c:majorGridlines>
        <c:numFmt formatCode="General" sourceLinked="0"/>
        <c:majorTickMark val="out"/>
        <c:minorTickMark val="none"/>
        <c:tickLblPos val="nextTo"/>
        <c:spPr>
          <a:ln w="12700" cap="flat">
            <a:solidFill>
              <a:srgbClr val="D9DDD2"/>
            </a:solidFill>
            <a:prstDash val="solid"/>
            <a:round/>
          </a:ln>
        </c:spPr>
        <c:txPr>
          <a:bodyPr/>
          <a:lstStyle/>
          <a:p>
            <a:pPr>
              <a:defRPr sz="1200" b="0" i="0" u="none" strike="noStrike">
                <a:solidFill>
                  <a:srgbClr val="000000"/>
                </a:solidFill>
                <a:latin typeface="Noto Sans"/>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Introduce the project before the team credits.
SPOKEN SCRIPT
VineWeave Canopy combines climbing plants with a tree-like support to provide pedestrian shade. Our group connects parametric geometry, material and construction choices, and shading analysis. The names below identify our responsibilities. We will explain both the design decisions and the evidence supporting them.
TRANSITION
First, the design brief.
Q&amp;A
Where are the full roles? The cover retains the core allocation; the planning document records the complete supplied descriptions.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Each course requirement is linked to a visible design response and a work product.
SPOKEN SCRIPT
The brief asks for more than a tree-like form. We connect materials, geometry, environmental performance, planting and assembly. This table shows the response and the work produced for each requirement. Shade has been calculated under explicit assumptions; airflow and real thermal comfort remain design and validation questions.
TRANSITION
Next, the geometry and drawing definitions.
Q&amp;A
Does every row have an experiment? No. We distinguish model outputs, calculated scenarios, preliminary estimates and design proposals.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Final dimensions need explicit definitions and readable technical views.
SPOKEN SCRIPT
The final geometry has an overall height of about three point four eight metres and a plan extent of six point two two by six point six six metres. Its approximate maximum horizontal exterior span is six point nine one metres. For these curved supports, inclination is defined by the endpoint chord above horizontal. The accompanying drawing sheets explain that definition and the measured range.
TRANSITION
Next, link those features to environmental potential.
Q&amp;A
Is 6.91 metres a circular diameter? No. It is the maximum pair distance in the projected exterior mesh, not a foliage diameter or net usable width.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Follow the sunlight, air and plant-water arrows; only shade is quantified here.
SPOKEN SCRIPT
The crown and foliage intercept direct sun before it reaches people and the ground. The solar arrows identify the pathway quantified in our optical scenarios. Blue arrows show potential air paths through open sides, not a simulated wind improvement. The dashed plant-water arrows indicate possible evapotranspiration, which depends on healthy plants and water. Denser foliage can also resist airflow.
TRANSITION
Material assignment follows the structural roles.
Q&amp;A
Do these arrows show simulated temperature or wind? No. They explain physical mechanisms; the project quantifies shade, not cooling degrees or wind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quantity schedule links a clear material role to a specific part of the model.
SPOKEN SCRIPT
The take-off gives twelve ground-reaching supports and forty-seven crown members, with a total centre-line length of two hundred and eighty-eight point six six metres. We propose an eighty-by-four millimetre steel tube for supports and solid engineered bamboo for the crown. This is a material strategy, not proof that either zone is safe.
TRANSITION
Next, the material-screening criteria.
Q&amp;A
Does the exterior model contain the final wall thickness? No. The pipe exterior and proposed material section must be distinguished.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Material screening includes mechanical and practical conditions, not only carbon.
SPOKEN SCRIPT
These are preliminary screening inputs. Each cost column assumes the same full member length; it is not the adopted unit budget. Steel offers much greater nominal bending capacity. Engineered bamboo is proposed for the crown, but stiffness, treatment and product-specific evidence are essential. Raw bamboo’s low reference cost does not remove its variability and maintenance issues.
TRANSITION
Crown stiffness leads directly to the connection question.
Q&amp;A
Are these all verified design values? No. They are workbook screening inputs, and the bamboo identity and properties must be confirmed consistently.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Ideal fixed-end behaviour is a requirement to investigate, not an achieved joint property.
SPOKEN SCRIPT
The workbook applies self-weight and an assumed wet-foliage load. At the six point six five metre span, the simplified deflection changes from about one hundred millimetres under simple supports to twenty under ideal fixed ends. The adopted limit is thirty-three point two five millimetres. Actual joint and whole-frame stiffness still require verification.
TRANSITION
Connection complexity also affects the budget.
Q&amp;A
Do twelve nodes fix every crown member? That has not been demonstrated. Joint rotation and global load transfer still require modelling or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budget makes the node trade-off visible.
SPOKEN SCRIPT
The preliminary total is approximately fifty-one thousand six hundred and seventy-six yuan. Materials are fifty-nine percent of this total; the other categories include fabrication, installation and care. Within materials, twelve proposed nodes account for twelve thousand yuan, more than the primary steel members. The component table is only part of the overall cost, not an additional total.
TRANSITION
Next, the carbon and maintenance picture.
Q&amp;A
Are the node prices confirmed? No. They are the most uncertain allowance and need a defined detail and supplier quotation.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estimate helps identify contributors and care responsibilities.
SPOKEN SCRIPT
The primary members and counterweight dominate the current carbon estimate. The counterweight contributes about thirty-nine percent, so foundation decisions also matter. We show the adopted estimate rather than claiming a verified life-cycle result. Outdoor performance also needs coating care, bamboo treatment and connection inspection. Product factors and the allowance for actual node materials still require checking.
TRANSITION
Plant choice adds another set of requirements.
Q&amp;A
Is stored biological carbon deducted? No. It is not credited in this estimate, and factor boundaries are not yet fully aligned.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2+1 mix is a project proposal, not a verified choice for every city.
SPOKEN SCRIPT
The material schedule proposes two Boston ivy plants and one Rangoon creeper. Boston ivy is deciduous, so a summer canopy should not be presented as year-round cover. Rangoon creeper needs a suitable winter climate. The alternative trumpet creeper also needs species identification and maintenance checks. Guides, irrigation and pruning are part of the planting design. We have not adopted a verified annual growth rate.
TRANSITION
Next, a conceptual establishment sequence and a transparent time sensitivity.
Q&amp;A
Can we promise a maturity date? No. The city, nursery starting size, growth observations, branching and seasonal losses are still unknown.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Use the images as a concept and the arithmetic as sensitivity, never as a biological forecast.
SPOKEN SCRIPT
These views illustrate establishment, upward training, lateral crown spread and maintenance. The supplied cover states are not observations taken in successive years. For a transparent route-time example, we assume a six point nine metre climbing path and a one point five metre starting shoot. Assumed extension rates of one, two or three metres per growing season give about six, three or two seasons to reach the route end. Branching, winter loss and cover density are not included, so this does not predict full shade readiness.
TRANSITION
Now return to the quantified optical method.
Q&amp;A
Why does reaching the crown edge not mean full cover? One long shoot does not fill the crown; branching, training, leaf area and season determine useful shade.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One calculation isolates leaf-envelope geometry; the other includes frame and optical effects.
SPOKEN SCRIPT
We project the geometry along the solar direction and intersect it with the same target. The fixed target excludes a central disk. Ideal overlap uses a continuous leaf envelope. Equivalent blockage includes opaque frame shadows and assumed leaf transmittance, with overlap deducted. The two metrics are different, and neither is a temperature change.
TRANSITION
First, the ideal time-dependent result.
Q&amp;A
Was numerical resolution checked? The supplied package includes raster spot checks; five versus two-point-five millimetre results differ by up to about 1.06 percentage points in those samples, not as an overall error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Read the footprint and the whole time window, not only the noon peak.
SPOKEN SCRIPT
The solstice footprint overlaps about forty-seven percent of the target at nine and fifteen solar time, and almost ninety-nine percent at noon. The curve adds the intervening hours and an equinox solar case. Their means are about seventy-five and fifty percent. This is a comparison of solar conditions under hypothetical foliage, not a seasonal growth forecast.
TRANSITION
We then change one geometric control at a time.
Q&amp;A
Does winter use the equinox result? No. Winter solar conditions and plant leaf states would need their own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crown-width result is part of a broader seven-model parameter study.
SPOKEN SCRIPT
The work includes width, upper-height control and corner factor, with a shared baseline. At fifty percent cover, mean blockage rises from fifty-two point three to sixty-six point one percent as the crown expands. The table records the other controls too. These are controlled shade comparisons, not proof of an optimum or of structural safety after changing geometry.
TRANSITION
Next, keep the structure fixed and change foliage.
Q&amp;A
Does the height control shift the whole model by 0.4 metres? No. It is smoothly weighted; actual maximum heights must be read from the geometry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package tests both cover quantity and where that cover is placed.
SPOKEN SCRIPT
The five plan-cover states give mean blockage of about forty, forty-nine, sixty, sixty-eight and seventy-one percent. Bare members already provide shade at zero leaf cover. At the same fifty percent cover, three spatial layouts also produce different noon results. Coverage percentage therefore does not describe where useful shade falls, and the stages do not predict biological growth duration.
TRANSITION
We connect that moving footprint to public use.
Q&amp;A
Why is 95% cover not 95% blockage? Target intersection, frame overlap, leaf placement and transmittance all affect the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A practical layout must use the real occupied area, not only a reference square.
SPOKEN SCRIPT
The animation holds cover fixed while the sun moves. Seating should be checked during occupied hours, with room for circulation, the counterweight, roots and maintenance. The next verification step is a real-site assessment with simultaneous shaded and unshaded environmental observations. The current analysis does not establish net usable shaded floor area or a measured comfort improvement.
TRANSITION
The last design link is construction organisation.
Q&amp;A
Are sensors a new project module here? No. This is the existing validation proposal, not a new monitoring-system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assembly work is more specific than a generic prefabrication claim.
SPOKEN SCRIPT
The proposal divides the system into crown members, supports, connections, base and planting. Numbering and preassembly help site organisation. However, the heavy counterweight governs lifting, and the sleeve-and-grout node requires curing and checks. The fourteen-person-day allowance is labour, not a calendar programme. A fully dry, losslessly reversible system should not be claimed.
TRANSITION
Finally, our delivered work and its next checks.
Q&amp;A
Is the node a finished construction detail? No. Its geometry, stiffness, fabrication and quality controls need to be resolved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contribution is a connected body of design work with a clear evidence boundary.
SPOKEN SCRIPT
The group delivers a parametric form and take-off, a proposed material and build-up strategy, and reproducible shade scenarios. The supplement adds seven parameter models, five cover states and seventeen hundred and fifty time-step results. These outputs make the design decisions traceable. Product data, joint behaviour, biological establishment and real-site performance are the next checks. Thank you.
TRANSITION
We welcome your questions.
Q&amp;A
What can be stated most confidently? The defined project geometry and the calculated shade scenarios under their explicit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Source labels let the audience distinguish literature, project calculations and proposals.
SPOKEN SCRIPT
This is a reference and question page, not part of the planned spoken sequence. It identifies the literature leads and project evidence. Specific product parameters and standards still require original-source checks.
TRANSITION
Return to the relevant result slide during questions.
Q&amp;A
Why are some data preliminary? The supplied package contains assumptions and estimates that have not all been traced to product-specific or primary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4" Type="http://schemas.openxmlformats.org/officeDocument/2006/relationships/chart" Target="/ppt/charts/chart4.xml"/><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15-1.gif"/><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gif"/><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603504" y="283464"/>
            <a:ext cx="3657600" cy="246888"/>
          </a:xfrm>
          <a:prstGeom prst="rect">
            <a:avLst/>
          </a:prstGeom>
          <a:noFill/>
          <a:ln/>
        </p:spPr>
        <p:txBody>
          <a:bodyPr wrap="square" lIns="0" tIns="0" rIns="0" bIns="0" rtlCol="0" anchor="ctr"/>
          <a:lstStyle/>
          <a:p>
            <a:pPr indent="0" marL="0">
              <a:buNone/>
            </a:pPr>
            <a:r>
              <a:rPr lang="en-US" sz="1200" b="1" spc="170" kern="0" dirty="0">
                <a:solidFill>
                  <a:srgbClr val="346A55"/>
                </a:solidFill>
                <a:latin typeface="Noto Sans" pitchFamily="34" charset="0"/>
                <a:ea typeface="Noto Sans" pitchFamily="34" charset="-122"/>
                <a:cs typeface="Noto Sans" pitchFamily="34" charset="-120"/>
              </a:rPr>
              <a:t>GREEN BUILDING</a:t>
            </a:r>
            <a:endParaRPr lang="en-US" sz="1200" dirty="0"/>
          </a:p>
        </p:txBody>
      </p:sp>
      <p:sp>
        <p:nvSpPr>
          <p:cNvPr id="8" name="Text 6"/>
          <p:cNvSpPr/>
          <p:nvPr/>
        </p:nvSpPr>
        <p:spPr>
          <a:xfrm>
            <a:off x="9372600" y="283464"/>
            <a:ext cx="1920240" cy="228600"/>
          </a:xfrm>
          <a:prstGeom prst="rect">
            <a:avLst/>
          </a:prstGeom>
          <a:noFill/>
          <a:ln/>
        </p:spPr>
        <p:txBody>
          <a:bodyPr wrap="square" lIns="0" tIns="0" rIns="0" bIns="0" rtlCol="0" anchor="ctr"/>
          <a:lstStyle/>
          <a:p>
            <a:pPr algn="r" indent="0" marL="0">
              <a:buNone/>
            </a:pPr>
            <a:r>
              <a:rPr lang="en-US" sz="1100" spc="100" kern="0" dirty="0">
                <a:solidFill>
                  <a:srgbClr val="66736D"/>
                </a:solidFill>
                <a:latin typeface="Noto Sans" pitchFamily="34" charset="0"/>
                <a:ea typeface="Noto Sans" pitchFamily="34" charset="-122"/>
                <a:cs typeface="Noto Sans" pitchFamily="34" charset="-120"/>
              </a:rPr>
              <a:t>GROUP 12</a:t>
            </a:r>
            <a:endParaRPr lang="en-US" sz="1100" dirty="0"/>
          </a:p>
        </p:txBody>
      </p:sp>
      <p:sp>
        <p:nvSpPr>
          <p:cNvPr id="9" name="Shape 7"/>
          <p:cNvSpPr/>
          <p:nvPr/>
        </p:nvSpPr>
        <p:spPr>
          <a:xfrm>
            <a:off x="603504" y="758952"/>
            <a:ext cx="10972800" cy="0"/>
          </a:xfrm>
          <a:prstGeom prst="line">
            <a:avLst/>
          </a:prstGeom>
          <a:noFill/>
          <a:ln w="10160">
            <a:solidFill>
              <a:srgbClr val="AA7E4A"/>
            </a:solidFill>
            <a:prstDash val="solid"/>
          </a:ln>
        </p:spPr>
      </p:sp>
      <p:sp>
        <p:nvSpPr>
          <p:cNvPr id="10" name="Text 8"/>
          <p:cNvSpPr/>
          <p:nvPr/>
        </p:nvSpPr>
        <p:spPr>
          <a:xfrm>
            <a:off x="621792" y="1417320"/>
            <a:ext cx="6583680" cy="1691640"/>
          </a:xfrm>
          <a:prstGeom prst="rect">
            <a:avLst/>
          </a:prstGeom>
          <a:noFill/>
          <a:ln/>
        </p:spPr>
        <p:txBody>
          <a:bodyPr wrap="square" lIns="0" tIns="0" rIns="0" bIns="0" rtlCol="0" anchor="ctr"/>
          <a:lstStyle/>
          <a:p>
            <a:pPr indent="0" marL="0">
              <a:buNone/>
            </a:pPr>
            <a:r>
              <a:rPr lang="en-US" sz="4900" b="1" dirty="0">
                <a:solidFill>
                  <a:srgbClr val="173C51"/>
                </a:solidFill>
                <a:latin typeface="Noto Serif" pitchFamily="34" charset="0"/>
                <a:ea typeface="Noto Serif" pitchFamily="34" charset="-122"/>
                <a:cs typeface="Noto Serif" pitchFamily="34" charset="-120"/>
              </a:rPr>
              <a:t>VineWeave</a:t>
            </a:r>
            <a:endParaRPr lang="en-US" sz="4900" dirty="0"/>
          </a:p>
          <a:p>
            <a:pPr indent="0" marL="0">
              <a:buNone/>
            </a:pPr>
            <a:r>
              <a:rPr lang="en-US" sz="4900" b="1" dirty="0">
                <a:solidFill>
                  <a:srgbClr val="173C51"/>
                </a:solidFill>
                <a:latin typeface="Noto Serif" pitchFamily="34" charset="0"/>
                <a:ea typeface="Noto Serif" pitchFamily="34" charset="-122"/>
                <a:cs typeface="Noto Serif" pitchFamily="34" charset="-120"/>
              </a:rPr>
              <a:t>Canopy</a:t>
            </a:r>
            <a:endParaRPr lang="en-US" sz="4900" dirty="0"/>
          </a:p>
        </p:txBody>
      </p:sp>
      <p:sp>
        <p:nvSpPr>
          <p:cNvPr id="11" name="Text 9"/>
          <p:cNvSpPr/>
          <p:nvPr/>
        </p:nvSpPr>
        <p:spPr>
          <a:xfrm>
            <a:off x="667512" y="3337560"/>
            <a:ext cx="6080760" cy="822960"/>
          </a:xfrm>
          <a:prstGeom prst="rect">
            <a:avLst/>
          </a:prstGeom>
          <a:noFill/>
          <a:ln/>
        </p:spPr>
        <p:txBody>
          <a:bodyPr wrap="square" lIns="0" tIns="0" rIns="0" bIns="0" rtlCol="0" anchor="ctr"/>
          <a:lstStyle/>
          <a:p>
            <a:pPr indent="0" marL="0">
              <a:buNone/>
            </a:pPr>
            <a:r>
              <a:rPr lang="en-US" sz="2300" dirty="0">
                <a:solidFill>
                  <a:srgbClr val="34434A"/>
                </a:solidFill>
                <a:latin typeface="Noto Sans" pitchFamily="34" charset="0"/>
                <a:ea typeface="Noto Sans" pitchFamily="34" charset="-122"/>
                <a:cs typeface="Noto Sans" pitchFamily="34" charset="-120"/>
              </a:rPr>
              <a:t>A tree-like climbing-plant support</a:t>
            </a:r>
            <a:endParaRPr lang="en-US" sz="2300" dirty="0"/>
          </a:p>
          <a:p>
            <a:pPr indent="0" marL="0">
              <a:buNone/>
            </a:pPr>
            <a:r>
              <a:rPr lang="en-US" sz="2300" dirty="0">
                <a:solidFill>
                  <a:srgbClr val="34434A"/>
                </a:solidFill>
                <a:latin typeface="Noto Sans" pitchFamily="34" charset="0"/>
                <a:ea typeface="Noto Sans" pitchFamily="34" charset="-122"/>
                <a:cs typeface="Noto Sans" pitchFamily="34" charset="-120"/>
              </a:rPr>
              <a:t>for pedestrian shade</a:t>
            </a:r>
            <a:endParaRPr lang="en-US" sz="2300" dirty="0"/>
          </a:p>
        </p:txBody>
      </p:sp>
      <p:sp>
        <p:nvSpPr>
          <p:cNvPr id="12" name="Text 10"/>
          <p:cNvSpPr/>
          <p:nvPr/>
        </p:nvSpPr>
        <p:spPr>
          <a:xfrm>
            <a:off x="685800" y="4489704"/>
            <a:ext cx="5760720" cy="320040"/>
          </a:xfrm>
          <a:prstGeom prst="rect">
            <a:avLst/>
          </a:prstGeom>
          <a:noFill/>
          <a:ln/>
        </p:spPr>
        <p:txBody>
          <a:bodyPr wrap="square" lIns="0" tIns="0" rIns="0" bIns="0" rtlCol="0" anchor="ctr"/>
          <a:lstStyle/>
          <a:p>
            <a:pPr indent="0" marL="0">
              <a:buNone/>
            </a:pPr>
            <a:r>
              <a:rPr lang="en-US" sz="1400" dirty="0">
                <a:solidFill>
                  <a:srgbClr val="346A55"/>
                </a:solidFill>
                <a:latin typeface="Noto Sans" pitchFamily="34" charset="0"/>
                <a:ea typeface="Noto Sans" pitchFamily="34" charset="-122"/>
                <a:cs typeface="Noto Sans" pitchFamily="34" charset="-120"/>
              </a:rPr>
              <a:t>Parametric design  ·  Planting  ·  Shade performance</a:t>
            </a:r>
            <a:endParaRPr lang="en-US" sz="1400" dirty="0"/>
          </a:p>
        </p:txBody>
      </p:sp>
      <p:pic>
        <p:nvPicPr>
          <p:cNvPr id="13" name="Image 0" descr="/workspace/temp/presentation/v4/assets/model-axon.png">    </p:cNvPr>
          <p:cNvPicPr>
            <a:picLocks noChangeAspect="1"/>
          </p:cNvPicPr>
          <p:nvPr/>
        </p:nvPicPr>
        <p:blipFill>
          <a:blip r:embed="rId1"/>
          <a:stretch>
            <a:fillRect/>
          </a:stretch>
        </p:blipFill>
        <p:spPr>
          <a:xfrm>
            <a:off x="6784848" y="1495172"/>
            <a:ext cx="4791456" cy="3465320"/>
          </a:xfrm>
          <a:prstGeom prst="rect">
            <a:avLst/>
          </a:prstGeom>
        </p:spPr>
      </p:pic>
      <p:sp>
        <p:nvSpPr>
          <p:cNvPr id="14" name="Shape 11"/>
          <p:cNvSpPr/>
          <p:nvPr/>
        </p:nvSpPr>
        <p:spPr>
          <a:xfrm>
            <a:off x="612648" y="5239512"/>
            <a:ext cx="10963656" cy="0"/>
          </a:xfrm>
          <a:prstGeom prst="line">
            <a:avLst/>
          </a:prstGeom>
          <a:noFill/>
          <a:ln w="10160">
            <a:solidFill>
              <a:srgbClr val="D9DDD2"/>
            </a:solidFill>
            <a:prstDash val="solid"/>
          </a:ln>
        </p:spPr>
      </p:sp>
      <p:sp>
        <p:nvSpPr>
          <p:cNvPr id="15" name="Text 12"/>
          <p:cNvSpPr/>
          <p:nvPr/>
        </p:nvSpPr>
        <p:spPr>
          <a:xfrm>
            <a:off x="667512" y="5385816"/>
            <a:ext cx="4572000" cy="201168"/>
          </a:xfrm>
          <a:prstGeom prst="rect">
            <a:avLst/>
          </a:prstGeom>
          <a:noFill/>
          <a:ln/>
        </p:spPr>
        <p:txBody>
          <a:bodyPr wrap="square" lIns="0" tIns="0" rIns="0" bIns="0" rtlCol="0" anchor="ctr"/>
          <a:lstStyle/>
          <a:p>
            <a:pPr indent="0" marL="0">
              <a:buNone/>
            </a:pPr>
            <a:r>
              <a:rPr lang="en-US" sz="1050" b="1" spc="100" kern="0" dirty="0">
                <a:solidFill>
                  <a:srgbClr val="66736D"/>
                </a:solidFill>
                <a:latin typeface="Noto Sans" pitchFamily="34" charset="0"/>
                <a:ea typeface="Noto Sans" pitchFamily="34" charset="-122"/>
                <a:cs typeface="Noto Sans" pitchFamily="34" charset="-120"/>
              </a:rPr>
              <a:t>TEAM &amp; RESPONSIBILITIES</a:t>
            </a:r>
            <a:endParaRPr lang="en-US" sz="1050" dirty="0"/>
          </a:p>
        </p:txBody>
      </p:sp>
      <p:sp>
        <p:nvSpPr>
          <p:cNvPr id="16" name="Text 13"/>
          <p:cNvSpPr/>
          <p:nvPr/>
        </p:nvSpPr>
        <p:spPr>
          <a:xfrm>
            <a:off x="685800"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臧唯羽</a:t>
            </a:r>
            <a:endParaRPr lang="en-US" sz="1700" dirty="0"/>
          </a:p>
        </p:txBody>
      </p:sp>
      <p:sp>
        <p:nvSpPr>
          <p:cNvPr id="17" name="Text 14"/>
          <p:cNvSpPr/>
          <p:nvPr/>
        </p:nvSpPr>
        <p:spPr>
          <a:xfrm>
            <a:off x="685800"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Form &amp; parametric</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modelling</a:t>
            </a:r>
            <a:endParaRPr lang="en-US" sz="1250" dirty="0"/>
          </a:p>
        </p:txBody>
      </p:sp>
      <p:sp>
        <p:nvSpPr>
          <p:cNvPr id="18" name="Text 15"/>
          <p:cNvSpPr/>
          <p:nvPr/>
        </p:nvSpPr>
        <p:spPr>
          <a:xfrm>
            <a:off x="2953512"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林新淇</a:t>
            </a:r>
            <a:endParaRPr lang="en-US" sz="1700" dirty="0"/>
          </a:p>
        </p:txBody>
      </p:sp>
      <p:sp>
        <p:nvSpPr>
          <p:cNvPr id="19" name="Text 16"/>
          <p:cNvSpPr/>
          <p:nvPr/>
        </p:nvSpPr>
        <p:spPr>
          <a:xfrm>
            <a:off x="2953512"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Materials &amp;</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construction</a:t>
            </a:r>
            <a:endParaRPr lang="en-US" sz="1250" dirty="0"/>
          </a:p>
        </p:txBody>
      </p:sp>
      <p:sp>
        <p:nvSpPr>
          <p:cNvPr id="20" name="Text 17"/>
          <p:cNvSpPr/>
          <p:nvPr/>
        </p:nvSpPr>
        <p:spPr>
          <a:xfrm>
            <a:off x="5221224"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虞寒哲</a:t>
            </a:r>
            <a:endParaRPr lang="en-US" sz="1700" dirty="0"/>
          </a:p>
        </p:txBody>
      </p:sp>
      <p:sp>
        <p:nvSpPr>
          <p:cNvPr id="21" name="Text 18"/>
          <p:cNvSpPr/>
          <p:nvPr/>
        </p:nvSpPr>
        <p:spPr>
          <a:xfrm>
            <a:off x="5221224"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Shade performance</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&amp; application</a:t>
            </a:r>
            <a:endParaRPr lang="en-US" sz="1250" dirty="0"/>
          </a:p>
        </p:txBody>
      </p:sp>
      <p:sp>
        <p:nvSpPr>
          <p:cNvPr id="22" name="Text 19"/>
          <p:cNvSpPr/>
          <p:nvPr/>
        </p:nvSpPr>
        <p:spPr>
          <a:xfrm>
            <a:off x="7488936"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徐世程</a:t>
            </a:r>
            <a:endParaRPr lang="en-US" sz="1700" dirty="0"/>
          </a:p>
        </p:txBody>
      </p:sp>
      <p:sp>
        <p:nvSpPr>
          <p:cNvPr id="23" name="Text 20"/>
          <p:cNvSpPr/>
          <p:nvPr/>
        </p:nvSpPr>
        <p:spPr>
          <a:xfrm>
            <a:off x="7488936"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PPT production</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&amp; integration</a:t>
            </a:r>
            <a:endParaRPr lang="en-US" sz="1250" dirty="0"/>
          </a:p>
        </p:txBody>
      </p:sp>
      <p:sp>
        <p:nvSpPr>
          <p:cNvPr id="24" name="Text 21"/>
          <p:cNvSpPr/>
          <p:nvPr/>
        </p:nvSpPr>
        <p:spPr>
          <a:xfrm>
            <a:off x="9756648"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陈淼</a:t>
            </a:r>
            <a:endParaRPr lang="en-US" sz="1700" dirty="0"/>
          </a:p>
        </p:txBody>
      </p:sp>
      <p:sp>
        <p:nvSpPr>
          <p:cNvPr id="25" name="Text 22"/>
          <p:cNvSpPr/>
          <p:nvPr/>
        </p:nvSpPr>
        <p:spPr>
          <a:xfrm>
            <a:off x="9756648"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English presentation</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&amp; Q&amp;A</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BRIEF &amp; STRATEGY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Translate the brief into five design decisions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A public shade facility must connect environmental intent with a buildable support.</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Shade/greening mechanisms: [1,2]. Project requirements and proposed strategy: P4.</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02</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94360" y="2075688"/>
          <a:ext cx="10972800" cy="914400"/>
        </p:xfrm>
        <a:graphic>
          <a:graphicData uri="http://schemas.openxmlformats.org/drawingml/2006/table">
            <a:tbl>
              <a:tblPr/>
              <a:tblGrid>
                <a:gridCol w="2468880"/>
                <a:gridCol w="3794760"/>
                <a:gridCol w="4709160"/>
              </a:tblGrid>
              <a:tr h="621792">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COURSE REQUIREMENT</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OUR RESPONSE</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WORK PRODUCED</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21792">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Structure and materials</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Steel supports + proposed bamboo crown</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Material screen, member schedule and node concept</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21792">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Geometric parameters</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Control crown width, height and corners</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Rhino/GH geometry, plans and parameter models</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21792">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Shade and airflow</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Broad crown + planting + open sides</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Shadow projection; conceptual airflow analysis</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21792">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Plant integration</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Screen climbers and organise maintenance</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Candidate screen, 2+1 planting proposal, cover scenarios</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21792">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Assembly and use</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Prefabricate, assemble and check occupied-hour shade</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50" dirty="0">
                          <a:solidFill>
                            <a:srgbClr val="34434A"/>
                          </a:solidFill>
                          <a:latin typeface="Noto Sans" pitchFamily="34" charset="0"/>
                          <a:ea typeface="Noto Sans" pitchFamily="34" charset="-122"/>
                          <a:cs typeface="Noto Sans" pitchFamily="34" charset="-120"/>
                        </a:rPr>
                        <a:t>Build-up sequence, budget and rest-node application</a:t>
                      </a:r>
                      <a:endParaRPr lang="en-US" sz="16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6" name="Text 13"/>
          <p:cNvSpPr/>
          <p:nvPr/>
        </p:nvSpPr>
        <p:spPr>
          <a:xfrm>
            <a:off x="749808" y="6035040"/>
            <a:ext cx="10607040" cy="246888"/>
          </a:xfrm>
          <a:prstGeom prst="rect">
            <a:avLst/>
          </a:prstGeom>
          <a:noFill/>
          <a:ln/>
        </p:spPr>
        <p:txBody>
          <a:bodyPr wrap="square" lIns="0" tIns="0" rIns="0" bIns="0" rtlCol="0" anchor="ctr"/>
          <a:lstStyle/>
          <a:p>
            <a:pPr algn="ctr" indent="0" marL="0">
              <a:buNone/>
            </a:pPr>
            <a:r>
              <a:rPr lang="en-US" sz="1700" b="1" dirty="0">
                <a:solidFill>
                  <a:srgbClr val="346A55"/>
                </a:solidFill>
                <a:latin typeface="Noto Sans" pitchFamily="34" charset="0"/>
                <a:ea typeface="Noto Sans" pitchFamily="34" charset="-122"/>
                <a:cs typeface="Noto Sans" pitchFamily="34" charset="-120"/>
              </a:rPr>
              <a:t>The design is assessed as a system—not as an isolated shape.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GEOMETRY &amp; DRAWINGS</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Define the final geometry—and how it is measured</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Dimensioned plan/elevation views; a final parameter schedule, separate from sensitivity settings.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Model records P1 and supplemental geometric check. Centre-line views; exterior dimensions rounded. Drawing sheets accompany the PPT.</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03</a:t>
            </a:r>
            <a:endParaRPr lang="en-US" sz="1000" dirty="0"/>
          </a:p>
        </p:txBody>
      </p:sp>
      <p:pic>
        <p:nvPicPr>
          <p:cNvPr id="15" name="Image 0" descr="/workspace/temp/presentation/v4/assets/technical-plan.png">    </p:cNvPr>
          <p:cNvPicPr>
            <a:picLocks noChangeAspect="1"/>
          </p:cNvPicPr>
          <p:nvPr/>
        </p:nvPicPr>
        <p:blipFill>
          <a:blip r:embed="rId1"/>
          <a:stretch>
            <a:fillRect/>
          </a:stretch>
        </p:blipFill>
        <p:spPr>
          <a:xfrm>
            <a:off x="667512" y="2240280"/>
            <a:ext cx="2962656" cy="2962656"/>
          </a:xfrm>
          <a:prstGeom prst="rect">
            <a:avLst/>
          </a:prstGeom>
        </p:spPr>
      </p:pic>
      <p:sp>
        <p:nvSpPr>
          <p:cNvPr id="16" name="Shape 13"/>
          <p:cNvSpPr/>
          <p:nvPr/>
        </p:nvSpPr>
        <p:spPr>
          <a:xfrm>
            <a:off x="1078331" y="4933780"/>
            <a:ext cx="2141017" cy="0"/>
          </a:xfrm>
          <a:prstGeom prst="line">
            <a:avLst/>
          </a:prstGeom>
          <a:noFill/>
          <a:ln w="11430">
            <a:solidFill>
              <a:srgbClr val="AA7E4A"/>
            </a:solidFill>
            <a:prstDash val="solid"/>
          </a:ln>
        </p:spPr>
      </p:sp>
      <p:sp>
        <p:nvSpPr>
          <p:cNvPr id="17" name="Shape 14"/>
          <p:cNvSpPr/>
          <p:nvPr/>
        </p:nvSpPr>
        <p:spPr>
          <a:xfrm>
            <a:off x="1078331" y="4888060"/>
            <a:ext cx="0" cy="91440"/>
          </a:xfrm>
          <a:prstGeom prst="line">
            <a:avLst/>
          </a:prstGeom>
          <a:noFill/>
          <a:ln w="10160">
            <a:solidFill>
              <a:srgbClr val="AA7E4A"/>
            </a:solidFill>
            <a:prstDash val="solid"/>
          </a:ln>
        </p:spPr>
      </p:sp>
      <p:sp>
        <p:nvSpPr>
          <p:cNvPr id="18" name="Shape 15"/>
          <p:cNvSpPr/>
          <p:nvPr/>
        </p:nvSpPr>
        <p:spPr>
          <a:xfrm>
            <a:off x="3219349" y="4888060"/>
            <a:ext cx="0" cy="91440"/>
          </a:xfrm>
          <a:prstGeom prst="line">
            <a:avLst/>
          </a:prstGeom>
          <a:noFill/>
          <a:ln w="10160">
            <a:solidFill>
              <a:srgbClr val="AA7E4A"/>
            </a:solidFill>
            <a:prstDash val="solid"/>
          </a:ln>
        </p:spPr>
      </p:sp>
      <p:sp>
        <p:nvSpPr>
          <p:cNvPr id="19" name="Text 16"/>
          <p:cNvSpPr/>
          <p:nvPr/>
        </p:nvSpPr>
        <p:spPr>
          <a:xfrm>
            <a:off x="1508760" y="4988644"/>
            <a:ext cx="1280160" cy="210312"/>
          </a:xfrm>
          <a:prstGeom prst="rect">
            <a:avLst/>
          </a:prstGeom>
          <a:noFill/>
          <a:ln/>
        </p:spPr>
        <p:txBody>
          <a:bodyPr wrap="square" lIns="0" tIns="0" rIns="0" bIns="0" rtlCol="0" anchor="ctr"/>
          <a:lstStyle/>
          <a:p>
            <a:pPr algn="ctr" indent="0" marL="0">
              <a:buNone/>
            </a:pPr>
            <a:r>
              <a:rPr lang="en-US" sz="1200" dirty="0">
                <a:solidFill>
                  <a:srgbClr val="173C51"/>
                </a:solidFill>
                <a:latin typeface="Noto Sans" pitchFamily="34" charset="0"/>
                <a:ea typeface="Noto Sans" pitchFamily="34" charset="-122"/>
                <a:cs typeface="Noto Sans" pitchFamily="34" charset="-120"/>
              </a:rPr>
              <a:t>6.22 m</a:t>
            </a:r>
            <a:endParaRPr lang="en-US" sz="1200" dirty="0"/>
          </a:p>
        </p:txBody>
      </p:sp>
      <p:sp>
        <p:nvSpPr>
          <p:cNvPr id="20" name="Shape 17"/>
          <p:cNvSpPr/>
          <p:nvPr/>
        </p:nvSpPr>
        <p:spPr>
          <a:xfrm>
            <a:off x="950868" y="4806317"/>
            <a:ext cx="0" cy="-2294481"/>
          </a:xfrm>
          <a:prstGeom prst="line">
            <a:avLst/>
          </a:prstGeom>
          <a:noFill/>
          <a:ln w="11430">
            <a:solidFill>
              <a:srgbClr val="AA7E4A"/>
            </a:solidFill>
            <a:prstDash val="solid"/>
          </a:ln>
        </p:spPr>
      </p:sp>
      <p:sp>
        <p:nvSpPr>
          <p:cNvPr id="21" name="Shape 18"/>
          <p:cNvSpPr/>
          <p:nvPr/>
        </p:nvSpPr>
        <p:spPr>
          <a:xfrm>
            <a:off x="905148" y="4806317"/>
            <a:ext cx="91440" cy="0"/>
          </a:xfrm>
          <a:prstGeom prst="line">
            <a:avLst/>
          </a:prstGeom>
          <a:noFill/>
          <a:ln w="10160">
            <a:solidFill>
              <a:srgbClr val="AA7E4A"/>
            </a:solidFill>
            <a:prstDash val="solid"/>
          </a:ln>
        </p:spPr>
      </p:sp>
      <p:sp>
        <p:nvSpPr>
          <p:cNvPr id="22" name="Shape 19"/>
          <p:cNvSpPr/>
          <p:nvPr/>
        </p:nvSpPr>
        <p:spPr>
          <a:xfrm>
            <a:off x="905148" y="2511835"/>
            <a:ext cx="91440" cy="0"/>
          </a:xfrm>
          <a:prstGeom prst="line">
            <a:avLst/>
          </a:prstGeom>
          <a:noFill/>
          <a:ln w="10160">
            <a:solidFill>
              <a:srgbClr val="AA7E4A"/>
            </a:solidFill>
            <a:prstDash val="solid"/>
          </a:ln>
        </p:spPr>
      </p:sp>
      <p:sp>
        <p:nvSpPr>
          <p:cNvPr id="23" name="Text 20"/>
          <p:cNvSpPr/>
          <p:nvPr/>
        </p:nvSpPr>
        <p:spPr>
          <a:xfrm>
            <a:off x="594252" y="3183588"/>
            <a:ext cx="256032" cy="950976"/>
          </a:xfrm>
          <a:prstGeom prst="rect">
            <a:avLst/>
          </a:prstGeom>
          <a:noFill/>
          <a:ln/>
        </p:spPr>
        <p:txBody>
          <a:bodyPr wrap="square" lIns="0" tIns="0" rIns="0" bIns="0" rtlCol="0" anchor="ctr" vert="vert270"/>
          <a:lstStyle/>
          <a:p>
            <a:pPr algn="ctr" indent="0" marL="0">
              <a:buNone/>
            </a:pPr>
            <a:r>
              <a:rPr lang="en-US" sz="1200" dirty="0">
                <a:solidFill>
                  <a:srgbClr val="173C51"/>
                </a:solidFill>
                <a:latin typeface="Noto Sans" pitchFamily="34" charset="0"/>
                <a:ea typeface="Noto Sans" pitchFamily="34" charset="-122"/>
                <a:cs typeface="Noto Sans" pitchFamily="34" charset="-120"/>
              </a:rPr>
              <a:t>6.66 m</a:t>
            </a:r>
            <a:endParaRPr lang="en-US" sz="1200" dirty="0"/>
          </a:p>
        </p:txBody>
      </p:sp>
      <p:sp>
        <p:nvSpPr>
          <p:cNvPr id="24" name="Text 21"/>
          <p:cNvSpPr/>
          <p:nvPr/>
        </p:nvSpPr>
        <p:spPr>
          <a:xfrm>
            <a:off x="1243584" y="5504688"/>
            <a:ext cx="1645920" cy="228600"/>
          </a:xfrm>
          <a:prstGeom prst="rect">
            <a:avLst/>
          </a:prstGeom>
          <a:noFill/>
          <a:ln/>
        </p:spPr>
        <p:txBody>
          <a:bodyPr wrap="square" lIns="0" tIns="0" rIns="0" bIns="0" rtlCol="0" anchor="ctr"/>
          <a:lstStyle/>
          <a:p>
            <a:pPr algn="ctr" indent="0" marL="0">
              <a:buNone/>
            </a:pPr>
            <a:r>
              <a:rPr lang="en-US" sz="1200" b="1" dirty="0">
                <a:solidFill>
                  <a:srgbClr val="346A55"/>
                </a:solidFill>
                <a:latin typeface="Noto Sans" pitchFamily="34" charset="0"/>
                <a:ea typeface="Noto Sans" pitchFamily="34" charset="-122"/>
                <a:cs typeface="Noto Sans" pitchFamily="34" charset="-120"/>
              </a:rPr>
              <a:t>PLAN</a:t>
            </a:r>
            <a:endParaRPr lang="en-US" sz="1200" dirty="0"/>
          </a:p>
        </p:txBody>
      </p:sp>
      <p:pic>
        <p:nvPicPr>
          <p:cNvPr id="25" name="Image 1" descr="/workspace/temp/presentation/v4/assets/technical-elevation.png">    </p:cNvPr>
          <p:cNvPicPr>
            <a:picLocks noChangeAspect="1"/>
          </p:cNvPicPr>
          <p:nvPr/>
        </p:nvPicPr>
        <p:blipFill>
          <a:blip r:embed="rId2"/>
          <a:stretch>
            <a:fillRect/>
          </a:stretch>
        </p:blipFill>
        <p:spPr>
          <a:xfrm>
            <a:off x="3730752" y="2852503"/>
            <a:ext cx="2542032" cy="1537043"/>
          </a:xfrm>
          <a:prstGeom prst="rect">
            <a:avLst/>
          </a:prstGeom>
        </p:spPr>
      </p:pic>
      <p:sp>
        <p:nvSpPr>
          <p:cNvPr id="26" name="Shape 22"/>
          <p:cNvSpPr/>
          <p:nvPr/>
        </p:nvSpPr>
        <p:spPr>
          <a:xfrm>
            <a:off x="6026701" y="4212194"/>
            <a:ext cx="0" cy="-1028636"/>
          </a:xfrm>
          <a:prstGeom prst="line">
            <a:avLst/>
          </a:prstGeom>
          <a:noFill/>
          <a:ln w="11430">
            <a:solidFill>
              <a:srgbClr val="AA7E4A"/>
            </a:solidFill>
            <a:prstDash val="solid"/>
          </a:ln>
        </p:spPr>
      </p:sp>
      <p:sp>
        <p:nvSpPr>
          <p:cNvPr id="27" name="Shape 23"/>
          <p:cNvSpPr/>
          <p:nvPr/>
        </p:nvSpPr>
        <p:spPr>
          <a:xfrm>
            <a:off x="5980981" y="4212194"/>
            <a:ext cx="91440" cy="0"/>
          </a:xfrm>
          <a:prstGeom prst="line">
            <a:avLst/>
          </a:prstGeom>
          <a:noFill/>
          <a:ln w="10160">
            <a:solidFill>
              <a:srgbClr val="AA7E4A"/>
            </a:solidFill>
            <a:prstDash val="solid"/>
          </a:ln>
        </p:spPr>
      </p:sp>
      <p:sp>
        <p:nvSpPr>
          <p:cNvPr id="28" name="Shape 24"/>
          <p:cNvSpPr/>
          <p:nvPr/>
        </p:nvSpPr>
        <p:spPr>
          <a:xfrm>
            <a:off x="5980981" y="3183558"/>
            <a:ext cx="91440" cy="0"/>
          </a:xfrm>
          <a:prstGeom prst="line">
            <a:avLst/>
          </a:prstGeom>
          <a:noFill/>
          <a:ln w="10160">
            <a:solidFill>
              <a:srgbClr val="AA7E4A"/>
            </a:solidFill>
            <a:prstDash val="solid"/>
          </a:ln>
        </p:spPr>
      </p:sp>
      <p:sp>
        <p:nvSpPr>
          <p:cNvPr id="29" name="Text 25"/>
          <p:cNvSpPr/>
          <p:nvPr/>
        </p:nvSpPr>
        <p:spPr>
          <a:xfrm>
            <a:off x="5670085" y="3222388"/>
            <a:ext cx="256032" cy="950976"/>
          </a:xfrm>
          <a:prstGeom prst="rect">
            <a:avLst/>
          </a:prstGeom>
          <a:noFill/>
          <a:ln/>
        </p:spPr>
        <p:txBody>
          <a:bodyPr wrap="square" lIns="0" tIns="0" rIns="0" bIns="0" rtlCol="0" anchor="ctr" vert="vert270"/>
          <a:lstStyle/>
          <a:p>
            <a:pPr algn="ctr" indent="0" marL="0">
              <a:buNone/>
            </a:pPr>
            <a:r>
              <a:rPr lang="en-US" sz="1200" dirty="0">
                <a:solidFill>
                  <a:srgbClr val="173C51"/>
                </a:solidFill>
                <a:latin typeface="Noto Sans" pitchFamily="34" charset="0"/>
                <a:ea typeface="Noto Sans" pitchFamily="34" charset="-122"/>
                <a:cs typeface="Noto Sans" pitchFamily="34" charset="-120"/>
              </a:rPr>
              <a:t>3.48 m</a:t>
            </a:r>
            <a:endParaRPr lang="en-US" sz="1200" dirty="0"/>
          </a:p>
        </p:txBody>
      </p:sp>
      <p:sp>
        <p:nvSpPr>
          <p:cNvPr id="30" name="Text 26"/>
          <p:cNvSpPr/>
          <p:nvPr/>
        </p:nvSpPr>
        <p:spPr>
          <a:xfrm>
            <a:off x="3931920" y="4837176"/>
            <a:ext cx="1938528" cy="228600"/>
          </a:xfrm>
          <a:prstGeom prst="rect">
            <a:avLst/>
          </a:prstGeom>
          <a:noFill/>
          <a:ln/>
        </p:spPr>
        <p:txBody>
          <a:bodyPr wrap="square" lIns="0" tIns="0" rIns="0" bIns="0" rtlCol="0" anchor="ctr"/>
          <a:lstStyle/>
          <a:p>
            <a:pPr algn="ctr" indent="0" marL="0">
              <a:buNone/>
            </a:pPr>
            <a:r>
              <a:rPr lang="en-US" sz="1200" b="1" dirty="0">
                <a:solidFill>
                  <a:srgbClr val="346A55"/>
                </a:solidFill>
                <a:latin typeface="Noto Sans" pitchFamily="34" charset="0"/>
                <a:ea typeface="Noto Sans" pitchFamily="34" charset="-122"/>
                <a:cs typeface="Noto Sans" pitchFamily="34" charset="-120"/>
              </a:rPr>
              <a:t>ELEVATION</a:t>
            </a:r>
            <a:endParaRPr lang="en-US" sz="1200" dirty="0"/>
          </a:p>
        </p:txBody>
      </p:sp>
      <p:sp>
        <p:nvSpPr>
          <p:cNvPr id="31" name="Text 27"/>
          <p:cNvSpPr/>
          <p:nvPr/>
        </p:nvSpPr>
        <p:spPr>
          <a:xfrm>
            <a:off x="3712464" y="5440680"/>
            <a:ext cx="2606040" cy="585216"/>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Curved support inclination is defined by its endpoint chord, not a local tangent.</a:t>
            </a:r>
            <a:endParaRPr lang="en-US" sz="12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20256" y="2221992"/>
          <a:ext cx="4928616" cy="914400"/>
        </p:xfrm>
        <a:graphic>
          <a:graphicData uri="http://schemas.openxmlformats.org/drawingml/2006/table">
            <a:tbl>
              <a:tblPr/>
              <a:tblGrid>
                <a:gridCol w="2331720"/>
                <a:gridCol w="2596896"/>
              </a:tblGrid>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FINAL PARAMETER</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VALUE / DEFINITION</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Overall height</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≈3.48 m</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Plan extents</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≈6.22 × 6.66 m</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Maximum horizontal span</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≈6.91 m, exterior mesh</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Support inclination*</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45.9–50.7° to horizontal</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Member exterior diameter</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80 mm</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48056">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Corner / expansion</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20" dirty="0">
                          <a:solidFill>
                            <a:srgbClr val="34434A"/>
                          </a:solidFill>
                          <a:latin typeface="Noto Sans" pitchFamily="34" charset="0"/>
                          <a:ea typeface="Noto Sans" pitchFamily="34" charset="-122"/>
                          <a:cs typeface="Noto Sans" pitchFamily="34" charset="-120"/>
                        </a:rPr>
                        <a:t>0.85 / 1.08</a:t>
                      </a:r>
                      <a:endParaRPr lang="en-US" sz="142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33" name="Text 28"/>
          <p:cNvSpPr/>
          <p:nvPr/>
        </p:nvSpPr>
        <p:spPr>
          <a:xfrm>
            <a:off x="6665976" y="5852160"/>
            <a:ext cx="4800600" cy="356616"/>
          </a:xfrm>
          <a:prstGeom prst="rect">
            <a:avLst/>
          </a:prstGeom>
          <a:noFill/>
          <a:ln/>
        </p:spPr>
        <p:txBody>
          <a:bodyPr wrap="square" lIns="0" tIns="0" rIns="0" bIns="0" rtlCol="0" anchor="ctr"/>
          <a:lstStyle/>
          <a:p>
            <a:pPr indent="0" marL="0">
              <a:buNone/>
            </a:pPr>
            <a:r>
              <a:rPr lang="en-US" sz="1150" dirty="0">
                <a:solidFill>
                  <a:srgbClr val="66736D"/>
                </a:solidFill>
                <a:latin typeface="Noto Sans" pitchFamily="34" charset="0"/>
                <a:ea typeface="Noto Sans" pitchFamily="34" charset="-122"/>
                <a:cs typeface="Noto Sans" pitchFamily="34" charset="-120"/>
              </a:rPr>
              <a:t>*Angle of each ground-reaching centre-line endpoint chord. Not a uniform member slope.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FORM &amp; COOLING LOGIC</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How the canopy can improve pedestrian comfort</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Three physical pathways, with the strength of evidence shown next to each.</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Shade: project P2/P5. Greening mechanisms: [1,2]. Arrows are conceptual; no temperature or airflow field is simulated.</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04</a:t>
            </a:r>
            <a:endParaRPr lang="en-US" sz="1000" dirty="0"/>
          </a:p>
        </p:txBody>
      </p:sp>
      <p:pic>
        <p:nvPicPr>
          <p:cNvPr id="15" name="Image 0" descr="/workspace/temp/presentation/v4/assets/cover-80.png">    </p:cNvPr>
          <p:cNvPicPr>
            <a:picLocks noChangeAspect="1"/>
          </p:cNvPicPr>
          <p:nvPr/>
        </p:nvPicPr>
        <p:blipFill>
          <a:blip r:embed="rId1"/>
          <a:stretch>
            <a:fillRect/>
          </a:stretch>
        </p:blipFill>
        <p:spPr>
          <a:xfrm>
            <a:off x="3967184" y="2148840"/>
            <a:ext cx="4172288" cy="3017520"/>
          </a:xfrm>
          <a:prstGeom prst="rect">
            <a:avLst/>
          </a:prstGeom>
        </p:spPr>
      </p:pic>
      <p:sp>
        <p:nvSpPr>
          <p:cNvPr id="16" name="Shape 13"/>
          <p:cNvSpPr/>
          <p:nvPr/>
        </p:nvSpPr>
        <p:spPr>
          <a:xfrm>
            <a:off x="950976" y="2423160"/>
            <a:ext cx="512064" cy="512064"/>
          </a:xfrm>
          <a:prstGeom prst="ellipse">
            <a:avLst/>
          </a:prstGeom>
          <a:solidFill>
            <a:srgbClr val="E3B45D"/>
          </a:solidFill>
          <a:ln w="12700">
            <a:solidFill>
              <a:srgbClr val="E3B45D"/>
            </a:solidFill>
            <a:prstDash val="solid"/>
          </a:ln>
        </p:spPr>
      </p:sp>
      <p:sp>
        <p:nvSpPr>
          <p:cNvPr id="17" name="Shape 14"/>
          <p:cNvSpPr/>
          <p:nvPr/>
        </p:nvSpPr>
        <p:spPr>
          <a:xfrm>
            <a:off x="1627632" y="2651760"/>
            <a:ext cx="1901952" cy="731520"/>
          </a:xfrm>
          <a:prstGeom prst="line">
            <a:avLst/>
          </a:prstGeom>
          <a:noFill/>
          <a:ln w="26670">
            <a:solidFill>
              <a:srgbClr val="D3A14B"/>
            </a:solidFill>
            <a:prstDash val="solid"/>
            <a:headEnd type="none"/>
            <a:tailEnd type="triangle"/>
          </a:ln>
        </p:spPr>
      </p:sp>
      <p:sp>
        <p:nvSpPr>
          <p:cNvPr id="18" name="Shape 15"/>
          <p:cNvSpPr/>
          <p:nvPr/>
        </p:nvSpPr>
        <p:spPr>
          <a:xfrm>
            <a:off x="2039112" y="2651760"/>
            <a:ext cx="1901952" cy="731520"/>
          </a:xfrm>
          <a:prstGeom prst="line">
            <a:avLst/>
          </a:prstGeom>
          <a:noFill/>
          <a:ln w="26670">
            <a:solidFill>
              <a:srgbClr val="D3A14B"/>
            </a:solidFill>
            <a:prstDash val="solid"/>
            <a:headEnd type="none"/>
            <a:tailEnd type="triangle"/>
          </a:ln>
        </p:spPr>
      </p:sp>
      <p:sp>
        <p:nvSpPr>
          <p:cNvPr id="19" name="Shape 16"/>
          <p:cNvSpPr/>
          <p:nvPr/>
        </p:nvSpPr>
        <p:spPr>
          <a:xfrm>
            <a:off x="2450592" y="2651760"/>
            <a:ext cx="1901952" cy="731520"/>
          </a:xfrm>
          <a:prstGeom prst="line">
            <a:avLst/>
          </a:prstGeom>
          <a:noFill/>
          <a:ln w="26670">
            <a:solidFill>
              <a:srgbClr val="D3A14B"/>
            </a:solidFill>
            <a:prstDash val="solid"/>
            <a:headEnd type="none"/>
            <a:tailEnd type="triangle"/>
          </a:ln>
        </p:spPr>
      </p:sp>
      <p:sp>
        <p:nvSpPr>
          <p:cNvPr id="20" name="Shape 17"/>
          <p:cNvSpPr/>
          <p:nvPr/>
        </p:nvSpPr>
        <p:spPr>
          <a:xfrm>
            <a:off x="4069080" y="4946904"/>
            <a:ext cx="2971800" cy="192024"/>
          </a:xfrm>
          <a:prstGeom prst="rect">
            <a:avLst>
              <a:gd name="adj" fmla="val 47619"/>
            </a:avLst>
          </a:prstGeom>
          <a:solidFill>
            <a:srgbClr val="D8E4CC"/>
          </a:solidFill>
          <a:ln w="7620">
            <a:solidFill>
              <a:srgbClr val="D8E4CC"/>
            </a:solidFill>
            <a:prstDash val="solid"/>
          </a:ln>
        </p:spPr>
      </p:sp>
      <p:sp>
        <p:nvSpPr>
          <p:cNvPr id="21" name="Shape 18"/>
          <p:cNvSpPr/>
          <p:nvPr/>
        </p:nvSpPr>
        <p:spPr>
          <a:xfrm>
            <a:off x="5257800" y="4005072"/>
            <a:ext cx="137160" cy="137160"/>
          </a:xfrm>
          <a:prstGeom prst="ellipse">
            <a:avLst/>
          </a:prstGeom>
          <a:solidFill>
            <a:srgbClr val="173C51"/>
          </a:solidFill>
          <a:ln w="12700">
            <a:solidFill>
              <a:srgbClr val="173C51"/>
            </a:solidFill>
            <a:prstDash val="solid"/>
          </a:ln>
        </p:spPr>
      </p:sp>
      <p:sp>
        <p:nvSpPr>
          <p:cNvPr id="22" name="Shape 19"/>
          <p:cNvSpPr/>
          <p:nvPr/>
        </p:nvSpPr>
        <p:spPr>
          <a:xfrm>
            <a:off x="5326380" y="4169664"/>
            <a:ext cx="0" cy="356616"/>
          </a:xfrm>
          <a:prstGeom prst="line">
            <a:avLst/>
          </a:prstGeom>
          <a:noFill/>
          <a:ln w="25400">
            <a:solidFill>
              <a:srgbClr val="173C51"/>
            </a:solidFill>
            <a:prstDash val="solid"/>
          </a:ln>
        </p:spPr>
      </p:sp>
      <p:sp>
        <p:nvSpPr>
          <p:cNvPr id="23" name="Shape 20"/>
          <p:cNvSpPr/>
          <p:nvPr/>
        </p:nvSpPr>
        <p:spPr>
          <a:xfrm>
            <a:off x="5326380" y="4288536"/>
            <a:ext cx="-178308" cy="146304"/>
          </a:xfrm>
          <a:prstGeom prst="line">
            <a:avLst/>
          </a:prstGeom>
          <a:noFill/>
          <a:ln w="21590">
            <a:solidFill>
              <a:srgbClr val="173C51"/>
            </a:solidFill>
            <a:prstDash val="solid"/>
          </a:ln>
        </p:spPr>
      </p:sp>
      <p:sp>
        <p:nvSpPr>
          <p:cNvPr id="24" name="Shape 21"/>
          <p:cNvSpPr/>
          <p:nvPr/>
        </p:nvSpPr>
        <p:spPr>
          <a:xfrm>
            <a:off x="5326380" y="4288536"/>
            <a:ext cx="178308" cy="146304"/>
          </a:xfrm>
          <a:prstGeom prst="line">
            <a:avLst/>
          </a:prstGeom>
          <a:noFill/>
          <a:ln w="21590">
            <a:solidFill>
              <a:srgbClr val="173C51"/>
            </a:solidFill>
            <a:prstDash val="solid"/>
          </a:ln>
        </p:spPr>
      </p:sp>
      <p:sp>
        <p:nvSpPr>
          <p:cNvPr id="25" name="Shape 22"/>
          <p:cNvSpPr/>
          <p:nvPr/>
        </p:nvSpPr>
        <p:spPr>
          <a:xfrm>
            <a:off x="5326380" y="4526280"/>
            <a:ext cx="-150876" cy="228600"/>
          </a:xfrm>
          <a:prstGeom prst="line">
            <a:avLst/>
          </a:prstGeom>
          <a:noFill/>
          <a:ln w="21590">
            <a:solidFill>
              <a:srgbClr val="173C51"/>
            </a:solidFill>
            <a:prstDash val="solid"/>
          </a:ln>
        </p:spPr>
      </p:sp>
      <p:sp>
        <p:nvSpPr>
          <p:cNvPr id="26" name="Shape 23"/>
          <p:cNvSpPr/>
          <p:nvPr/>
        </p:nvSpPr>
        <p:spPr>
          <a:xfrm>
            <a:off x="5326380" y="4526280"/>
            <a:ext cx="150876" cy="228600"/>
          </a:xfrm>
          <a:prstGeom prst="line">
            <a:avLst/>
          </a:prstGeom>
          <a:noFill/>
          <a:ln w="21590">
            <a:solidFill>
              <a:srgbClr val="173C51"/>
            </a:solidFill>
            <a:prstDash val="solid"/>
          </a:ln>
        </p:spPr>
      </p:sp>
      <p:sp>
        <p:nvSpPr>
          <p:cNvPr id="27" name="Shape 24"/>
          <p:cNvSpPr/>
          <p:nvPr/>
        </p:nvSpPr>
        <p:spPr>
          <a:xfrm>
            <a:off x="2331720" y="4480560"/>
            <a:ext cx="2377440" cy="0"/>
          </a:xfrm>
          <a:prstGeom prst="line">
            <a:avLst/>
          </a:prstGeom>
          <a:noFill/>
          <a:ln w="25400">
            <a:solidFill>
              <a:srgbClr val="3E6E9E"/>
            </a:solidFill>
            <a:prstDash val="solid"/>
            <a:headEnd type="none"/>
            <a:tailEnd type="triangle"/>
          </a:ln>
        </p:spPr>
      </p:sp>
      <p:sp>
        <p:nvSpPr>
          <p:cNvPr id="28" name="Shape 25"/>
          <p:cNvSpPr/>
          <p:nvPr/>
        </p:nvSpPr>
        <p:spPr>
          <a:xfrm>
            <a:off x="2331720" y="4754880"/>
            <a:ext cx="2377440" cy="0"/>
          </a:xfrm>
          <a:prstGeom prst="line">
            <a:avLst/>
          </a:prstGeom>
          <a:noFill/>
          <a:ln w="25400">
            <a:solidFill>
              <a:srgbClr val="3E6E9E"/>
            </a:solidFill>
            <a:prstDash val="solid"/>
            <a:headEnd type="none"/>
            <a:tailEnd type="triangle"/>
          </a:ln>
        </p:spPr>
      </p:sp>
      <p:sp>
        <p:nvSpPr>
          <p:cNvPr id="29" name="Shape 26"/>
          <p:cNvSpPr/>
          <p:nvPr/>
        </p:nvSpPr>
        <p:spPr>
          <a:xfrm>
            <a:off x="6601968" y="2999232"/>
            <a:ext cx="73152" cy="-612648"/>
          </a:xfrm>
          <a:prstGeom prst="line">
            <a:avLst/>
          </a:prstGeom>
          <a:noFill/>
          <a:ln w="19050">
            <a:solidFill>
              <a:srgbClr val="346A55"/>
            </a:solidFill>
            <a:prstDash val="dash"/>
            <a:tailEnd type="triangle"/>
          </a:ln>
        </p:spPr>
      </p:sp>
      <p:sp>
        <p:nvSpPr>
          <p:cNvPr id="30" name="Shape 27"/>
          <p:cNvSpPr/>
          <p:nvPr/>
        </p:nvSpPr>
        <p:spPr>
          <a:xfrm>
            <a:off x="6940296" y="2999232"/>
            <a:ext cx="73152" cy="-612648"/>
          </a:xfrm>
          <a:prstGeom prst="line">
            <a:avLst/>
          </a:prstGeom>
          <a:noFill/>
          <a:ln w="19050">
            <a:solidFill>
              <a:srgbClr val="346A55"/>
            </a:solidFill>
            <a:prstDash val="dash"/>
            <a:tailEnd type="triangle"/>
          </a:ln>
        </p:spPr>
      </p:sp>
      <p:sp>
        <p:nvSpPr>
          <p:cNvPr id="31" name="Shape 28"/>
          <p:cNvSpPr/>
          <p:nvPr/>
        </p:nvSpPr>
        <p:spPr>
          <a:xfrm>
            <a:off x="7278624" y="2999232"/>
            <a:ext cx="73152" cy="-612648"/>
          </a:xfrm>
          <a:prstGeom prst="line">
            <a:avLst/>
          </a:prstGeom>
          <a:noFill/>
          <a:ln w="19050">
            <a:solidFill>
              <a:srgbClr val="346A55"/>
            </a:solidFill>
            <a:prstDash val="dash"/>
            <a:tailEnd type="triangle"/>
          </a:ln>
        </p:spPr>
      </p:sp>
      <p:sp>
        <p:nvSpPr>
          <p:cNvPr id="32" name="Shape 29"/>
          <p:cNvSpPr/>
          <p:nvPr/>
        </p:nvSpPr>
        <p:spPr>
          <a:xfrm>
            <a:off x="658368" y="5404104"/>
            <a:ext cx="3657600" cy="832104"/>
          </a:xfrm>
          <a:prstGeom prst="rect">
            <a:avLst>
              <a:gd name="adj" fmla="val 10989"/>
            </a:avLst>
          </a:prstGeom>
          <a:solidFill>
            <a:srgbClr val="EDF1E9"/>
          </a:solidFill>
          <a:ln w="7620">
            <a:solidFill>
              <a:srgbClr val="D9DDD2"/>
            </a:solidFill>
            <a:prstDash val="solid"/>
          </a:ln>
        </p:spPr>
      </p:sp>
      <p:sp>
        <p:nvSpPr>
          <p:cNvPr id="33" name="Text 30"/>
          <p:cNvSpPr/>
          <p:nvPr/>
        </p:nvSpPr>
        <p:spPr>
          <a:xfrm>
            <a:off x="804672" y="5522976"/>
            <a:ext cx="3364992" cy="246888"/>
          </a:xfrm>
          <a:prstGeom prst="rect">
            <a:avLst/>
          </a:prstGeom>
          <a:noFill/>
          <a:ln/>
        </p:spPr>
        <p:txBody>
          <a:bodyPr wrap="square" lIns="0" tIns="0" rIns="0" bIns="0" rtlCol="0" anchor="ctr"/>
          <a:lstStyle/>
          <a:p>
            <a:pPr indent="0" marL="0">
              <a:buNone/>
            </a:pPr>
            <a:r>
              <a:rPr lang="en-US" sz="1500" b="1" dirty="0">
                <a:solidFill>
                  <a:srgbClr val="346A55"/>
                </a:solidFill>
                <a:latin typeface="Noto Sans" pitchFamily="34" charset="0"/>
                <a:ea typeface="Noto Sans" pitchFamily="34" charset="-122"/>
                <a:cs typeface="Noto Sans" pitchFamily="34" charset="-120"/>
              </a:rPr>
              <a:t>01  SHADE → LOWER EXPOSURE</a:t>
            </a:r>
            <a:endParaRPr lang="en-US" sz="1500" dirty="0"/>
          </a:p>
        </p:txBody>
      </p:sp>
      <p:sp>
        <p:nvSpPr>
          <p:cNvPr id="34" name="Text 31"/>
          <p:cNvSpPr/>
          <p:nvPr/>
        </p:nvSpPr>
        <p:spPr>
          <a:xfrm>
            <a:off x="804672" y="5879592"/>
            <a:ext cx="3364992" cy="219456"/>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Direct sun on people and ground</a:t>
            </a:r>
            <a:endParaRPr lang="en-US" sz="1350" dirty="0"/>
          </a:p>
        </p:txBody>
      </p:sp>
      <p:sp>
        <p:nvSpPr>
          <p:cNvPr id="35" name="Shape 32"/>
          <p:cNvSpPr/>
          <p:nvPr/>
        </p:nvSpPr>
        <p:spPr>
          <a:xfrm>
            <a:off x="8174736" y="3611880"/>
            <a:ext cx="3319272" cy="1517904"/>
          </a:xfrm>
          <a:prstGeom prst="rect">
            <a:avLst>
              <a:gd name="adj" fmla="val 6024"/>
            </a:avLst>
          </a:prstGeom>
          <a:solidFill>
            <a:srgbClr val="EDF1E9"/>
          </a:solidFill>
          <a:ln w="7620">
            <a:solidFill>
              <a:srgbClr val="D9DDD2"/>
            </a:solidFill>
            <a:prstDash val="solid"/>
          </a:ln>
        </p:spPr>
      </p:sp>
      <p:sp>
        <p:nvSpPr>
          <p:cNvPr id="36" name="Text 33"/>
          <p:cNvSpPr/>
          <p:nvPr/>
        </p:nvSpPr>
        <p:spPr>
          <a:xfrm>
            <a:off x="8339328" y="3730752"/>
            <a:ext cx="2990088" cy="320040"/>
          </a:xfrm>
          <a:prstGeom prst="rect">
            <a:avLst/>
          </a:prstGeom>
          <a:noFill/>
          <a:ln/>
        </p:spPr>
        <p:txBody>
          <a:bodyPr wrap="square" lIns="0" tIns="0" rIns="0" bIns="0" rtlCol="0" anchor="ctr"/>
          <a:lstStyle/>
          <a:p>
            <a:pPr indent="0" marL="0">
              <a:buNone/>
            </a:pPr>
            <a:r>
              <a:rPr lang="en-US" sz="2000" b="1" dirty="0">
                <a:solidFill>
                  <a:srgbClr val="3E6E9E"/>
                </a:solidFill>
                <a:latin typeface="Noto Sans" pitchFamily="34" charset="0"/>
                <a:ea typeface="Noto Sans" pitchFamily="34" charset="-122"/>
                <a:cs typeface="Noto Sans" pitchFamily="34" charset="-120"/>
              </a:rPr>
              <a:t>02  AIRFLOW</a:t>
            </a:r>
            <a:endParaRPr lang="en-US" sz="2000" dirty="0"/>
          </a:p>
        </p:txBody>
      </p:sp>
      <p:sp>
        <p:nvSpPr>
          <p:cNvPr id="37" name="Text 34"/>
          <p:cNvSpPr/>
          <p:nvPr/>
        </p:nvSpPr>
        <p:spPr>
          <a:xfrm>
            <a:off x="8339328" y="4151376"/>
            <a:ext cx="2990088" cy="896112"/>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Open sides retain possible air paths.</a:t>
            </a:r>
            <a:endParaRPr lang="en-US" sz="1600" dirty="0"/>
          </a:p>
          <a:p>
            <a:pPr indent="0" marL="0">
              <a:buNone/>
            </a:pPr>
            <a:r>
              <a:rPr lang="en-US" sz="1600" dirty="0">
                <a:solidFill>
                  <a:srgbClr val="34434A"/>
                </a:solidFill>
                <a:latin typeface="Noto Sans" pitchFamily="34" charset="0"/>
                <a:ea typeface="Noto Sans" pitchFamily="34" charset="-122"/>
                <a:cs typeface="Noto Sans" pitchFamily="34" charset="-120"/>
              </a:rPr>
              <a:t>Dense foliage can also add resistance.</a:t>
            </a:r>
            <a:endParaRPr lang="en-US" sz="1600" dirty="0"/>
          </a:p>
        </p:txBody>
      </p:sp>
      <p:sp>
        <p:nvSpPr>
          <p:cNvPr id="38" name="Shape 35"/>
          <p:cNvSpPr/>
          <p:nvPr/>
        </p:nvSpPr>
        <p:spPr>
          <a:xfrm>
            <a:off x="8174736" y="2011680"/>
            <a:ext cx="3319272" cy="1417320"/>
          </a:xfrm>
          <a:prstGeom prst="rect">
            <a:avLst>
              <a:gd name="adj" fmla="val 6452"/>
            </a:avLst>
          </a:prstGeom>
          <a:solidFill>
            <a:srgbClr val="EDF1E9"/>
          </a:solidFill>
          <a:ln w="7620">
            <a:solidFill>
              <a:srgbClr val="D9DDD2"/>
            </a:solidFill>
            <a:prstDash val="solid"/>
          </a:ln>
        </p:spPr>
      </p:sp>
      <p:sp>
        <p:nvSpPr>
          <p:cNvPr id="39" name="Text 36"/>
          <p:cNvSpPr/>
          <p:nvPr/>
        </p:nvSpPr>
        <p:spPr>
          <a:xfrm>
            <a:off x="8339328" y="2130552"/>
            <a:ext cx="2990088" cy="320040"/>
          </a:xfrm>
          <a:prstGeom prst="rect">
            <a:avLst/>
          </a:prstGeom>
          <a:noFill/>
          <a:ln/>
        </p:spPr>
        <p:txBody>
          <a:bodyPr wrap="square" lIns="0" tIns="0" rIns="0" bIns="0" rtlCol="0" anchor="ctr"/>
          <a:lstStyle/>
          <a:p>
            <a:pPr indent="0" marL="0">
              <a:buNone/>
            </a:pPr>
            <a:r>
              <a:rPr lang="en-US" sz="2000" b="1" dirty="0">
                <a:solidFill>
                  <a:srgbClr val="346A55"/>
                </a:solidFill>
                <a:latin typeface="Noto Sans" pitchFamily="34" charset="0"/>
                <a:ea typeface="Noto Sans" pitchFamily="34" charset="-122"/>
                <a:cs typeface="Noto Sans" pitchFamily="34" charset="-120"/>
              </a:rPr>
              <a:t>03  PLANT WATER</a:t>
            </a:r>
            <a:endParaRPr lang="en-US" sz="2000" dirty="0"/>
          </a:p>
        </p:txBody>
      </p:sp>
      <p:sp>
        <p:nvSpPr>
          <p:cNvPr id="40" name="Text 37"/>
          <p:cNvSpPr/>
          <p:nvPr/>
        </p:nvSpPr>
        <p:spPr>
          <a:xfrm>
            <a:off x="8339328" y="2551176"/>
            <a:ext cx="2990088" cy="795528"/>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Evapotranspiration may exchange latent heat; it needs healthy, watered plants.</a:t>
            </a:r>
            <a:endParaRPr lang="en-US" sz="1600" dirty="0"/>
          </a:p>
        </p:txBody>
      </p:sp>
      <p:sp>
        <p:nvSpPr>
          <p:cNvPr id="41" name="Text 38"/>
          <p:cNvSpPr/>
          <p:nvPr/>
        </p:nvSpPr>
        <p:spPr>
          <a:xfrm>
            <a:off x="731520" y="2048256"/>
            <a:ext cx="2468880" cy="265176"/>
          </a:xfrm>
          <a:prstGeom prst="rect">
            <a:avLst/>
          </a:prstGeom>
          <a:noFill/>
          <a:ln/>
        </p:spPr>
        <p:txBody>
          <a:bodyPr wrap="square" lIns="0" tIns="0" rIns="0" bIns="0" rtlCol="0" anchor="ctr"/>
          <a:lstStyle/>
          <a:p>
            <a:pPr indent="0" marL="0">
              <a:buNone/>
            </a:pPr>
            <a:r>
              <a:rPr lang="en-US" sz="1700" b="1" dirty="0">
                <a:solidFill>
                  <a:srgbClr val="AA7E4A"/>
                </a:solidFill>
                <a:latin typeface="Noto Sans" pitchFamily="34" charset="0"/>
                <a:ea typeface="Noto Sans" pitchFamily="34" charset="-122"/>
                <a:cs typeface="Noto Sans" pitchFamily="34" charset="-120"/>
              </a:rPr>
              <a:t>01  DIRECT SUN</a:t>
            </a:r>
            <a:endParaRPr lang="en-US" sz="1700" dirty="0"/>
          </a:p>
        </p:txBody>
      </p:sp>
      <p:sp>
        <p:nvSpPr>
          <p:cNvPr id="42" name="Text 39"/>
          <p:cNvSpPr/>
          <p:nvPr/>
        </p:nvSpPr>
        <p:spPr>
          <a:xfrm>
            <a:off x="950976" y="3337560"/>
            <a:ext cx="2286000" cy="274320"/>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MODELLED</a:t>
            </a:r>
            <a:endParaRPr lang="en-US" sz="1400" dirty="0"/>
          </a:p>
        </p:txBody>
      </p:sp>
      <p:sp>
        <p:nvSpPr>
          <p:cNvPr id="43" name="Text 40"/>
          <p:cNvSpPr/>
          <p:nvPr/>
        </p:nvSpPr>
        <p:spPr>
          <a:xfrm>
            <a:off x="768096" y="3694176"/>
            <a:ext cx="2423160" cy="539496"/>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Geometry + leaf location</a:t>
            </a:r>
            <a:endParaRPr lang="en-US" sz="1600" dirty="0"/>
          </a:p>
          <a:p>
            <a:pPr indent="0" marL="0">
              <a:buNone/>
            </a:pPr>
            <a:r>
              <a:rPr lang="en-US" sz="1600" dirty="0">
                <a:solidFill>
                  <a:srgbClr val="34434A"/>
                </a:solidFill>
                <a:latin typeface="Noto Sans" pitchFamily="34" charset="0"/>
                <a:ea typeface="Noto Sans" pitchFamily="34" charset="-122"/>
                <a:cs typeface="Noto Sans" pitchFamily="34" charset="-120"/>
              </a:rPr>
              <a:t>change useful shade.</a:t>
            </a:r>
            <a:endParaRPr lang="en-US" sz="1600" dirty="0"/>
          </a:p>
        </p:txBody>
      </p:sp>
      <p:sp>
        <p:nvSpPr>
          <p:cNvPr id="44" name="Text 41"/>
          <p:cNvSpPr/>
          <p:nvPr/>
        </p:nvSpPr>
        <p:spPr>
          <a:xfrm>
            <a:off x="4608576" y="5605272"/>
            <a:ext cx="6711696" cy="274320"/>
          </a:xfrm>
          <a:prstGeom prst="rect">
            <a:avLst/>
          </a:prstGeom>
          <a:noFill/>
          <a:ln/>
        </p:spPr>
        <p:txBody>
          <a:bodyPr wrap="square" lIns="0" tIns="0" rIns="0" bIns="0" rtlCol="0" anchor="ctr"/>
          <a:lstStyle/>
          <a:p>
            <a:pPr algn="ctr" indent="0" marL="0">
              <a:buNone/>
            </a:pPr>
            <a:r>
              <a:rPr lang="en-US" sz="1500" b="1" dirty="0">
                <a:solidFill>
                  <a:srgbClr val="66736D"/>
                </a:solidFill>
                <a:latin typeface="Noto Sans" pitchFamily="34" charset="0"/>
                <a:ea typeface="Noto Sans" pitchFamily="34" charset="-122"/>
                <a:cs typeface="Noto Sans" pitchFamily="34" charset="-120"/>
              </a:rPr>
              <a:t>02 / 03: QUALITATIVE MECHANISMS</a:t>
            </a:r>
            <a:endParaRPr lang="en-US" sz="1500" dirty="0"/>
          </a:p>
        </p:txBody>
      </p:sp>
      <p:sp>
        <p:nvSpPr>
          <p:cNvPr id="45" name="Text 42"/>
          <p:cNvSpPr/>
          <p:nvPr/>
        </p:nvSpPr>
        <p:spPr>
          <a:xfrm>
            <a:off x="4608576" y="5961888"/>
            <a:ext cx="6711696" cy="246888"/>
          </a:xfrm>
          <a:prstGeom prst="rect">
            <a:avLst/>
          </a:prstGeom>
          <a:noFill/>
          <a:ln/>
        </p:spPr>
        <p:txBody>
          <a:bodyPr wrap="square" lIns="0" tIns="0" rIns="0" bIns="0" rtlCol="0" anchor="ctr"/>
          <a:lstStyle/>
          <a:p>
            <a:pPr algn="ctr" indent="0" marL="0">
              <a:buNone/>
            </a:pPr>
            <a:r>
              <a:rPr lang="en-US" sz="1500" b="1" dirty="0">
                <a:solidFill>
                  <a:srgbClr val="173C51"/>
                </a:solidFill>
                <a:latin typeface="Noto Sans" pitchFamily="34" charset="0"/>
                <a:ea typeface="Noto Sans" pitchFamily="34" charset="-122"/>
                <a:cs typeface="Noto Sans" pitchFamily="34" charset="-120"/>
              </a:rPr>
              <a:t>Shade % does not equal cooling °C.</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MATERIAL STRATEGY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Separate the support role from the crown role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Classify members by whether their centre lines reach the ground.</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take-off and proposed member schedule (P1, P3). Sections and material mass remain preliminary specifications.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05</a:t>
            </a:r>
            <a:endParaRPr lang="en-US" sz="1000" dirty="0"/>
          </a:p>
        </p:txBody>
      </p:sp>
      <p:pic>
        <p:nvPicPr>
          <p:cNvPr id="15" name="Image 0" descr="/workspace/temp/presentation/v4/assets/material-zones.png">    </p:cNvPr>
          <p:cNvPicPr>
            <a:picLocks noChangeAspect="1"/>
          </p:cNvPicPr>
          <p:nvPr/>
        </p:nvPicPr>
        <p:blipFill>
          <a:blip r:embed="rId1"/>
          <a:stretch>
            <a:fillRect/>
          </a:stretch>
        </p:blipFill>
        <p:spPr>
          <a:xfrm>
            <a:off x="566201" y="2029968"/>
            <a:ext cx="5442135" cy="3931920"/>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336792" y="2322576"/>
          <a:ext cx="5230368" cy="914400"/>
        </p:xfrm>
        <a:graphic>
          <a:graphicData uri="http://schemas.openxmlformats.org/drawingml/2006/table">
            <a:tbl>
              <a:tblPr/>
              <a:tblGrid>
                <a:gridCol w="1865376"/>
                <a:gridCol w="2148840"/>
                <a:gridCol w="1216152"/>
              </a:tblGrid>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ZONE</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PROPOSED SECTION</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LENGTH</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12 steel supports</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Q355B tube</a:t>
                      </a:r>
                      <a:endParaRPr lang="en-US" sz="1610" dirty="0">
                        <a:latin typeface="Noto Sans" charset="0"/>
                        <a:ea typeface="Noto Sans" charset="0"/>
                        <a:cs typeface="Noto Sans" charset="0"/>
                      </a:endParaRPr>
                    </a:p>
                    <a:p>
                      <a:pPr indent="0" marL="0">
                        <a:buNone/>
                      </a:pPr>
                      <a:r>
                        <a:rPr lang="en-US" sz="1610" dirty="0">
                          <a:solidFill>
                            <a:srgbClr val="34434A"/>
                          </a:solidFill>
                          <a:latin typeface="Noto Sans" pitchFamily="34" charset="0"/>
                          <a:ea typeface="Noto Sans" pitchFamily="34" charset="-122"/>
                          <a:cs typeface="Noto Sans" pitchFamily="34" charset="-120"/>
                        </a:rPr>
                        <a:t>Ø80 × 4 mm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69.38 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47 bamboo crown members</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Engineered bamboo</a:t>
                      </a:r>
                      <a:endParaRPr lang="en-US" sz="1610" dirty="0">
                        <a:latin typeface="Noto Sans" charset="0"/>
                        <a:ea typeface="Noto Sans" charset="0"/>
                        <a:cs typeface="Noto Sans" charset="0"/>
                      </a:endParaRPr>
                    </a:p>
                    <a:p>
                      <a:pPr indent="0" marL="0">
                        <a:buNone/>
                      </a:pPr>
                      <a:r>
                        <a:rPr lang="en-US" sz="1610" dirty="0">
                          <a:solidFill>
                            <a:srgbClr val="34434A"/>
                          </a:solidFill>
                          <a:latin typeface="Noto Sans" pitchFamily="34" charset="0"/>
                          <a:ea typeface="Noto Sans" pitchFamily="34" charset="-122"/>
                          <a:cs typeface="Noto Sans" pitchFamily="34" charset="-120"/>
                        </a:rPr>
                        <a:t>solid Ø80 mm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219.28 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713232">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TOTAL</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59 members</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610" dirty="0">
                          <a:solidFill>
                            <a:srgbClr val="34434A"/>
                          </a:solidFill>
                          <a:latin typeface="Noto Sans" pitchFamily="34" charset="0"/>
                          <a:ea typeface="Noto Sans" pitchFamily="34" charset="-122"/>
                          <a:cs typeface="Noto Sans" pitchFamily="34" charset="-120"/>
                        </a:rPr>
                        <a:t>288.66 m</a:t>
                      </a:r>
                      <a:endParaRPr lang="en-US" sz="161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7" name="Text 13"/>
          <p:cNvSpPr/>
          <p:nvPr/>
        </p:nvSpPr>
        <p:spPr>
          <a:xfrm>
            <a:off x="6419088" y="5477256"/>
            <a:ext cx="4983480" cy="640080"/>
          </a:xfrm>
          <a:prstGeom prst="rect">
            <a:avLst/>
          </a:prstGeom>
          <a:noFill/>
          <a:ln/>
        </p:spPr>
        <p:txBody>
          <a:bodyPr wrap="square" lIns="0" tIns="0" rIns="0" bIns="0" rtlCol="0" anchor="ctr"/>
          <a:lstStyle/>
          <a:p>
            <a:pPr indent="0" marL="0">
              <a:buNone/>
            </a:pPr>
            <a:r>
              <a:rPr lang="en-US" sz="1700" dirty="0">
                <a:solidFill>
                  <a:srgbClr val="173C51"/>
                </a:solidFill>
                <a:latin typeface="Noto Sans" pitchFamily="34" charset="0"/>
                <a:ea typeface="Noto Sans" pitchFamily="34" charset="-122"/>
                <a:cs typeface="Noto Sans" pitchFamily="34" charset="-120"/>
              </a:rPr>
              <a:t>Steel supports address compression and wind bending. The bamboo crown is governed by stiffness, treatment and replaceability.</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MATERIAL SELECTION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Five criteria guide the material selection</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Durability · cost · thermal conductivity · carbon · environmental adaptability.</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 material-comparison workbook (P3). *Preliminary inputs; product, processing and factor boundaries need verification.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 y="2103120"/>
          <a:ext cx="10972800" cy="914400"/>
        </p:xfrm>
        <a:graphic>
          <a:graphicData uri="http://schemas.openxmlformats.org/drawingml/2006/table">
            <a:tbl>
              <a:tblPr/>
              <a:tblGrid>
                <a:gridCol w="3154680"/>
                <a:gridCol w="1325880"/>
                <a:gridCol w="1417320"/>
                <a:gridCol w="1691640"/>
                <a:gridCol w="3383280"/>
              </a:tblGrid>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MATERIAL / SECTION</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BENDING*</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kN·m</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λ*</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W/(m·K)</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CARBON*</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kgCO₂e/kg</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MATERIAL COST*</a:t>
                      </a:r>
                      <a:endParaRPr lang="en-US" sz="1550" dirty="0">
                        <a:latin typeface="Noto Sans" charset="0"/>
                        <a:ea typeface="Noto Sans" charset="0"/>
                        <a:cs typeface="Noto Sans" charset="0"/>
                      </a:endParaRPr>
                    </a:p>
                    <a:p>
                      <a:pPr indent="0" marL="0">
                        <a:buNone/>
                      </a:pPr>
                      <a:r>
                        <a:rPr lang="en-US" sz="1550" dirty="0">
                          <a:solidFill>
                            <a:srgbClr val="34434A"/>
                          </a:solidFill>
                          <a:latin typeface="Noto Sans" pitchFamily="34" charset="0"/>
                          <a:ea typeface="Noto Sans" pitchFamily="34" charset="-122"/>
                          <a:cs typeface="Noto Sans" pitchFamily="34" charset="-120"/>
                        </a:rPr>
                        <a:t>CNY / 288.66 m</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Q355B tube Ø80×4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6.14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50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2.15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18,394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Q355B tube Ø80×3</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4.78</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50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2.15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13,983</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Engineered bamboo Ø80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1.01</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0.22</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0.40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10,158</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Treated timber Ø80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0.85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0.14</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1.10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6,530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21208">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Raw bamboo Ø80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0.40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0.18</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0.25</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4,330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03504" y="5449824"/>
          <a:ext cx="10972800" cy="914400"/>
        </p:xfrm>
        <a:graphic>
          <a:graphicData uri="http://schemas.openxmlformats.org/drawingml/2006/table">
            <a:tbl>
              <a:tblPr/>
              <a:tblGrid>
                <a:gridCol w="5486400"/>
                <a:gridCol w="5486400"/>
              </a:tblGrid>
              <a:tr h="292608">
                <a:tc>
                  <a:txBody>
                    <a:bodyPr/>
                    <a:lstStyle/>
                    <a:p>
                      <a:pPr indent="0" marL="0">
                        <a:buNone/>
                      </a:pPr>
                      <a:r>
                        <a:rPr lang="en-US" sz="1340" dirty="0">
                          <a:solidFill>
                            <a:srgbClr val="34434A"/>
                          </a:solidFill>
                          <a:latin typeface="Noto Sans" pitchFamily="34" charset="0"/>
                          <a:ea typeface="Noto Sans" pitchFamily="34" charset="-122"/>
                          <a:cs typeface="Noto Sans" pitchFamily="34" charset="-120"/>
                        </a:rPr>
                        <a:t>DURABILITY</a:t>
                      </a:r>
                      <a:endParaRPr lang="en-US" sz="134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340" dirty="0">
                          <a:solidFill>
                            <a:srgbClr val="34434A"/>
                          </a:solidFill>
                          <a:latin typeface="Noto Sans" pitchFamily="34" charset="0"/>
                          <a:ea typeface="Noto Sans" pitchFamily="34" charset="-122"/>
                          <a:cs typeface="Noto Sans" pitchFamily="34" charset="-120"/>
                        </a:rPr>
                        <a:t>ENVIRONMENTAL ADAPTABILITY</a:t>
                      </a:r>
                      <a:endParaRPr lang="en-US" sz="134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292608">
                <a:tc>
                  <a:txBody>
                    <a:bodyPr/>
                    <a:lstStyle/>
                    <a:p>
                      <a:pPr indent="0" marL="0">
                        <a:buNone/>
                      </a:pPr>
                      <a:r>
                        <a:rPr lang="en-US" sz="1340" dirty="0">
                          <a:solidFill>
                            <a:srgbClr val="34434A"/>
                          </a:solidFill>
                          <a:latin typeface="Noto Sans" pitchFamily="34" charset="0"/>
                          <a:ea typeface="Noto Sans" pitchFamily="34" charset="-122"/>
                          <a:cs typeface="Noto Sans" pitchFamily="34" charset="-120"/>
                        </a:rPr>
                        <a:t>Protect steel coatings; treat bamboo; detail inspection and replacement.</a:t>
                      </a:r>
                      <a:endParaRPr lang="en-US" sz="134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340" dirty="0">
                          <a:solidFill>
                            <a:srgbClr val="34434A"/>
                          </a:solidFill>
                          <a:latin typeface="Noto Sans" pitchFamily="34" charset="0"/>
                          <a:ea typeface="Noto Sans" pitchFamily="34" charset="-122"/>
                          <a:cs typeface="Noto Sans" pitchFamily="34" charset="-120"/>
                        </a:rPr>
                        <a:t>Check moisture, UV, wind exposure, local supply and plant suitability.</a:t>
                      </a:r>
                      <a:endParaRPr lang="en-US" sz="134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CONNECTIONS</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The crown is stiffness-sensitive: joints matter</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Load assumption → boundary condition → deflection → required connection behaviour.</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Simplified beam calculation and proposed node method (P3). Wet foliage 18 kg/m² and bamboo properties are assumed inputs.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07</a:t>
            </a:r>
            <a:endParaRPr lang="en-US" sz="1000" dirty="0"/>
          </a:p>
        </p:txBody>
      </p:sp>
      <p:graphicFrame>
        <p:nvGraphicFramePr>
          <p:cNvPr id="15" name="Chart 0" descr=""/>
          <p:cNvGraphicFramePr/>
          <p:nvPr/>
        </p:nvGraphicFramePr>
        <p:xfrm>
          <a:off x="566928" y="2395728"/>
          <a:ext cx="6126480" cy="2852928"/>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749808" y="5650992"/>
            <a:ext cx="5696712" cy="411480"/>
          </a:xfrm>
          <a:prstGeom prst="rect">
            <a:avLst>
              <a:gd name="adj" fmla="val 22222"/>
            </a:avLst>
          </a:prstGeom>
          <a:solidFill>
            <a:srgbClr val="EDF1E9"/>
          </a:solidFill>
          <a:ln w="7620">
            <a:solidFill>
              <a:srgbClr val="EDF1E9"/>
            </a:solidFill>
            <a:prstDash val="solid"/>
          </a:ln>
        </p:spPr>
      </p:sp>
      <p:sp>
        <p:nvSpPr>
          <p:cNvPr id="17" name="Text 14"/>
          <p:cNvSpPr/>
          <p:nvPr/>
        </p:nvSpPr>
        <p:spPr>
          <a:xfrm>
            <a:off x="859536" y="5715000"/>
            <a:ext cx="5477256"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6.65 m SPAN · ADOPTED L/200 = 33.25 mm</a:t>
            </a:r>
            <a:endParaRPr lang="en-US" sz="1400" dirty="0"/>
          </a:p>
        </p:txBody>
      </p:sp>
      <p:sp>
        <p:nvSpPr>
          <p:cNvPr id="18" name="Shape 15"/>
          <p:cNvSpPr/>
          <p:nvPr/>
        </p:nvSpPr>
        <p:spPr>
          <a:xfrm>
            <a:off x="7406640" y="2231136"/>
            <a:ext cx="4050792" cy="3529584"/>
          </a:xfrm>
          <a:prstGeom prst="rect">
            <a:avLst>
              <a:gd name="adj" fmla="val 2591"/>
            </a:avLst>
          </a:prstGeom>
          <a:solidFill>
            <a:srgbClr val="EDF1E9"/>
          </a:solidFill>
          <a:ln w="7620">
            <a:solidFill>
              <a:srgbClr val="D9DDD2"/>
            </a:solidFill>
            <a:prstDash val="solid"/>
          </a:ln>
        </p:spPr>
      </p:sp>
      <p:sp>
        <p:nvSpPr>
          <p:cNvPr id="19" name="Text 16"/>
          <p:cNvSpPr/>
          <p:nvPr/>
        </p:nvSpPr>
        <p:spPr>
          <a:xfrm>
            <a:off x="7589520" y="2414016"/>
            <a:ext cx="3685032" cy="402336"/>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PROPOSED SUPPORT-HEAD NODE</a:t>
            </a:r>
            <a:endParaRPr lang="en-US" sz="1600" dirty="0"/>
          </a:p>
        </p:txBody>
      </p:sp>
      <p:sp>
        <p:nvSpPr>
          <p:cNvPr id="20" name="Shape 17"/>
          <p:cNvSpPr/>
          <p:nvPr/>
        </p:nvSpPr>
        <p:spPr>
          <a:xfrm>
            <a:off x="8229600" y="4736592"/>
            <a:ext cx="0" cy="-1344168"/>
          </a:xfrm>
          <a:prstGeom prst="line">
            <a:avLst/>
          </a:prstGeom>
          <a:noFill/>
          <a:ln w="165100">
            <a:solidFill>
              <a:srgbClr val="3E6E9E"/>
            </a:solidFill>
            <a:prstDash val="solid"/>
          </a:ln>
        </p:spPr>
      </p:sp>
      <p:sp>
        <p:nvSpPr>
          <p:cNvPr id="21" name="Shape 18"/>
          <p:cNvSpPr/>
          <p:nvPr/>
        </p:nvSpPr>
        <p:spPr>
          <a:xfrm>
            <a:off x="8229600" y="3392424"/>
            <a:ext cx="2212848" cy="-466344"/>
          </a:xfrm>
          <a:prstGeom prst="line">
            <a:avLst/>
          </a:prstGeom>
          <a:noFill/>
          <a:ln w="139700">
            <a:solidFill>
              <a:srgbClr val="AA7E4A"/>
            </a:solidFill>
            <a:prstDash val="solid"/>
          </a:ln>
        </p:spPr>
      </p:sp>
      <p:sp>
        <p:nvSpPr>
          <p:cNvPr id="22" name="Shape 19"/>
          <p:cNvSpPr/>
          <p:nvPr/>
        </p:nvSpPr>
        <p:spPr>
          <a:xfrm>
            <a:off x="7973568" y="3209544"/>
            <a:ext cx="566928" cy="384048"/>
          </a:xfrm>
          <a:prstGeom prst="rect">
            <a:avLst>
              <a:gd name="adj" fmla="val 23810"/>
            </a:avLst>
          </a:prstGeom>
          <a:solidFill>
            <a:srgbClr val="CED8DD"/>
          </a:solidFill>
          <a:ln w="7620">
            <a:solidFill>
              <a:srgbClr val="3E6E9E"/>
            </a:solidFill>
            <a:prstDash val="solid"/>
          </a:ln>
        </p:spPr>
      </p:sp>
      <p:sp>
        <p:nvSpPr>
          <p:cNvPr id="23" name="Shape 20"/>
          <p:cNvSpPr/>
          <p:nvPr/>
        </p:nvSpPr>
        <p:spPr>
          <a:xfrm>
            <a:off x="8083296" y="3273552"/>
            <a:ext cx="137160" cy="137160"/>
          </a:xfrm>
          <a:prstGeom prst="ellipse">
            <a:avLst/>
          </a:prstGeom>
          <a:solidFill>
            <a:srgbClr val="F8F7F2"/>
          </a:solidFill>
          <a:ln w="12700">
            <a:solidFill>
              <a:srgbClr val="173C51"/>
            </a:solidFill>
            <a:prstDash val="solid"/>
          </a:ln>
        </p:spPr>
      </p:sp>
      <p:sp>
        <p:nvSpPr>
          <p:cNvPr id="24" name="Text 21"/>
          <p:cNvSpPr/>
          <p:nvPr/>
        </p:nvSpPr>
        <p:spPr>
          <a:xfrm>
            <a:off x="7616952" y="4864608"/>
            <a:ext cx="3639312" cy="539496"/>
          </a:xfrm>
          <a:prstGeom prst="rect">
            <a:avLst/>
          </a:prstGeom>
          <a:noFill/>
          <a:ln/>
        </p:spPr>
        <p:txBody>
          <a:bodyPr wrap="square" lIns="0" tIns="0" rIns="0" bIns="0" rtlCol="0" anchor="ctr"/>
          <a:lstStyle/>
          <a:p>
            <a:pPr indent="0" marL="0">
              <a:buNone/>
            </a:pPr>
            <a:r>
              <a:rPr lang="en-US" sz="1500" dirty="0">
                <a:solidFill>
                  <a:srgbClr val="34434A"/>
                </a:solidFill>
                <a:latin typeface="Noto Sans" pitchFamily="34" charset="0"/>
                <a:ea typeface="Noto Sans" pitchFamily="34" charset="-122"/>
                <a:cs typeface="Noto Sans" pitchFamily="34" charset="-120"/>
              </a:rPr>
              <a:t>Node plate + sleeve + structural adhesive</a:t>
            </a:r>
            <a:endParaRPr lang="en-US" sz="1500" dirty="0"/>
          </a:p>
          <a:p>
            <a:pPr indent="0" marL="0">
              <a:buNone/>
            </a:pPr>
            <a:r>
              <a:rPr lang="en-US" sz="1500" dirty="0">
                <a:solidFill>
                  <a:srgbClr val="34434A"/>
                </a:solidFill>
                <a:latin typeface="Noto Sans" pitchFamily="34" charset="0"/>
                <a:ea typeface="Noto Sans" pitchFamily="34" charset="-122"/>
                <a:cs typeface="Noto Sans" pitchFamily="34" charset="-120"/>
              </a:rPr>
              <a:t>with high-strength bolts</a:t>
            </a:r>
            <a:endParaRPr lang="en-US" sz="1500" dirty="0"/>
          </a:p>
        </p:txBody>
      </p:sp>
      <p:sp>
        <p:nvSpPr>
          <p:cNvPr id="25" name="Text 22"/>
          <p:cNvSpPr/>
          <p:nvPr/>
        </p:nvSpPr>
        <p:spPr>
          <a:xfrm>
            <a:off x="7443216" y="5879592"/>
            <a:ext cx="3995928" cy="246888"/>
          </a:xfrm>
          <a:prstGeom prst="rect">
            <a:avLst/>
          </a:prstGeom>
          <a:noFill/>
          <a:ln/>
        </p:spPr>
        <p:txBody>
          <a:bodyPr wrap="square" lIns="0" tIns="0" rIns="0" bIns="0" rtlCol="0" anchor="ctr"/>
          <a:lstStyle/>
          <a:p>
            <a:pPr indent="0" marL="0">
              <a:buNone/>
            </a:pPr>
            <a:r>
              <a:rPr lang="en-US" sz="1200" dirty="0">
                <a:solidFill>
                  <a:srgbClr val="66736D"/>
                </a:solidFill>
                <a:latin typeface="Noto Sans" pitchFamily="34" charset="0"/>
                <a:ea typeface="Noto Sans" pitchFamily="34" charset="-122"/>
                <a:cs typeface="Noto Sans" pitchFamily="34" charset="-120"/>
              </a:rPr>
              <a:t>Concept only; rotational restraint must be verified.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BUDGET</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The unit budget includes fabrication, installation and care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Preliminary total: CNY 51,676 per unit—not simply the price of the members.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 Cost-Analysis.xlsx (P3). All rates remain reference estimates rather than confirmed quotations.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08</a:t>
            </a:r>
            <a:endParaRPr lang="en-US" sz="1000" dirty="0"/>
          </a:p>
        </p:txBody>
      </p:sp>
      <p:graphicFrame>
        <p:nvGraphicFramePr>
          <p:cNvPr id="15" name="Chart 0" descr=""/>
          <p:cNvGraphicFramePr/>
          <p:nvPr/>
        </p:nvGraphicFramePr>
        <p:xfrm>
          <a:off x="530352" y="2029968"/>
          <a:ext cx="6446520" cy="3877056"/>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7324344" y="2084832"/>
            <a:ext cx="4050792" cy="411480"/>
          </a:xfrm>
          <a:prstGeom prst="rect">
            <a:avLst>
              <a:gd name="adj" fmla="val 22222"/>
            </a:avLst>
          </a:prstGeom>
          <a:solidFill>
            <a:srgbClr val="EDF1E9"/>
          </a:solidFill>
          <a:ln w="7620">
            <a:solidFill>
              <a:srgbClr val="EDF1E9"/>
            </a:solidFill>
            <a:prstDash val="solid"/>
          </a:ln>
        </p:spPr>
      </p:sp>
      <p:sp>
        <p:nvSpPr>
          <p:cNvPr id="17" name="Text 14"/>
          <p:cNvSpPr/>
          <p:nvPr/>
        </p:nvSpPr>
        <p:spPr>
          <a:xfrm>
            <a:off x="7434072" y="2148840"/>
            <a:ext cx="3831336"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MATERIALS = 59.1% OF TOTAL</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42632" y="2798064"/>
          <a:ext cx="4050792" cy="914400"/>
        </p:xfrm>
        <a:graphic>
          <a:graphicData uri="http://schemas.openxmlformats.org/drawingml/2006/table">
            <a:tbl>
              <a:tblPr/>
              <a:tblGrid>
                <a:gridCol w="2898648"/>
                <a:gridCol w="1152144"/>
              </a:tblGrid>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KEY COMPONENT</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CNY</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Bamboo crown</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7,716</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Steel supports</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4,421</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12 rigid-head nodes</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12,000</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Counterweight</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50" dirty="0">
                          <a:solidFill>
                            <a:srgbClr val="34434A"/>
                          </a:solidFill>
                          <a:latin typeface="Noto Sans" pitchFamily="34" charset="0"/>
                          <a:ea typeface="Noto Sans" pitchFamily="34" charset="-122"/>
                          <a:cs typeface="Noto Sans" pitchFamily="34" charset="-120"/>
                        </a:rPr>
                        <a:t>3,402</a:t>
                      </a:r>
                      <a:endParaRPr lang="en-US" sz="15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9" name="Text 15"/>
          <p:cNvSpPr/>
          <p:nvPr/>
        </p:nvSpPr>
        <p:spPr>
          <a:xfrm>
            <a:off x="7370064" y="5495544"/>
            <a:ext cx="3986784" cy="603504"/>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These component rows are part of the full total. Nodes are a larger allowance than the primary steel members.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CARBON &amp; MAINTENANCE</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Account for the members, base and maintenance needs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Current carbon estimate: approximately 2,820 kgCO₂e per unit.</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Workbook estimate (P3). Factor boundaries and node inclusion require checking; no biogenic-carbon credit is taken.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09</a:t>
            </a:r>
            <a:endParaRPr lang="en-US" sz="1000" dirty="0"/>
          </a:p>
        </p:txBody>
      </p:sp>
      <p:graphicFrame>
        <p:nvGraphicFramePr>
          <p:cNvPr id="15" name="Chart 0" descr=""/>
          <p:cNvGraphicFramePr/>
          <p:nvPr/>
        </p:nvGraphicFramePr>
        <p:xfrm>
          <a:off x="530352" y="2039112"/>
          <a:ext cx="5431536" cy="342900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p:nvPr/>
        </p:nvSpPr>
        <p:spPr>
          <a:xfrm>
            <a:off x="1481328" y="3255264"/>
            <a:ext cx="3502152" cy="566928"/>
          </a:xfrm>
          <a:prstGeom prst="rect">
            <a:avLst/>
          </a:prstGeom>
          <a:noFill/>
          <a:ln/>
        </p:spPr>
        <p:txBody>
          <a:bodyPr wrap="square" lIns="0" tIns="0" rIns="0" bIns="0" rtlCol="0" anchor="ctr"/>
          <a:lstStyle/>
          <a:p>
            <a:pPr algn="ctr" indent="0" marL="0">
              <a:buNone/>
            </a:pPr>
            <a:r>
              <a:rPr lang="en-US" sz="3000" b="1" dirty="0">
                <a:solidFill>
                  <a:srgbClr val="173C51"/>
                </a:solidFill>
                <a:latin typeface="Noto Serif" pitchFamily="34" charset="0"/>
                <a:ea typeface="Noto Serif" pitchFamily="34" charset="-122"/>
                <a:cs typeface="Noto Serif" pitchFamily="34" charset="-120"/>
              </a:rPr>
              <a:t>≈ 2,820</a:t>
            </a:r>
            <a:endParaRPr lang="en-US" sz="3000" dirty="0"/>
          </a:p>
        </p:txBody>
      </p:sp>
      <p:sp>
        <p:nvSpPr>
          <p:cNvPr id="17" name="Text 14"/>
          <p:cNvSpPr/>
          <p:nvPr/>
        </p:nvSpPr>
        <p:spPr>
          <a:xfrm>
            <a:off x="1572768" y="3822192"/>
            <a:ext cx="3319272" cy="246888"/>
          </a:xfrm>
          <a:prstGeom prst="rect">
            <a:avLst/>
          </a:prstGeom>
          <a:noFill/>
          <a:ln/>
        </p:spPr>
        <p:txBody>
          <a:bodyPr wrap="square" lIns="0" tIns="0" rIns="0" bIns="0" rtlCol="0" anchor="ctr"/>
          <a:lstStyle/>
          <a:p>
            <a:pPr algn="ctr" indent="0" marL="0">
              <a:buNone/>
            </a:pPr>
            <a:r>
              <a:rPr lang="en-US" sz="1600" dirty="0">
                <a:solidFill>
                  <a:srgbClr val="66736D"/>
                </a:solidFill>
                <a:latin typeface="Noto Sans" pitchFamily="34" charset="0"/>
                <a:ea typeface="Noto Sans" pitchFamily="34" charset="-122"/>
                <a:cs typeface="Noto Sans" pitchFamily="34" charset="-120"/>
              </a:rPr>
              <a:t>kgCO₂e / unit</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0" y="2331720"/>
          <a:ext cx="5010912" cy="914400"/>
        </p:xfrm>
        <a:graphic>
          <a:graphicData uri="http://schemas.openxmlformats.org/drawingml/2006/table">
            <a:tbl>
              <a:tblPr/>
              <a:tblGrid>
                <a:gridCol w="3657600"/>
                <a:gridCol w="1353312"/>
              </a:tblGrid>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CONTRIBUTOR</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kgCO₂e</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Primary members</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1,581</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Counterweight</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1,089</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557784">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Other components</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150</a:t>
                      </a:r>
                      <a:endParaRPr lang="en-US" sz="17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9" name="Text 15"/>
          <p:cNvSpPr/>
          <p:nvPr/>
        </p:nvSpPr>
        <p:spPr>
          <a:xfrm>
            <a:off x="6437376" y="4791456"/>
            <a:ext cx="4937760" cy="356616"/>
          </a:xfrm>
          <a:prstGeom prst="rect">
            <a:avLst/>
          </a:prstGeom>
          <a:noFill/>
          <a:ln/>
        </p:spPr>
        <p:txBody>
          <a:bodyPr wrap="square" lIns="0" tIns="0" rIns="0" bIns="0" rtlCol="0" anchor="ctr"/>
          <a:lstStyle/>
          <a:p>
            <a:pPr indent="0" marL="0">
              <a:buNone/>
            </a:pPr>
            <a:r>
              <a:rPr lang="en-US" sz="1800" b="1" dirty="0">
                <a:solidFill>
                  <a:srgbClr val="346A55"/>
                </a:solidFill>
                <a:latin typeface="Noto Sans" pitchFamily="34" charset="0"/>
                <a:ea typeface="Noto Sans" pitchFamily="34" charset="-122"/>
                <a:cs typeface="Noto Sans" pitchFamily="34" charset="-120"/>
              </a:rPr>
              <a:t>Counterweight ≈ 39% of the current estimate</a:t>
            </a:r>
            <a:endParaRPr lang="en-US" sz="18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713232" y="5541264"/>
          <a:ext cx="10771632" cy="914400"/>
        </p:xfrm>
        <a:graphic>
          <a:graphicData uri="http://schemas.openxmlformats.org/drawingml/2006/table">
            <a:tbl>
              <a:tblPr/>
              <a:tblGrid>
                <a:gridCol w="3566160"/>
                <a:gridCol w="3566160"/>
                <a:gridCol w="3639312"/>
              </a:tblGrid>
              <a:tr h="301752">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STEEL</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BAMBOO</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CONNECTIONS</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01752">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Protect coating</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Treat and inspect</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50" dirty="0">
                          <a:solidFill>
                            <a:srgbClr val="34434A"/>
                          </a:solidFill>
                          <a:latin typeface="Noto Sans" pitchFamily="34" charset="0"/>
                          <a:ea typeface="Noto Sans" pitchFamily="34" charset="-122"/>
                          <a:cs typeface="Noto Sans" pitchFamily="34" charset="-120"/>
                        </a:rPr>
                        <a:t>Check fixings and grout</a:t>
                      </a:r>
                      <a:endParaRPr lang="en-US" sz="145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PLANTING STRATEGY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Keep the planting mix conditional on the site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Source proposal: 2 Boston ivy + 1 Rangoon creeper per unit; trumpet creeper is an alternative.</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planting screen P3. Botanical traits need site/nursery confirmation. No measured annual growth rate is adopted.</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10</a:t>
            </a:r>
            <a:endParaRPr lang="en-US" sz="1000" dirty="0"/>
          </a:p>
        </p:txBody>
      </p:sp>
      <p:sp>
        <p:nvSpPr>
          <p:cNvPr id="15" name="Shape 13"/>
          <p:cNvSpPr/>
          <p:nvPr/>
        </p:nvSpPr>
        <p:spPr>
          <a:xfrm>
            <a:off x="621792" y="2148840"/>
            <a:ext cx="3602736" cy="2926080"/>
          </a:xfrm>
          <a:prstGeom prst="rect">
            <a:avLst>
              <a:gd name="adj" fmla="val 3125"/>
            </a:avLst>
          </a:prstGeom>
          <a:solidFill>
            <a:srgbClr val="EDF1E9"/>
          </a:solidFill>
          <a:ln w="7620">
            <a:solidFill>
              <a:srgbClr val="D9DDD2"/>
            </a:solidFill>
            <a:prstDash val="solid"/>
          </a:ln>
        </p:spPr>
      </p:sp>
      <p:sp>
        <p:nvSpPr>
          <p:cNvPr id="16" name="Text 14"/>
          <p:cNvSpPr/>
          <p:nvPr/>
        </p:nvSpPr>
        <p:spPr>
          <a:xfrm>
            <a:off x="804672" y="2331720"/>
            <a:ext cx="3236976" cy="22860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PRIMARY • 2 PLANTS</a:t>
            </a:r>
            <a:endParaRPr lang="en-US" sz="1300" dirty="0"/>
          </a:p>
        </p:txBody>
      </p:sp>
      <p:sp>
        <p:nvSpPr>
          <p:cNvPr id="17" name="Text 15"/>
          <p:cNvSpPr/>
          <p:nvPr/>
        </p:nvSpPr>
        <p:spPr>
          <a:xfrm>
            <a:off x="804672" y="2770632"/>
            <a:ext cx="3236976" cy="356616"/>
          </a:xfrm>
          <a:prstGeom prst="rect">
            <a:avLst/>
          </a:prstGeom>
          <a:noFill/>
          <a:ln/>
        </p:spPr>
        <p:txBody>
          <a:bodyPr wrap="square" lIns="0" tIns="0" rIns="0" bIns="0" rtlCol="0" anchor="ctr"/>
          <a:lstStyle/>
          <a:p>
            <a:pPr indent="0" marL="0">
              <a:buNone/>
            </a:pPr>
            <a:r>
              <a:rPr lang="en-US" sz="2300" b="1" dirty="0">
                <a:solidFill>
                  <a:srgbClr val="173C51"/>
                </a:solidFill>
                <a:latin typeface="Noto Serif" pitchFamily="34" charset="0"/>
                <a:ea typeface="Noto Serif" pitchFamily="34" charset="-122"/>
                <a:cs typeface="Noto Serif" pitchFamily="34" charset="-120"/>
              </a:rPr>
              <a:t>Boston ivy</a:t>
            </a:r>
            <a:endParaRPr lang="en-US" sz="2300" dirty="0"/>
          </a:p>
        </p:txBody>
      </p:sp>
      <p:sp>
        <p:nvSpPr>
          <p:cNvPr id="18" name="Text 16"/>
          <p:cNvSpPr/>
          <p:nvPr/>
        </p:nvSpPr>
        <p:spPr>
          <a:xfrm>
            <a:off x="804672" y="3264408"/>
            <a:ext cx="3236976" cy="347472"/>
          </a:xfrm>
          <a:prstGeom prst="rect">
            <a:avLst/>
          </a:prstGeom>
          <a:noFill/>
          <a:ln/>
        </p:spPr>
        <p:txBody>
          <a:bodyPr wrap="square" lIns="0" tIns="0" rIns="0" bIns="0" rtlCol="0" anchor="ctr"/>
          <a:lstStyle/>
          <a:p>
            <a:pPr indent="0" marL="0">
              <a:buNone/>
            </a:pPr>
            <a:r>
              <a:rPr lang="en-US" sz="1400" i="1" dirty="0">
                <a:solidFill>
                  <a:srgbClr val="66736D"/>
                </a:solidFill>
                <a:latin typeface="Noto Sans" pitchFamily="34" charset="0"/>
                <a:ea typeface="Noto Sans" pitchFamily="34" charset="-122"/>
                <a:cs typeface="Noto Sans" pitchFamily="34" charset="-120"/>
              </a:rPr>
              <a:t>Parthenocissus tricuspidata</a:t>
            </a:r>
            <a:endParaRPr lang="en-US" sz="1400" dirty="0"/>
          </a:p>
        </p:txBody>
      </p:sp>
      <p:sp>
        <p:nvSpPr>
          <p:cNvPr id="19" name="Text 17"/>
          <p:cNvSpPr/>
          <p:nvPr/>
        </p:nvSpPr>
        <p:spPr>
          <a:xfrm>
            <a:off x="804672" y="3776472"/>
            <a:ext cx="3236976" cy="9692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Deciduous: summer leaf cover, winter leaf loss. Adhesive tendrils; train and check grip on the support.</a:t>
            </a:r>
            <a:endParaRPr lang="en-US" sz="1600" dirty="0"/>
          </a:p>
        </p:txBody>
      </p:sp>
      <p:sp>
        <p:nvSpPr>
          <p:cNvPr id="20" name="Shape 18"/>
          <p:cNvSpPr/>
          <p:nvPr/>
        </p:nvSpPr>
        <p:spPr>
          <a:xfrm>
            <a:off x="4416552" y="2148840"/>
            <a:ext cx="3602736" cy="2926080"/>
          </a:xfrm>
          <a:prstGeom prst="rect">
            <a:avLst>
              <a:gd name="adj" fmla="val 3125"/>
            </a:avLst>
          </a:prstGeom>
          <a:solidFill>
            <a:srgbClr val="EDF1E9"/>
          </a:solidFill>
          <a:ln w="7620">
            <a:solidFill>
              <a:srgbClr val="D9DDD2"/>
            </a:solidFill>
            <a:prstDash val="solid"/>
          </a:ln>
        </p:spPr>
      </p:sp>
      <p:sp>
        <p:nvSpPr>
          <p:cNvPr id="21" name="Text 19"/>
          <p:cNvSpPr/>
          <p:nvPr/>
        </p:nvSpPr>
        <p:spPr>
          <a:xfrm>
            <a:off x="4599432" y="2331720"/>
            <a:ext cx="3236976" cy="22860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COMPANION • 1 PLANT</a:t>
            </a:r>
            <a:endParaRPr lang="en-US" sz="1300" dirty="0"/>
          </a:p>
        </p:txBody>
      </p:sp>
      <p:sp>
        <p:nvSpPr>
          <p:cNvPr id="22" name="Text 20"/>
          <p:cNvSpPr/>
          <p:nvPr/>
        </p:nvSpPr>
        <p:spPr>
          <a:xfrm>
            <a:off x="4599432" y="2770632"/>
            <a:ext cx="3236976" cy="356616"/>
          </a:xfrm>
          <a:prstGeom prst="rect">
            <a:avLst/>
          </a:prstGeom>
          <a:noFill/>
          <a:ln/>
        </p:spPr>
        <p:txBody>
          <a:bodyPr wrap="square" lIns="0" tIns="0" rIns="0" bIns="0" rtlCol="0" anchor="ctr"/>
          <a:lstStyle/>
          <a:p>
            <a:pPr indent="0" marL="0">
              <a:buNone/>
            </a:pPr>
            <a:r>
              <a:rPr lang="en-US" sz="2300" b="1" dirty="0">
                <a:solidFill>
                  <a:srgbClr val="173C51"/>
                </a:solidFill>
                <a:latin typeface="Noto Serif" pitchFamily="34" charset="0"/>
                <a:ea typeface="Noto Serif" pitchFamily="34" charset="-122"/>
                <a:cs typeface="Noto Serif" pitchFamily="34" charset="-120"/>
              </a:rPr>
              <a:t>Rangoon creeper</a:t>
            </a:r>
            <a:endParaRPr lang="en-US" sz="2300" dirty="0"/>
          </a:p>
        </p:txBody>
      </p:sp>
      <p:sp>
        <p:nvSpPr>
          <p:cNvPr id="23" name="Text 21"/>
          <p:cNvSpPr/>
          <p:nvPr/>
        </p:nvSpPr>
        <p:spPr>
          <a:xfrm>
            <a:off x="4599432" y="3264408"/>
            <a:ext cx="3236976" cy="347472"/>
          </a:xfrm>
          <a:prstGeom prst="rect">
            <a:avLst/>
          </a:prstGeom>
          <a:noFill/>
          <a:ln/>
        </p:spPr>
        <p:txBody>
          <a:bodyPr wrap="square" lIns="0" tIns="0" rIns="0" bIns="0" rtlCol="0" anchor="ctr"/>
          <a:lstStyle/>
          <a:p>
            <a:pPr indent="0" marL="0">
              <a:buNone/>
            </a:pPr>
            <a:r>
              <a:rPr lang="en-US" sz="1400" i="1" dirty="0">
                <a:solidFill>
                  <a:srgbClr val="66736D"/>
                </a:solidFill>
                <a:latin typeface="Noto Sans" pitchFamily="34" charset="0"/>
                <a:ea typeface="Noto Sans" pitchFamily="34" charset="-122"/>
                <a:cs typeface="Noto Sans" pitchFamily="34" charset="-120"/>
              </a:rPr>
              <a:t>Combretum indicum</a:t>
            </a:r>
            <a:endParaRPr lang="en-US" sz="1400" dirty="0"/>
          </a:p>
        </p:txBody>
      </p:sp>
      <p:sp>
        <p:nvSpPr>
          <p:cNvPr id="24" name="Text 22"/>
          <p:cNvSpPr/>
          <p:nvPr/>
        </p:nvSpPr>
        <p:spPr>
          <a:xfrm>
            <a:off x="4599432" y="3776472"/>
            <a:ext cx="3236976" cy="9692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Warm-climate climber. Check winter survival before adoption; provide guides and routine tying.</a:t>
            </a:r>
            <a:endParaRPr lang="en-US" sz="1600" dirty="0"/>
          </a:p>
        </p:txBody>
      </p:sp>
      <p:sp>
        <p:nvSpPr>
          <p:cNvPr id="25" name="Shape 23"/>
          <p:cNvSpPr/>
          <p:nvPr/>
        </p:nvSpPr>
        <p:spPr>
          <a:xfrm>
            <a:off x="8211312" y="2148840"/>
            <a:ext cx="3602736" cy="2926080"/>
          </a:xfrm>
          <a:prstGeom prst="rect">
            <a:avLst>
              <a:gd name="adj" fmla="val 3125"/>
            </a:avLst>
          </a:prstGeom>
          <a:solidFill>
            <a:srgbClr val="EDF1E9"/>
          </a:solidFill>
          <a:ln w="7620">
            <a:solidFill>
              <a:srgbClr val="D9DDD2"/>
            </a:solidFill>
            <a:prstDash val="solid"/>
          </a:ln>
        </p:spPr>
      </p:sp>
      <p:sp>
        <p:nvSpPr>
          <p:cNvPr id="26" name="Text 24"/>
          <p:cNvSpPr/>
          <p:nvPr/>
        </p:nvSpPr>
        <p:spPr>
          <a:xfrm>
            <a:off x="8394192" y="2331720"/>
            <a:ext cx="3236976" cy="22860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ALTERNATIVE</a:t>
            </a:r>
            <a:endParaRPr lang="en-US" sz="1300" dirty="0"/>
          </a:p>
        </p:txBody>
      </p:sp>
      <p:sp>
        <p:nvSpPr>
          <p:cNvPr id="27" name="Text 25"/>
          <p:cNvSpPr/>
          <p:nvPr/>
        </p:nvSpPr>
        <p:spPr>
          <a:xfrm>
            <a:off x="8394192" y="2770632"/>
            <a:ext cx="3236976" cy="356616"/>
          </a:xfrm>
          <a:prstGeom prst="rect">
            <a:avLst/>
          </a:prstGeom>
          <a:noFill/>
          <a:ln/>
        </p:spPr>
        <p:txBody>
          <a:bodyPr wrap="square" lIns="0" tIns="0" rIns="0" bIns="0" rtlCol="0" anchor="ctr"/>
          <a:lstStyle/>
          <a:p>
            <a:pPr indent="0" marL="0">
              <a:buNone/>
            </a:pPr>
            <a:r>
              <a:rPr lang="en-US" sz="2300" b="1" dirty="0">
                <a:solidFill>
                  <a:srgbClr val="173C51"/>
                </a:solidFill>
                <a:latin typeface="Noto Serif" pitchFamily="34" charset="0"/>
                <a:ea typeface="Noto Serif" pitchFamily="34" charset="-122"/>
                <a:cs typeface="Noto Serif" pitchFamily="34" charset="-120"/>
              </a:rPr>
              <a:t>Trumpet creeper</a:t>
            </a:r>
            <a:endParaRPr lang="en-US" sz="2300" dirty="0"/>
          </a:p>
        </p:txBody>
      </p:sp>
      <p:sp>
        <p:nvSpPr>
          <p:cNvPr id="28" name="Text 26"/>
          <p:cNvSpPr/>
          <p:nvPr/>
        </p:nvSpPr>
        <p:spPr>
          <a:xfrm>
            <a:off x="8394192" y="3264408"/>
            <a:ext cx="3236976" cy="347472"/>
          </a:xfrm>
          <a:prstGeom prst="rect">
            <a:avLst/>
          </a:prstGeom>
          <a:noFill/>
          <a:ln/>
        </p:spPr>
        <p:txBody>
          <a:bodyPr wrap="square" lIns="0" tIns="0" rIns="0" bIns="0" rtlCol="0" anchor="ctr"/>
          <a:lstStyle/>
          <a:p>
            <a:pPr indent="0" marL="0">
              <a:buNone/>
            </a:pPr>
            <a:r>
              <a:rPr lang="en-US" sz="1400" i="1" dirty="0">
                <a:solidFill>
                  <a:srgbClr val="66736D"/>
                </a:solidFill>
                <a:latin typeface="Noto Sans" pitchFamily="34" charset="0"/>
                <a:ea typeface="Noto Sans" pitchFamily="34" charset="-122"/>
                <a:cs typeface="Noto Sans" pitchFamily="34" charset="-120"/>
              </a:rPr>
              <a:t>Campsis grandiflora*</a:t>
            </a:r>
            <a:endParaRPr lang="en-US" sz="1400" dirty="0"/>
          </a:p>
        </p:txBody>
      </p:sp>
      <p:sp>
        <p:nvSpPr>
          <p:cNvPr id="29" name="Text 27"/>
          <p:cNvSpPr/>
          <p:nvPr/>
        </p:nvSpPr>
        <p:spPr>
          <a:xfrm>
            <a:off x="8394192" y="3776472"/>
            <a:ext cx="3236976" cy="9692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Vigorous woody climber; check roots, pruning demand and attachment. Confirm nursery species.</a:t>
            </a:r>
            <a:endParaRPr lang="en-US" sz="1600" dirty="0"/>
          </a:p>
        </p:txBody>
      </p:sp>
      <p:sp>
        <p:nvSpPr>
          <p:cNvPr id="30" name="Text 28"/>
          <p:cNvSpPr/>
          <p:nvPr/>
        </p:nvSpPr>
        <p:spPr>
          <a:xfrm>
            <a:off x="713232" y="5376672"/>
            <a:ext cx="2011680" cy="265176"/>
          </a:xfrm>
          <a:prstGeom prst="rect">
            <a:avLst/>
          </a:prstGeom>
          <a:noFill/>
          <a:ln/>
        </p:spPr>
        <p:txBody>
          <a:bodyPr wrap="square" lIns="0" tIns="0" rIns="0" bIns="0" rtlCol="0" anchor="ctr"/>
          <a:lstStyle/>
          <a:p>
            <a:pPr indent="0" marL="0">
              <a:buNone/>
            </a:pPr>
            <a:r>
              <a:rPr lang="en-US" sz="1500" b="1" dirty="0">
                <a:solidFill>
                  <a:srgbClr val="346A55"/>
                </a:solidFill>
                <a:latin typeface="Noto Sans" pitchFamily="34" charset="0"/>
                <a:ea typeface="Noto Sans" pitchFamily="34" charset="-122"/>
                <a:cs typeface="Noto Sans" pitchFamily="34" charset="-120"/>
              </a:rPr>
              <a:t>ROOTS + CARE</a:t>
            </a:r>
            <a:endParaRPr lang="en-US" sz="1500" dirty="0"/>
          </a:p>
        </p:txBody>
      </p:sp>
      <p:sp>
        <p:nvSpPr>
          <p:cNvPr id="31" name="Text 29"/>
          <p:cNvSpPr/>
          <p:nvPr/>
        </p:nvSpPr>
        <p:spPr>
          <a:xfrm>
            <a:off x="2761488" y="5376672"/>
            <a:ext cx="8503920" cy="365760"/>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Source allowance: 1.2 m³ substrate, drip irrigation, training and pruning.</a:t>
            </a:r>
            <a:endParaRPr lang="en-US" sz="1600" dirty="0"/>
          </a:p>
        </p:txBody>
      </p:sp>
      <p:sp>
        <p:nvSpPr>
          <p:cNvPr id="32" name="Text 30"/>
          <p:cNvSpPr/>
          <p:nvPr/>
        </p:nvSpPr>
        <p:spPr>
          <a:xfrm>
            <a:off x="713232" y="5971032"/>
            <a:ext cx="10744200" cy="274320"/>
          </a:xfrm>
          <a:prstGeom prst="rect">
            <a:avLst/>
          </a:prstGeom>
          <a:noFill/>
          <a:ln/>
        </p:spPr>
        <p:txBody>
          <a:bodyPr wrap="square" lIns="0" tIns="0" rIns="0" bIns="0" rtlCol="0" anchor="ctr"/>
          <a:lstStyle/>
          <a:p>
            <a:pPr indent="0" marL="0">
              <a:buNone/>
            </a:pPr>
            <a:r>
              <a:rPr lang="en-US" sz="1240" dirty="0">
                <a:solidFill>
                  <a:srgbClr val="66736D"/>
                </a:solidFill>
                <a:latin typeface="Noto Sans" pitchFamily="34" charset="0"/>
                <a:ea typeface="Noto Sans" pitchFamily="34" charset="-122"/>
                <a:cs typeface="Noto Sans" pitchFamily="34" charset="-120"/>
              </a:rPr>
              <a:t>*“Trumpet creeper” can refer to different Campsis species/hybrids. Nursery identification remains provisional.</a:t>
            </a:r>
            <a:endParaRPr lang="en-US" sz="12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PLANT ESTABLISHMENT</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From young climbers to a leafy crown</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Concept sequence: plant → climb → spread → maintain. Cover states are illustrative, not dated growth records.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P5 spatial-cover models reused as concept images. Time calculation P6: assumed rates only; crown coverage and opening are separate checks.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11</a:t>
            </a:r>
            <a:endParaRPr lang="en-US" sz="1000" dirty="0"/>
          </a:p>
        </p:txBody>
      </p:sp>
      <p:pic>
        <p:nvPicPr>
          <p:cNvPr id="15" name="Image 0" descr="/workspace/temp/presentation/v4/assets/cover-00.png">    </p:cNvPr>
          <p:cNvPicPr>
            <a:picLocks noChangeAspect="1"/>
          </p:cNvPicPr>
          <p:nvPr/>
        </p:nvPicPr>
        <p:blipFill>
          <a:blip r:embed="rId1"/>
          <a:stretch>
            <a:fillRect/>
          </a:stretch>
        </p:blipFill>
        <p:spPr>
          <a:xfrm>
            <a:off x="585216" y="2156372"/>
            <a:ext cx="2697480" cy="1950896"/>
          </a:xfrm>
          <a:prstGeom prst="rect">
            <a:avLst/>
          </a:prstGeom>
        </p:spPr>
      </p:pic>
      <p:sp>
        <p:nvSpPr>
          <p:cNvPr id="16" name="Text 13"/>
          <p:cNvSpPr/>
          <p:nvPr/>
        </p:nvSpPr>
        <p:spPr>
          <a:xfrm>
            <a:off x="585216" y="4242816"/>
            <a:ext cx="2697480" cy="274320"/>
          </a:xfrm>
          <a:prstGeom prst="rect">
            <a:avLst/>
          </a:prstGeom>
          <a:noFill/>
          <a:ln/>
        </p:spPr>
        <p:txBody>
          <a:bodyPr wrap="square" lIns="0" tIns="0" rIns="0" bIns="0" rtlCol="0" anchor="ctr"/>
          <a:lstStyle/>
          <a:p>
            <a:pPr algn="ctr" indent="0" marL="0">
              <a:buNone/>
            </a:pPr>
            <a:r>
              <a:rPr lang="en-US" sz="1400" b="1" dirty="0">
                <a:solidFill>
                  <a:srgbClr val="346A55"/>
                </a:solidFill>
                <a:latin typeface="Noto Sans" pitchFamily="34" charset="0"/>
                <a:ea typeface="Noto Sans" pitchFamily="34" charset="-122"/>
                <a:cs typeface="Noto Sans" pitchFamily="34" charset="-120"/>
              </a:rPr>
              <a:t>01  PLANT &amp; TRAIN</a:t>
            </a:r>
            <a:endParaRPr lang="en-US" sz="1400" dirty="0"/>
          </a:p>
        </p:txBody>
      </p:sp>
      <p:sp>
        <p:nvSpPr>
          <p:cNvPr id="17" name="Text 14"/>
          <p:cNvSpPr/>
          <p:nvPr/>
        </p:nvSpPr>
        <p:spPr>
          <a:xfrm>
            <a:off x="585216" y="4645152"/>
            <a:ext cx="2697480" cy="402336"/>
          </a:xfrm>
          <a:prstGeom prst="rect">
            <a:avLst/>
          </a:prstGeom>
          <a:noFill/>
          <a:ln/>
        </p:spPr>
        <p:txBody>
          <a:bodyPr wrap="square" lIns="0" tIns="0" rIns="0" bIns="0" rtlCol="0" anchor="ctr"/>
          <a:lstStyle/>
          <a:p>
            <a:pPr algn="ctr" indent="0" marL="0">
              <a:buNone/>
            </a:pPr>
            <a:r>
              <a:rPr lang="en-US" sz="1380" dirty="0">
                <a:solidFill>
                  <a:srgbClr val="34434A"/>
                </a:solidFill>
                <a:latin typeface="Noto Sans" pitchFamily="34" charset="0"/>
                <a:ea typeface="Noto Sans" pitchFamily="34" charset="-122"/>
                <a:cs typeface="Noto Sans" pitchFamily="34" charset="-120"/>
              </a:rPr>
              <a:t>Young plants; guides + water</a:t>
            </a:r>
            <a:endParaRPr lang="en-US" sz="1380" dirty="0"/>
          </a:p>
        </p:txBody>
      </p:sp>
      <p:sp>
        <p:nvSpPr>
          <p:cNvPr id="18" name="Shape 15"/>
          <p:cNvSpPr/>
          <p:nvPr/>
        </p:nvSpPr>
        <p:spPr>
          <a:xfrm>
            <a:off x="3191256" y="3026664"/>
            <a:ext cx="274320" cy="0"/>
          </a:xfrm>
          <a:prstGeom prst="line">
            <a:avLst/>
          </a:prstGeom>
          <a:noFill/>
          <a:ln w="19050">
            <a:solidFill>
              <a:srgbClr val="AA7E4A"/>
            </a:solidFill>
            <a:prstDash val="solid"/>
            <a:tailEnd type="triangle"/>
          </a:ln>
        </p:spPr>
      </p:sp>
      <p:pic>
        <p:nvPicPr>
          <p:cNvPr id="19" name="Image 1" descr="/workspace/temp/presentation/v4/assets/cover-20.png">    </p:cNvPr>
          <p:cNvPicPr>
            <a:picLocks noChangeAspect="1"/>
          </p:cNvPicPr>
          <p:nvPr/>
        </p:nvPicPr>
        <p:blipFill>
          <a:blip r:embed="rId2"/>
          <a:stretch>
            <a:fillRect/>
          </a:stretch>
        </p:blipFill>
        <p:spPr>
          <a:xfrm>
            <a:off x="3465576" y="2156372"/>
            <a:ext cx="2697480" cy="1950896"/>
          </a:xfrm>
          <a:prstGeom prst="rect">
            <a:avLst/>
          </a:prstGeom>
        </p:spPr>
      </p:pic>
      <p:sp>
        <p:nvSpPr>
          <p:cNvPr id="20" name="Text 16"/>
          <p:cNvSpPr/>
          <p:nvPr/>
        </p:nvSpPr>
        <p:spPr>
          <a:xfrm>
            <a:off x="3465576" y="4242816"/>
            <a:ext cx="2697480" cy="274320"/>
          </a:xfrm>
          <a:prstGeom prst="rect">
            <a:avLst/>
          </a:prstGeom>
          <a:noFill/>
          <a:ln/>
        </p:spPr>
        <p:txBody>
          <a:bodyPr wrap="square" lIns="0" tIns="0" rIns="0" bIns="0" rtlCol="0" anchor="ctr"/>
          <a:lstStyle/>
          <a:p>
            <a:pPr algn="ctr" indent="0" marL="0">
              <a:buNone/>
            </a:pPr>
            <a:r>
              <a:rPr lang="en-US" sz="1400" b="1" dirty="0">
                <a:solidFill>
                  <a:srgbClr val="346A55"/>
                </a:solidFill>
                <a:latin typeface="Noto Sans" pitchFamily="34" charset="0"/>
                <a:ea typeface="Noto Sans" pitchFamily="34" charset="-122"/>
                <a:cs typeface="Noto Sans" pitchFamily="34" charset="-120"/>
              </a:rPr>
              <a:t>02  REACH THE CROWN</a:t>
            </a:r>
            <a:endParaRPr lang="en-US" sz="1400" dirty="0"/>
          </a:p>
        </p:txBody>
      </p:sp>
      <p:sp>
        <p:nvSpPr>
          <p:cNvPr id="21" name="Text 17"/>
          <p:cNvSpPr/>
          <p:nvPr/>
        </p:nvSpPr>
        <p:spPr>
          <a:xfrm>
            <a:off x="3465576" y="4645152"/>
            <a:ext cx="2697480" cy="402336"/>
          </a:xfrm>
          <a:prstGeom prst="rect">
            <a:avLst/>
          </a:prstGeom>
          <a:noFill/>
          <a:ln/>
        </p:spPr>
        <p:txBody>
          <a:bodyPr wrap="square" lIns="0" tIns="0" rIns="0" bIns="0" rtlCol="0" anchor="ctr"/>
          <a:lstStyle/>
          <a:p>
            <a:pPr algn="ctr" indent="0" marL="0">
              <a:buNone/>
            </a:pPr>
            <a:r>
              <a:rPr lang="en-US" sz="1380" dirty="0">
                <a:solidFill>
                  <a:srgbClr val="34434A"/>
                </a:solidFill>
                <a:latin typeface="Noto Sans" pitchFamily="34" charset="0"/>
                <a:ea typeface="Noto Sans" pitchFamily="34" charset="-122"/>
                <a:cs typeface="Noto Sans" pitchFamily="34" charset="-120"/>
              </a:rPr>
              <a:t>Train along the supports</a:t>
            </a:r>
            <a:endParaRPr lang="en-US" sz="1380" dirty="0"/>
          </a:p>
        </p:txBody>
      </p:sp>
      <p:sp>
        <p:nvSpPr>
          <p:cNvPr id="22" name="Shape 18"/>
          <p:cNvSpPr/>
          <p:nvPr/>
        </p:nvSpPr>
        <p:spPr>
          <a:xfrm>
            <a:off x="6071616" y="3026664"/>
            <a:ext cx="274320" cy="0"/>
          </a:xfrm>
          <a:prstGeom prst="line">
            <a:avLst/>
          </a:prstGeom>
          <a:noFill/>
          <a:ln w="19050">
            <a:solidFill>
              <a:srgbClr val="AA7E4A"/>
            </a:solidFill>
            <a:prstDash val="solid"/>
            <a:tailEnd type="triangle"/>
          </a:ln>
        </p:spPr>
      </p:sp>
      <p:pic>
        <p:nvPicPr>
          <p:cNvPr id="23" name="Image 2" descr="/workspace/temp/presentation/v4/assets/cover-50.png">    </p:cNvPr>
          <p:cNvPicPr>
            <a:picLocks noChangeAspect="1"/>
          </p:cNvPicPr>
          <p:nvPr/>
        </p:nvPicPr>
        <p:blipFill>
          <a:blip r:embed="rId3"/>
          <a:stretch>
            <a:fillRect/>
          </a:stretch>
        </p:blipFill>
        <p:spPr>
          <a:xfrm>
            <a:off x="6345936" y="2156372"/>
            <a:ext cx="2697480" cy="1950896"/>
          </a:xfrm>
          <a:prstGeom prst="rect">
            <a:avLst/>
          </a:prstGeom>
        </p:spPr>
      </p:pic>
      <p:sp>
        <p:nvSpPr>
          <p:cNvPr id="24" name="Text 19"/>
          <p:cNvSpPr/>
          <p:nvPr/>
        </p:nvSpPr>
        <p:spPr>
          <a:xfrm>
            <a:off x="6345936" y="4242816"/>
            <a:ext cx="2697480" cy="274320"/>
          </a:xfrm>
          <a:prstGeom prst="rect">
            <a:avLst/>
          </a:prstGeom>
          <a:noFill/>
          <a:ln/>
        </p:spPr>
        <p:txBody>
          <a:bodyPr wrap="square" lIns="0" tIns="0" rIns="0" bIns="0" rtlCol="0" anchor="ctr"/>
          <a:lstStyle/>
          <a:p>
            <a:pPr algn="ctr" indent="0" marL="0">
              <a:buNone/>
            </a:pPr>
            <a:r>
              <a:rPr lang="en-US" sz="1400" b="1" dirty="0">
                <a:solidFill>
                  <a:srgbClr val="346A55"/>
                </a:solidFill>
                <a:latin typeface="Noto Sans" pitchFamily="34" charset="0"/>
                <a:ea typeface="Noto Sans" pitchFamily="34" charset="-122"/>
                <a:cs typeface="Noto Sans" pitchFamily="34" charset="-120"/>
              </a:rPr>
              <a:t>03  SPREAD LATERALLY</a:t>
            </a:r>
            <a:endParaRPr lang="en-US" sz="1400" dirty="0"/>
          </a:p>
        </p:txBody>
      </p:sp>
      <p:sp>
        <p:nvSpPr>
          <p:cNvPr id="25" name="Text 20"/>
          <p:cNvSpPr/>
          <p:nvPr/>
        </p:nvSpPr>
        <p:spPr>
          <a:xfrm>
            <a:off x="6345936" y="4645152"/>
            <a:ext cx="2697480" cy="402336"/>
          </a:xfrm>
          <a:prstGeom prst="rect">
            <a:avLst/>
          </a:prstGeom>
          <a:noFill/>
          <a:ln/>
        </p:spPr>
        <p:txBody>
          <a:bodyPr wrap="square" lIns="0" tIns="0" rIns="0" bIns="0" rtlCol="0" anchor="ctr"/>
          <a:lstStyle/>
          <a:p>
            <a:pPr algn="ctr" indent="0" marL="0">
              <a:buNone/>
            </a:pPr>
            <a:r>
              <a:rPr lang="en-US" sz="1380" dirty="0">
                <a:solidFill>
                  <a:srgbClr val="34434A"/>
                </a:solidFill>
                <a:latin typeface="Noto Sans" pitchFamily="34" charset="0"/>
                <a:ea typeface="Noto Sans" pitchFamily="34" charset="-122"/>
                <a:cs typeface="Noto Sans" pitchFamily="34" charset="-120"/>
              </a:rPr>
              <a:t>Branch across crown members</a:t>
            </a:r>
            <a:endParaRPr lang="en-US" sz="1380" dirty="0"/>
          </a:p>
        </p:txBody>
      </p:sp>
      <p:sp>
        <p:nvSpPr>
          <p:cNvPr id="26" name="Shape 21"/>
          <p:cNvSpPr/>
          <p:nvPr/>
        </p:nvSpPr>
        <p:spPr>
          <a:xfrm>
            <a:off x="8951976" y="3026664"/>
            <a:ext cx="274320" cy="0"/>
          </a:xfrm>
          <a:prstGeom prst="line">
            <a:avLst/>
          </a:prstGeom>
          <a:noFill/>
          <a:ln w="19050">
            <a:solidFill>
              <a:srgbClr val="AA7E4A"/>
            </a:solidFill>
            <a:prstDash val="solid"/>
            <a:tailEnd type="triangle"/>
          </a:ln>
        </p:spPr>
      </p:sp>
      <p:pic>
        <p:nvPicPr>
          <p:cNvPr id="27" name="Image 3" descr="/workspace/temp/presentation/v4/assets/cover-80.png">    </p:cNvPr>
          <p:cNvPicPr>
            <a:picLocks noChangeAspect="1"/>
          </p:cNvPicPr>
          <p:nvPr/>
        </p:nvPicPr>
        <p:blipFill>
          <a:blip r:embed="rId4"/>
          <a:stretch>
            <a:fillRect/>
          </a:stretch>
        </p:blipFill>
        <p:spPr>
          <a:xfrm>
            <a:off x="9226296" y="2156372"/>
            <a:ext cx="2697480" cy="1950896"/>
          </a:xfrm>
          <a:prstGeom prst="rect">
            <a:avLst/>
          </a:prstGeom>
        </p:spPr>
      </p:pic>
      <p:sp>
        <p:nvSpPr>
          <p:cNvPr id="28" name="Text 22"/>
          <p:cNvSpPr/>
          <p:nvPr/>
        </p:nvSpPr>
        <p:spPr>
          <a:xfrm>
            <a:off x="9226296" y="4242816"/>
            <a:ext cx="2697480" cy="274320"/>
          </a:xfrm>
          <a:prstGeom prst="rect">
            <a:avLst/>
          </a:prstGeom>
          <a:noFill/>
          <a:ln/>
        </p:spPr>
        <p:txBody>
          <a:bodyPr wrap="square" lIns="0" tIns="0" rIns="0" bIns="0" rtlCol="0" anchor="ctr"/>
          <a:lstStyle/>
          <a:p>
            <a:pPr algn="ctr" indent="0" marL="0">
              <a:buNone/>
            </a:pPr>
            <a:r>
              <a:rPr lang="en-US" sz="1400" b="1" dirty="0">
                <a:solidFill>
                  <a:srgbClr val="346A55"/>
                </a:solidFill>
                <a:latin typeface="Noto Sans" pitchFamily="34" charset="0"/>
                <a:ea typeface="Noto Sans" pitchFamily="34" charset="-122"/>
                <a:cs typeface="Noto Sans" pitchFamily="34" charset="-120"/>
              </a:rPr>
              <a:t>04  MAINTAIN SHADE</a:t>
            </a:r>
            <a:endParaRPr lang="en-US" sz="1400" dirty="0"/>
          </a:p>
        </p:txBody>
      </p:sp>
      <p:sp>
        <p:nvSpPr>
          <p:cNvPr id="29" name="Text 23"/>
          <p:cNvSpPr/>
          <p:nvPr/>
        </p:nvSpPr>
        <p:spPr>
          <a:xfrm>
            <a:off x="9226296" y="4645152"/>
            <a:ext cx="2697480" cy="402336"/>
          </a:xfrm>
          <a:prstGeom prst="rect">
            <a:avLst/>
          </a:prstGeom>
          <a:noFill/>
          <a:ln/>
        </p:spPr>
        <p:txBody>
          <a:bodyPr wrap="square" lIns="0" tIns="0" rIns="0" bIns="0" rtlCol="0" anchor="ctr"/>
          <a:lstStyle/>
          <a:p>
            <a:pPr algn="ctr" indent="0" marL="0">
              <a:buNone/>
            </a:pPr>
            <a:r>
              <a:rPr lang="en-US" sz="1380" dirty="0">
                <a:solidFill>
                  <a:srgbClr val="34434A"/>
                </a:solidFill>
                <a:latin typeface="Noto Sans" pitchFamily="34" charset="0"/>
                <a:ea typeface="Noto Sans" pitchFamily="34" charset="-122"/>
                <a:cs typeface="Noto Sans" pitchFamily="34" charset="-120"/>
              </a:rPr>
              <a:t>Prune, irrigate and inspect</a:t>
            </a:r>
            <a:endParaRPr lang="en-US" sz="1380" dirty="0"/>
          </a:p>
        </p:txBody>
      </p:sp>
      <p:sp>
        <p:nvSpPr>
          <p:cNvPr id="30" name="Shape 24"/>
          <p:cNvSpPr/>
          <p:nvPr/>
        </p:nvSpPr>
        <p:spPr>
          <a:xfrm>
            <a:off x="1783080" y="3822192"/>
            <a:ext cx="-9144" cy="-228600"/>
          </a:xfrm>
          <a:prstGeom prst="line">
            <a:avLst/>
          </a:prstGeom>
          <a:noFill/>
          <a:ln w="15240">
            <a:solidFill>
              <a:srgbClr val="346A55"/>
            </a:solidFill>
            <a:prstDash val="solid"/>
          </a:ln>
        </p:spPr>
      </p:sp>
      <p:sp>
        <p:nvSpPr>
          <p:cNvPr id="31" name="Shape 25"/>
          <p:cNvSpPr/>
          <p:nvPr/>
        </p:nvSpPr>
        <p:spPr>
          <a:xfrm rot="2100000">
            <a:off x="1728216" y="3639312"/>
            <a:ext cx="65837" cy="137160"/>
          </a:xfrm>
          <a:prstGeom prst="ellipse">
            <a:avLst/>
          </a:prstGeom>
          <a:solidFill>
            <a:srgbClr val="F8F7F2">
              <a:alpha val="60000"/>
            </a:srgbClr>
          </a:solidFill>
          <a:ln w="7620">
            <a:solidFill>
              <a:srgbClr val="A7B7A2"/>
            </a:solidFill>
            <a:prstDash val="solid"/>
          </a:ln>
        </p:spPr>
      </p:sp>
      <p:sp>
        <p:nvSpPr>
          <p:cNvPr id="32" name="Shape 26"/>
          <p:cNvSpPr/>
          <p:nvPr/>
        </p:nvSpPr>
        <p:spPr>
          <a:xfrm>
            <a:off x="1874520" y="3822192"/>
            <a:ext cx="9144" cy="-228600"/>
          </a:xfrm>
          <a:prstGeom prst="line">
            <a:avLst/>
          </a:prstGeom>
          <a:noFill/>
          <a:ln w="15240">
            <a:solidFill>
              <a:srgbClr val="346A55"/>
            </a:solidFill>
            <a:prstDash val="solid"/>
          </a:ln>
        </p:spPr>
      </p:sp>
      <p:sp>
        <p:nvSpPr>
          <p:cNvPr id="33" name="Shape 27"/>
          <p:cNvSpPr/>
          <p:nvPr/>
        </p:nvSpPr>
        <p:spPr>
          <a:xfrm rot="2100000">
            <a:off x="1837944" y="3639312"/>
            <a:ext cx="65837" cy="137160"/>
          </a:xfrm>
          <a:prstGeom prst="ellipse">
            <a:avLst/>
          </a:prstGeom>
          <a:solidFill>
            <a:srgbClr val="F8F7F2">
              <a:alpha val="60000"/>
            </a:srgbClr>
          </a:solidFill>
          <a:ln w="7620">
            <a:solidFill>
              <a:srgbClr val="A7B7A2"/>
            </a:solidFill>
            <a:prstDash val="solid"/>
          </a:ln>
        </p:spPr>
      </p:sp>
      <p:sp>
        <p:nvSpPr>
          <p:cNvPr id="34" name="Shape 28"/>
          <p:cNvSpPr/>
          <p:nvPr/>
        </p:nvSpPr>
        <p:spPr>
          <a:xfrm>
            <a:off x="1965960" y="3822192"/>
            <a:ext cx="27432" cy="-228600"/>
          </a:xfrm>
          <a:prstGeom prst="line">
            <a:avLst/>
          </a:prstGeom>
          <a:noFill/>
          <a:ln w="15240">
            <a:solidFill>
              <a:srgbClr val="346A55"/>
            </a:solidFill>
            <a:prstDash val="solid"/>
          </a:ln>
        </p:spPr>
      </p:sp>
      <p:sp>
        <p:nvSpPr>
          <p:cNvPr id="35" name="Shape 29"/>
          <p:cNvSpPr/>
          <p:nvPr/>
        </p:nvSpPr>
        <p:spPr>
          <a:xfrm rot="2100000">
            <a:off x="1947672" y="3639312"/>
            <a:ext cx="65837" cy="137160"/>
          </a:xfrm>
          <a:prstGeom prst="ellipse">
            <a:avLst/>
          </a:prstGeom>
          <a:solidFill>
            <a:srgbClr val="F8F7F2">
              <a:alpha val="60000"/>
            </a:srgbClr>
          </a:solidFill>
          <a:ln w="7620">
            <a:solidFill>
              <a:srgbClr val="A7B7A2"/>
            </a:solidFill>
            <a:prstDash val="solid"/>
          </a:ln>
        </p:spPr>
      </p:sp>
      <p:sp>
        <p:nvSpPr>
          <p:cNvPr id="36" name="Shape 30"/>
          <p:cNvSpPr/>
          <p:nvPr/>
        </p:nvSpPr>
        <p:spPr>
          <a:xfrm>
            <a:off x="658368" y="5321808"/>
            <a:ext cx="10881360" cy="576072"/>
          </a:xfrm>
          <a:prstGeom prst="rect">
            <a:avLst>
              <a:gd name="adj" fmla="val 15873"/>
            </a:avLst>
          </a:prstGeom>
          <a:solidFill>
            <a:srgbClr val="EDF1E9"/>
          </a:solidFill>
          <a:ln w="7620">
            <a:solidFill>
              <a:srgbClr val="D9DDD2"/>
            </a:solidFill>
            <a:prstDash val="solid"/>
          </a:ln>
        </p:spPr>
      </p:sp>
      <p:sp>
        <p:nvSpPr>
          <p:cNvPr id="37" name="Text 31"/>
          <p:cNvSpPr/>
          <p:nvPr/>
        </p:nvSpPr>
        <p:spPr>
          <a:xfrm>
            <a:off x="804672" y="5422392"/>
            <a:ext cx="3081528" cy="283464"/>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ILLUSTRATIVE ROUTE TIME</a:t>
            </a:r>
            <a:endParaRPr lang="en-US" sz="1400" dirty="0"/>
          </a:p>
        </p:txBody>
      </p:sp>
      <p:sp>
        <p:nvSpPr>
          <p:cNvPr id="38" name="Text 32"/>
          <p:cNvSpPr/>
          <p:nvPr/>
        </p:nvSpPr>
        <p:spPr>
          <a:xfrm>
            <a:off x="3831336" y="5422392"/>
            <a:ext cx="7543800" cy="283464"/>
          </a:xfrm>
          <a:prstGeom prst="rect">
            <a:avLst/>
          </a:prstGeom>
          <a:noFill/>
          <a:ln/>
        </p:spPr>
        <p:txBody>
          <a:bodyPr wrap="square" lIns="0" tIns="0" rIns="0" bIns="0" rtlCol="0" anchor="ctr"/>
          <a:lstStyle/>
          <a:p>
            <a:pPr indent="0" marL="0">
              <a:buNone/>
            </a:pPr>
            <a:r>
              <a:rPr lang="en-US" sz="1500" b="1" dirty="0">
                <a:solidFill>
                  <a:srgbClr val="173C51"/>
                </a:solidFill>
                <a:latin typeface="Noto Sans" pitchFamily="34" charset="0"/>
                <a:ea typeface="Noto Sans" pitchFamily="34" charset="-122"/>
                <a:cs typeface="Noto Sans" pitchFamily="34" charset="-120"/>
              </a:rPr>
              <a:t>Assume 1 / 2 / 3 m per season → about 6 / 3 / 2 growing seasons</a:t>
            </a:r>
            <a:endParaRPr lang="en-US" sz="1500" dirty="0"/>
          </a:p>
        </p:txBody>
      </p:sp>
      <p:sp>
        <p:nvSpPr>
          <p:cNvPr id="39" name="Text 33"/>
          <p:cNvSpPr/>
          <p:nvPr/>
        </p:nvSpPr>
        <p:spPr>
          <a:xfrm>
            <a:off x="713232" y="5989320"/>
            <a:ext cx="10835640" cy="228600"/>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Route ≈6.9 m; starting shoot 1.5 m assumed; ceil[(6.9 − 1.5) / rate]. This is NOT time to full cover.</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ANALYSIS METHOD</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Project shade onto one fixed reference zone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30°N · assumed X=east/Y=north · true solar time 09–15 · no surrounding obstructions.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Solar geometry: NOAA [3]. Project calculations and scenario assumptions: P2, P5. Foliage/transmittance are not measured.</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12</a:t>
            </a:r>
            <a:endParaRPr lang="en-US" sz="1000" dirty="0"/>
          </a:p>
        </p:txBody>
      </p:sp>
      <p:sp>
        <p:nvSpPr>
          <p:cNvPr id="15" name="Shape 13"/>
          <p:cNvSpPr/>
          <p:nvPr/>
        </p:nvSpPr>
        <p:spPr>
          <a:xfrm>
            <a:off x="594360" y="2157984"/>
            <a:ext cx="2624328" cy="786384"/>
          </a:xfrm>
          <a:prstGeom prst="rect">
            <a:avLst>
              <a:gd name="adj" fmla="val 11628"/>
            </a:avLst>
          </a:prstGeom>
          <a:solidFill>
            <a:srgbClr val="EDF1E9"/>
          </a:solidFill>
          <a:ln w="7620">
            <a:solidFill>
              <a:srgbClr val="D9DDD2"/>
            </a:solidFill>
            <a:prstDash val="solid"/>
          </a:ln>
        </p:spPr>
      </p:sp>
      <p:sp>
        <p:nvSpPr>
          <p:cNvPr id="16" name="Text 14"/>
          <p:cNvSpPr/>
          <p:nvPr/>
        </p:nvSpPr>
        <p:spPr>
          <a:xfrm>
            <a:off x="713232" y="2295144"/>
            <a:ext cx="365760" cy="265176"/>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01</a:t>
            </a:r>
            <a:endParaRPr lang="en-US" sz="1400" dirty="0"/>
          </a:p>
        </p:txBody>
      </p:sp>
      <p:sp>
        <p:nvSpPr>
          <p:cNvPr id="17" name="Text 15"/>
          <p:cNvSpPr/>
          <p:nvPr/>
        </p:nvSpPr>
        <p:spPr>
          <a:xfrm>
            <a:off x="1170432" y="2258568"/>
            <a:ext cx="1901952" cy="374904"/>
          </a:xfrm>
          <a:prstGeom prst="rect">
            <a:avLst/>
          </a:prstGeom>
          <a:noFill/>
          <a:ln/>
        </p:spPr>
        <p:txBody>
          <a:bodyPr wrap="square" lIns="0" tIns="0" rIns="0" bIns="0" rtlCol="0" anchor="ctr"/>
          <a:lstStyle/>
          <a:p>
            <a:pPr indent="0" marL="0">
              <a:buNone/>
            </a:pPr>
            <a:r>
              <a:rPr lang="en-US" sz="1350" b="1" dirty="0">
                <a:solidFill>
                  <a:srgbClr val="346A55"/>
                </a:solidFill>
                <a:latin typeface="Noto Sans" pitchFamily="34" charset="0"/>
                <a:ea typeface="Noto Sans" pitchFamily="34" charset="-122"/>
                <a:cs typeface="Noto Sans" pitchFamily="34" charset="-120"/>
              </a:rPr>
              <a:t>SUN DIRECTION</a:t>
            </a:r>
            <a:endParaRPr lang="en-US" sz="1350" dirty="0"/>
          </a:p>
        </p:txBody>
      </p:sp>
      <p:sp>
        <p:nvSpPr>
          <p:cNvPr id="18" name="Shape 16"/>
          <p:cNvSpPr/>
          <p:nvPr/>
        </p:nvSpPr>
        <p:spPr>
          <a:xfrm>
            <a:off x="3410712" y="2157984"/>
            <a:ext cx="2624328" cy="786384"/>
          </a:xfrm>
          <a:prstGeom prst="rect">
            <a:avLst>
              <a:gd name="adj" fmla="val 11628"/>
            </a:avLst>
          </a:prstGeom>
          <a:solidFill>
            <a:srgbClr val="EDF1E9"/>
          </a:solidFill>
          <a:ln w="7620">
            <a:solidFill>
              <a:srgbClr val="D9DDD2"/>
            </a:solidFill>
            <a:prstDash val="solid"/>
          </a:ln>
        </p:spPr>
      </p:sp>
      <p:sp>
        <p:nvSpPr>
          <p:cNvPr id="19" name="Text 17"/>
          <p:cNvSpPr/>
          <p:nvPr/>
        </p:nvSpPr>
        <p:spPr>
          <a:xfrm>
            <a:off x="3529584" y="2295144"/>
            <a:ext cx="365760" cy="265176"/>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02</a:t>
            </a:r>
            <a:endParaRPr lang="en-US" sz="1400" dirty="0"/>
          </a:p>
        </p:txBody>
      </p:sp>
      <p:sp>
        <p:nvSpPr>
          <p:cNvPr id="20" name="Text 18"/>
          <p:cNvSpPr/>
          <p:nvPr/>
        </p:nvSpPr>
        <p:spPr>
          <a:xfrm>
            <a:off x="3986784" y="2258568"/>
            <a:ext cx="1901952" cy="374904"/>
          </a:xfrm>
          <a:prstGeom prst="rect">
            <a:avLst/>
          </a:prstGeom>
          <a:noFill/>
          <a:ln/>
        </p:spPr>
        <p:txBody>
          <a:bodyPr wrap="square" lIns="0" tIns="0" rIns="0" bIns="0" rtlCol="0" anchor="ctr"/>
          <a:lstStyle/>
          <a:p>
            <a:pPr indent="0" marL="0">
              <a:buNone/>
            </a:pPr>
            <a:r>
              <a:rPr lang="en-US" sz="1350" b="1" dirty="0">
                <a:solidFill>
                  <a:srgbClr val="346A55"/>
                </a:solidFill>
                <a:latin typeface="Noto Sans" pitchFamily="34" charset="0"/>
                <a:ea typeface="Noto Sans" pitchFamily="34" charset="-122"/>
                <a:cs typeface="Noto Sans" pitchFamily="34" charset="-120"/>
              </a:rPr>
              <a:t>MODEL + LEAF ENVELOPE</a:t>
            </a:r>
            <a:endParaRPr lang="en-US" sz="1350" dirty="0"/>
          </a:p>
        </p:txBody>
      </p:sp>
      <p:sp>
        <p:nvSpPr>
          <p:cNvPr id="21" name="Shape 19"/>
          <p:cNvSpPr/>
          <p:nvPr/>
        </p:nvSpPr>
        <p:spPr>
          <a:xfrm>
            <a:off x="6227064" y="2157984"/>
            <a:ext cx="2624328" cy="786384"/>
          </a:xfrm>
          <a:prstGeom prst="rect">
            <a:avLst>
              <a:gd name="adj" fmla="val 11628"/>
            </a:avLst>
          </a:prstGeom>
          <a:solidFill>
            <a:srgbClr val="EDF1E9"/>
          </a:solidFill>
          <a:ln w="7620">
            <a:solidFill>
              <a:srgbClr val="D9DDD2"/>
            </a:solidFill>
            <a:prstDash val="solid"/>
          </a:ln>
        </p:spPr>
      </p:sp>
      <p:sp>
        <p:nvSpPr>
          <p:cNvPr id="22" name="Text 20"/>
          <p:cNvSpPr/>
          <p:nvPr/>
        </p:nvSpPr>
        <p:spPr>
          <a:xfrm>
            <a:off x="6345936" y="2295144"/>
            <a:ext cx="365760" cy="265176"/>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03</a:t>
            </a:r>
            <a:endParaRPr lang="en-US" sz="1400" dirty="0"/>
          </a:p>
        </p:txBody>
      </p:sp>
      <p:sp>
        <p:nvSpPr>
          <p:cNvPr id="23" name="Text 21"/>
          <p:cNvSpPr/>
          <p:nvPr/>
        </p:nvSpPr>
        <p:spPr>
          <a:xfrm>
            <a:off x="6803136" y="2258568"/>
            <a:ext cx="1901952" cy="374904"/>
          </a:xfrm>
          <a:prstGeom prst="rect">
            <a:avLst/>
          </a:prstGeom>
          <a:noFill/>
          <a:ln/>
        </p:spPr>
        <p:txBody>
          <a:bodyPr wrap="square" lIns="0" tIns="0" rIns="0" bIns="0" rtlCol="0" anchor="ctr"/>
          <a:lstStyle/>
          <a:p>
            <a:pPr indent="0" marL="0">
              <a:buNone/>
            </a:pPr>
            <a:r>
              <a:rPr lang="en-US" sz="1350" b="1" dirty="0">
                <a:solidFill>
                  <a:srgbClr val="346A55"/>
                </a:solidFill>
                <a:latin typeface="Noto Sans" pitchFamily="34" charset="0"/>
                <a:ea typeface="Noto Sans" pitchFamily="34" charset="-122"/>
                <a:cs typeface="Noto Sans" pitchFamily="34" charset="-120"/>
              </a:rPr>
              <a:t>GROUND PROJECTION</a:t>
            </a:r>
            <a:endParaRPr lang="en-US" sz="1350" dirty="0"/>
          </a:p>
        </p:txBody>
      </p:sp>
      <p:sp>
        <p:nvSpPr>
          <p:cNvPr id="24" name="Shape 22"/>
          <p:cNvSpPr/>
          <p:nvPr/>
        </p:nvSpPr>
        <p:spPr>
          <a:xfrm>
            <a:off x="9043416" y="2157984"/>
            <a:ext cx="2624328" cy="786384"/>
          </a:xfrm>
          <a:prstGeom prst="rect">
            <a:avLst>
              <a:gd name="adj" fmla="val 11628"/>
            </a:avLst>
          </a:prstGeom>
          <a:solidFill>
            <a:srgbClr val="EDF1E9"/>
          </a:solidFill>
          <a:ln w="7620">
            <a:solidFill>
              <a:srgbClr val="D9DDD2"/>
            </a:solidFill>
            <a:prstDash val="solid"/>
          </a:ln>
        </p:spPr>
      </p:sp>
      <p:sp>
        <p:nvSpPr>
          <p:cNvPr id="25" name="Text 23"/>
          <p:cNvSpPr/>
          <p:nvPr/>
        </p:nvSpPr>
        <p:spPr>
          <a:xfrm>
            <a:off x="9162288" y="2295144"/>
            <a:ext cx="365760" cy="265176"/>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04</a:t>
            </a:r>
            <a:endParaRPr lang="en-US" sz="1400" dirty="0"/>
          </a:p>
        </p:txBody>
      </p:sp>
      <p:sp>
        <p:nvSpPr>
          <p:cNvPr id="26" name="Text 24"/>
          <p:cNvSpPr/>
          <p:nvPr/>
        </p:nvSpPr>
        <p:spPr>
          <a:xfrm>
            <a:off x="9619488" y="2258568"/>
            <a:ext cx="1901952" cy="374904"/>
          </a:xfrm>
          <a:prstGeom prst="rect">
            <a:avLst/>
          </a:prstGeom>
          <a:noFill/>
          <a:ln/>
        </p:spPr>
        <p:txBody>
          <a:bodyPr wrap="square" lIns="0" tIns="0" rIns="0" bIns="0" rtlCol="0" anchor="ctr"/>
          <a:lstStyle/>
          <a:p>
            <a:pPr indent="0" marL="0">
              <a:buNone/>
            </a:pPr>
            <a:r>
              <a:rPr lang="en-US" sz="1350" b="1" dirty="0">
                <a:solidFill>
                  <a:srgbClr val="346A55"/>
                </a:solidFill>
                <a:latin typeface="Noto Sans" pitchFamily="34" charset="0"/>
                <a:ea typeface="Noto Sans" pitchFamily="34" charset="-122"/>
                <a:cs typeface="Noto Sans" pitchFamily="34" charset="-120"/>
              </a:rPr>
              <a:t>TARGET INTERSECTION</a:t>
            </a:r>
            <a:endParaRPr lang="en-US" sz="1350" dirty="0"/>
          </a:p>
        </p:txBody>
      </p:sp>
      <p:sp>
        <p:nvSpPr>
          <p:cNvPr id="27" name="Shape 25"/>
          <p:cNvSpPr/>
          <p:nvPr/>
        </p:nvSpPr>
        <p:spPr>
          <a:xfrm>
            <a:off x="603504" y="3355848"/>
            <a:ext cx="5340096" cy="1856232"/>
          </a:xfrm>
          <a:prstGeom prst="rect">
            <a:avLst>
              <a:gd name="adj" fmla="val 4926"/>
            </a:avLst>
          </a:prstGeom>
          <a:solidFill>
            <a:srgbClr val="FFFFFF"/>
          </a:solidFill>
          <a:ln w="7620">
            <a:solidFill>
              <a:srgbClr val="D9DDD2"/>
            </a:solidFill>
            <a:prstDash val="solid"/>
          </a:ln>
        </p:spPr>
      </p:sp>
      <p:sp>
        <p:nvSpPr>
          <p:cNvPr id="28" name="Text 26"/>
          <p:cNvSpPr/>
          <p:nvPr/>
        </p:nvSpPr>
        <p:spPr>
          <a:xfrm>
            <a:off x="795528" y="3538728"/>
            <a:ext cx="4901184" cy="329184"/>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IDEAL GEOMETRIC OVERLAP</a:t>
            </a:r>
            <a:endParaRPr lang="en-US" sz="1700" dirty="0"/>
          </a:p>
        </p:txBody>
      </p:sp>
      <p:sp>
        <p:nvSpPr>
          <p:cNvPr id="29" name="Text 27"/>
          <p:cNvSpPr/>
          <p:nvPr/>
        </p:nvSpPr>
        <p:spPr>
          <a:xfrm>
            <a:off x="795528" y="4087368"/>
            <a:ext cx="4892040" cy="640080"/>
          </a:xfrm>
          <a:prstGeom prst="rect">
            <a:avLst/>
          </a:prstGeom>
          <a:noFill/>
          <a:ln/>
        </p:spPr>
        <p:txBody>
          <a:bodyPr wrap="square" lIns="0" tIns="0" rIns="0" bIns="0" rtlCol="0" anchor="ctr"/>
          <a:lstStyle/>
          <a:p>
            <a:pPr indent="0" marL="0">
              <a:buNone/>
            </a:pPr>
            <a:r>
              <a:rPr lang="en-US" sz="2300" dirty="0">
                <a:solidFill>
                  <a:srgbClr val="173C51"/>
                </a:solidFill>
                <a:latin typeface="Noto Sans" pitchFamily="34" charset="0"/>
                <a:ea typeface="Noto Sans" pitchFamily="34" charset="-122"/>
                <a:cs typeface="Noto Sans" pitchFamily="34" charset="-120"/>
              </a:rPr>
              <a:t>Continuous-leaf shadow ∩ target</a:t>
            </a:r>
            <a:endParaRPr lang="en-US" sz="2300" dirty="0"/>
          </a:p>
          <a:p>
            <a:pPr indent="0" marL="0">
              <a:buNone/>
            </a:pPr>
            <a:r>
              <a:rPr lang="en-US" sz="2300" dirty="0">
                <a:solidFill>
                  <a:srgbClr val="173C51"/>
                </a:solidFill>
                <a:latin typeface="Noto Sans" pitchFamily="34" charset="0"/>
                <a:ea typeface="Noto Sans" pitchFamily="34" charset="-122"/>
                <a:cs typeface="Noto Sans" pitchFamily="34" charset="-120"/>
              </a:rPr>
              <a:t>÷ target area</a:t>
            </a:r>
            <a:endParaRPr lang="en-US" sz="2300" dirty="0"/>
          </a:p>
        </p:txBody>
      </p:sp>
      <p:sp>
        <p:nvSpPr>
          <p:cNvPr id="30" name="Shape 28"/>
          <p:cNvSpPr/>
          <p:nvPr/>
        </p:nvSpPr>
        <p:spPr>
          <a:xfrm>
            <a:off x="6172200" y="3355848"/>
            <a:ext cx="5340096" cy="1856232"/>
          </a:xfrm>
          <a:prstGeom prst="rect">
            <a:avLst>
              <a:gd name="adj" fmla="val 4926"/>
            </a:avLst>
          </a:prstGeom>
          <a:solidFill>
            <a:srgbClr val="FFFFFF"/>
          </a:solidFill>
          <a:ln w="7620">
            <a:solidFill>
              <a:srgbClr val="D9DDD2"/>
            </a:solidFill>
            <a:prstDash val="solid"/>
          </a:ln>
        </p:spPr>
      </p:sp>
      <p:sp>
        <p:nvSpPr>
          <p:cNvPr id="31" name="Text 29"/>
          <p:cNvSpPr/>
          <p:nvPr/>
        </p:nvSpPr>
        <p:spPr>
          <a:xfrm>
            <a:off x="6364224" y="3538728"/>
            <a:ext cx="4901184" cy="329184"/>
          </a:xfrm>
          <a:prstGeom prst="rect">
            <a:avLst/>
          </a:prstGeom>
          <a:noFill/>
          <a:ln/>
        </p:spPr>
        <p:txBody>
          <a:bodyPr wrap="square" lIns="0" tIns="0" rIns="0" bIns="0" rtlCol="0" anchor="ctr"/>
          <a:lstStyle/>
          <a:p>
            <a:pPr indent="0" marL="0">
              <a:buNone/>
            </a:pPr>
            <a:r>
              <a:rPr lang="en-US" sz="1550" b="1" dirty="0">
                <a:solidFill>
                  <a:srgbClr val="346A55"/>
                </a:solidFill>
                <a:latin typeface="Noto Sans" pitchFamily="34" charset="0"/>
                <a:ea typeface="Noto Sans" pitchFamily="34" charset="-122"/>
                <a:cs typeface="Noto Sans" pitchFamily="34" charset="-120"/>
              </a:rPr>
              <a:t>EQUIVALENT DIRECT-BEAM BLOCKAGE</a:t>
            </a:r>
            <a:endParaRPr lang="en-US" sz="1550" dirty="0"/>
          </a:p>
        </p:txBody>
      </p:sp>
      <p:sp>
        <p:nvSpPr>
          <p:cNvPr id="32" name="Text 30"/>
          <p:cNvSpPr/>
          <p:nvPr/>
        </p:nvSpPr>
        <p:spPr>
          <a:xfrm>
            <a:off x="6364224" y="4096512"/>
            <a:ext cx="4864608" cy="530352"/>
          </a:xfrm>
          <a:prstGeom prst="rect">
            <a:avLst/>
          </a:prstGeom>
          <a:noFill/>
          <a:ln/>
        </p:spPr>
        <p:txBody>
          <a:bodyPr wrap="square" lIns="0" tIns="0" rIns="0" bIns="0" rtlCol="0" anchor="ctr"/>
          <a:lstStyle/>
          <a:p>
            <a:pPr indent="0" marL="0">
              <a:buNone/>
            </a:pPr>
            <a:r>
              <a:rPr lang="en-US" sz="1800" dirty="0">
                <a:solidFill>
                  <a:srgbClr val="173C51"/>
                </a:solidFill>
                <a:latin typeface="Noto Sans" pitchFamily="34" charset="0"/>
                <a:ea typeface="Noto Sans" pitchFamily="34" charset="-122"/>
                <a:cs typeface="Noto Sans" pitchFamily="34" charset="-120"/>
              </a:rPr>
              <a:t>Aeq = Abare + (1 − τ)(Aleaf − Aoverlap)</a:t>
            </a:r>
            <a:endParaRPr lang="en-US" sz="1800" dirty="0"/>
          </a:p>
        </p:txBody>
      </p:sp>
      <p:sp>
        <p:nvSpPr>
          <p:cNvPr id="33" name="Text 31"/>
          <p:cNvSpPr/>
          <p:nvPr/>
        </p:nvSpPr>
        <p:spPr>
          <a:xfrm>
            <a:off x="6364224" y="4745736"/>
            <a:ext cx="4864608" cy="246888"/>
          </a:xfrm>
          <a:prstGeom prst="rect">
            <a:avLst/>
          </a:prstGeom>
          <a:noFill/>
          <a:ln/>
        </p:spPr>
        <p:txBody>
          <a:bodyPr wrap="square" lIns="0" tIns="0" rIns="0" bIns="0" rtlCol="0" anchor="ctr"/>
          <a:lstStyle/>
          <a:p>
            <a:pPr indent="0" marL="0">
              <a:buNone/>
            </a:pPr>
            <a:r>
              <a:rPr lang="en-US" sz="1450" dirty="0">
                <a:solidFill>
                  <a:srgbClr val="34434A"/>
                </a:solidFill>
                <a:latin typeface="Noto Sans" pitchFamily="34" charset="0"/>
                <a:ea typeface="Noto Sans" pitchFamily="34" charset="-122"/>
                <a:cs typeface="Noto Sans" pitchFamily="34" charset="-120"/>
              </a:rPr>
              <a:t>Divide Aeq by target area; τ = 0.15.</a:t>
            </a:r>
            <a:endParaRPr lang="en-US" sz="1450" dirty="0"/>
          </a:p>
        </p:txBody>
      </p:sp>
      <p:sp>
        <p:nvSpPr>
          <p:cNvPr id="34" name="Shape 32"/>
          <p:cNvSpPr/>
          <p:nvPr/>
        </p:nvSpPr>
        <p:spPr>
          <a:xfrm>
            <a:off x="731520" y="5650992"/>
            <a:ext cx="7452360" cy="411480"/>
          </a:xfrm>
          <a:prstGeom prst="rect">
            <a:avLst>
              <a:gd name="adj" fmla="val 22222"/>
            </a:avLst>
          </a:prstGeom>
          <a:solidFill>
            <a:srgbClr val="EDF1E9"/>
          </a:solidFill>
          <a:ln w="7620">
            <a:solidFill>
              <a:srgbClr val="EDF1E9"/>
            </a:solidFill>
            <a:prstDash val="solid"/>
          </a:ln>
        </p:spPr>
      </p:sp>
      <p:sp>
        <p:nvSpPr>
          <p:cNvPr id="35" name="Text 33"/>
          <p:cNvSpPr/>
          <p:nvPr/>
        </p:nvSpPr>
        <p:spPr>
          <a:xfrm>
            <a:off x="841248" y="5715000"/>
            <a:ext cx="723290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TARGET: 5 × 5 m MINUS r = 0.75 m → 23.23 m²</a:t>
            </a:r>
            <a:endParaRPr lang="en-US" sz="1400" dirty="0"/>
          </a:p>
        </p:txBody>
      </p:sp>
      <p:sp>
        <p:nvSpPr>
          <p:cNvPr id="36" name="Text 34"/>
          <p:cNvSpPr/>
          <p:nvPr/>
        </p:nvSpPr>
        <p:spPr>
          <a:xfrm>
            <a:off x="8458200" y="5705856"/>
            <a:ext cx="2926080" cy="274320"/>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Not net usable floor area.</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SHADE PERFORMANCE</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The shadow position and solar season both matter</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Ideal continuous-leaf overlap: a high noon value does not mean continuous occupied-hour shade.</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projection data (P2, P5). Solar-season comparison, not a calibrated seasonal plant-growth model.</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13</a:t>
            </a:r>
            <a:endParaRPr lang="en-US" sz="1000" dirty="0"/>
          </a:p>
        </p:txBody>
      </p:sp>
      <p:pic>
        <p:nvPicPr>
          <p:cNvPr id="15" name="Image 0" descr="/workspace/temp/presentation/v4/assets/ideal-shadow-09.png">    </p:cNvPr>
          <p:cNvPicPr>
            <a:picLocks noChangeAspect="1"/>
          </p:cNvPicPr>
          <p:nvPr/>
        </p:nvPicPr>
        <p:blipFill>
          <a:blip r:embed="rId1"/>
          <a:stretch>
            <a:fillRect/>
          </a:stretch>
        </p:blipFill>
        <p:spPr>
          <a:xfrm>
            <a:off x="1167003" y="1984248"/>
            <a:ext cx="2539746" cy="1847088"/>
          </a:xfrm>
          <a:prstGeom prst="rect">
            <a:avLst/>
          </a:prstGeom>
        </p:spPr>
      </p:pic>
      <p:sp>
        <p:nvSpPr>
          <p:cNvPr id="16" name="Text 13"/>
          <p:cNvSpPr/>
          <p:nvPr/>
        </p:nvSpPr>
        <p:spPr>
          <a:xfrm>
            <a:off x="630936" y="3822192"/>
            <a:ext cx="3611880" cy="246888"/>
          </a:xfrm>
          <a:prstGeom prst="rect">
            <a:avLst/>
          </a:prstGeom>
          <a:noFill/>
          <a:ln/>
        </p:spPr>
        <p:txBody>
          <a:bodyPr wrap="square" lIns="0" tIns="0" rIns="0" bIns="0" rtlCol="0" anchor="ctr"/>
          <a:lstStyle/>
          <a:p>
            <a:pPr algn="ctr" indent="0" marL="0">
              <a:buNone/>
            </a:pPr>
            <a:r>
              <a:rPr lang="en-US" sz="1400" b="1" dirty="0">
                <a:solidFill>
                  <a:srgbClr val="66736D"/>
                </a:solidFill>
                <a:latin typeface="Noto Sans" pitchFamily="34" charset="0"/>
                <a:ea typeface="Noto Sans" pitchFamily="34" charset="-122"/>
                <a:cs typeface="Noto Sans" pitchFamily="34" charset="-120"/>
              </a:rPr>
              <a:t>09:00</a:t>
            </a:r>
            <a:endParaRPr lang="en-US" sz="1400" dirty="0"/>
          </a:p>
        </p:txBody>
      </p:sp>
      <p:sp>
        <p:nvSpPr>
          <p:cNvPr id="17" name="Text 14"/>
          <p:cNvSpPr/>
          <p:nvPr/>
        </p:nvSpPr>
        <p:spPr>
          <a:xfrm>
            <a:off x="630936" y="4142232"/>
            <a:ext cx="3611880" cy="384048"/>
          </a:xfrm>
          <a:prstGeom prst="rect">
            <a:avLst/>
          </a:prstGeom>
          <a:noFill/>
          <a:ln/>
        </p:spPr>
        <p:txBody>
          <a:bodyPr wrap="square" lIns="0" tIns="0" rIns="0" bIns="0" rtlCol="0" anchor="ctr"/>
          <a:lstStyle/>
          <a:p>
            <a:pPr algn="ctr" indent="0" marL="0">
              <a:buNone/>
            </a:pPr>
            <a:r>
              <a:rPr lang="en-US" sz="2500" b="1" dirty="0">
                <a:solidFill>
                  <a:srgbClr val="173C51"/>
                </a:solidFill>
                <a:latin typeface="Noto Serif" pitchFamily="34" charset="0"/>
                <a:ea typeface="Noto Serif" pitchFamily="34" charset="-122"/>
                <a:cs typeface="Noto Serif" pitchFamily="34" charset="-120"/>
              </a:rPr>
              <a:t>47.2%</a:t>
            </a:r>
            <a:endParaRPr lang="en-US" sz="2500" dirty="0"/>
          </a:p>
        </p:txBody>
      </p:sp>
      <p:pic>
        <p:nvPicPr>
          <p:cNvPr id="18" name="Image 1" descr="/workspace/temp/presentation/v4/assets/ideal-shadow-12.png">    </p:cNvPr>
          <p:cNvPicPr>
            <a:picLocks noChangeAspect="1"/>
          </p:cNvPicPr>
          <p:nvPr/>
        </p:nvPicPr>
        <p:blipFill>
          <a:blip r:embed="rId2"/>
          <a:stretch>
            <a:fillRect/>
          </a:stretch>
        </p:blipFill>
        <p:spPr>
          <a:xfrm>
            <a:off x="4943475" y="1984248"/>
            <a:ext cx="2539746" cy="1847088"/>
          </a:xfrm>
          <a:prstGeom prst="rect">
            <a:avLst/>
          </a:prstGeom>
        </p:spPr>
      </p:pic>
      <p:sp>
        <p:nvSpPr>
          <p:cNvPr id="19" name="Text 15"/>
          <p:cNvSpPr/>
          <p:nvPr/>
        </p:nvSpPr>
        <p:spPr>
          <a:xfrm>
            <a:off x="4407408" y="3822192"/>
            <a:ext cx="3611880" cy="246888"/>
          </a:xfrm>
          <a:prstGeom prst="rect">
            <a:avLst/>
          </a:prstGeom>
          <a:noFill/>
          <a:ln/>
        </p:spPr>
        <p:txBody>
          <a:bodyPr wrap="square" lIns="0" tIns="0" rIns="0" bIns="0" rtlCol="0" anchor="ctr"/>
          <a:lstStyle/>
          <a:p>
            <a:pPr algn="ctr" indent="0" marL="0">
              <a:buNone/>
            </a:pPr>
            <a:r>
              <a:rPr lang="en-US" sz="1400" b="1" dirty="0">
                <a:solidFill>
                  <a:srgbClr val="66736D"/>
                </a:solidFill>
                <a:latin typeface="Noto Sans" pitchFamily="34" charset="0"/>
                <a:ea typeface="Noto Sans" pitchFamily="34" charset="-122"/>
                <a:cs typeface="Noto Sans" pitchFamily="34" charset="-120"/>
              </a:rPr>
              <a:t>12:00</a:t>
            </a:r>
            <a:endParaRPr lang="en-US" sz="1400" dirty="0"/>
          </a:p>
        </p:txBody>
      </p:sp>
      <p:sp>
        <p:nvSpPr>
          <p:cNvPr id="20" name="Text 16"/>
          <p:cNvSpPr/>
          <p:nvPr/>
        </p:nvSpPr>
        <p:spPr>
          <a:xfrm>
            <a:off x="4407408" y="4142232"/>
            <a:ext cx="3611880" cy="384048"/>
          </a:xfrm>
          <a:prstGeom prst="rect">
            <a:avLst/>
          </a:prstGeom>
          <a:noFill/>
          <a:ln/>
        </p:spPr>
        <p:txBody>
          <a:bodyPr wrap="square" lIns="0" tIns="0" rIns="0" bIns="0" rtlCol="0" anchor="ctr"/>
          <a:lstStyle/>
          <a:p>
            <a:pPr algn="ctr" indent="0" marL="0">
              <a:buNone/>
            </a:pPr>
            <a:r>
              <a:rPr lang="en-US" sz="2500" b="1" dirty="0">
                <a:solidFill>
                  <a:srgbClr val="173C51"/>
                </a:solidFill>
                <a:latin typeface="Noto Serif" pitchFamily="34" charset="0"/>
                <a:ea typeface="Noto Serif" pitchFamily="34" charset="-122"/>
                <a:cs typeface="Noto Serif" pitchFamily="34" charset="-120"/>
              </a:rPr>
              <a:t>98.7%</a:t>
            </a:r>
            <a:endParaRPr lang="en-US" sz="2500" dirty="0"/>
          </a:p>
        </p:txBody>
      </p:sp>
      <p:pic>
        <p:nvPicPr>
          <p:cNvPr id="21" name="Image 2" descr="/workspace/temp/presentation/v4/assets/ideal-shadow-15.png">    </p:cNvPr>
          <p:cNvPicPr>
            <a:picLocks noChangeAspect="1"/>
          </p:cNvPicPr>
          <p:nvPr/>
        </p:nvPicPr>
        <p:blipFill>
          <a:blip r:embed="rId3"/>
          <a:stretch>
            <a:fillRect/>
          </a:stretch>
        </p:blipFill>
        <p:spPr>
          <a:xfrm>
            <a:off x="8719947" y="1984248"/>
            <a:ext cx="2539746" cy="1847088"/>
          </a:xfrm>
          <a:prstGeom prst="rect">
            <a:avLst/>
          </a:prstGeom>
        </p:spPr>
      </p:pic>
      <p:sp>
        <p:nvSpPr>
          <p:cNvPr id="22" name="Text 17"/>
          <p:cNvSpPr/>
          <p:nvPr/>
        </p:nvSpPr>
        <p:spPr>
          <a:xfrm>
            <a:off x="8183880" y="3822192"/>
            <a:ext cx="3611880" cy="246888"/>
          </a:xfrm>
          <a:prstGeom prst="rect">
            <a:avLst/>
          </a:prstGeom>
          <a:noFill/>
          <a:ln/>
        </p:spPr>
        <p:txBody>
          <a:bodyPr wrap="square" lIns="0" tIns="0" rIns="0" bIns="0" rtlCol="0" anchor="ctr"/>
          <a:lstStyle/>
          <a:p>
            <a:pPr algn="ctr" indent="0" marL="0">
              <a:buNone/>
            </a:pPr>
            <a:r>
              <a:rPr lang="en-US" sz="1400" b="1" dirty="0">
                <a:solidFill>
                  <a:srgbClr val="66736D"/>
                </a:solidFill>
                <a:latin typeface="Noto Sans" pitchFamily="34" charset="0"/>
                <a:ea typeface="Noto Sans" pitchFamily="34" charset="-122"/>
                <a:cs typeface="Noto Sans" pitchFamily="34" charset="-120"/>
              </a:rPr>
              <a:t>15:00</a:t>
            </a:r>
            <a:endParaRPr lang="en-US" sz="1400" dirty="0"/>
          </a:p>
        </p:txBody>
      </p:sp>
      <p:sp>
        <p:nvSpPr>
          <p:cNvPr id="23" name="Text 18"/>
          <p:cNvSpPr/>
          <p:nvPr/>
        </p:nvSpPr>
        <p:spPr>
          <a:xfrm>
            <a:off x="8183880" y="4142232"/>
            <a:ext cx="3611880" cy="384048"/>
          </a:xfrm>
          <a:prstGeom prst="rect">
            <a:avLst/>
          </a:prstGeom>
          <a:noFill/>
          <a:ln/>
        </p:spPr>
        <p:txBody>
          <a:bodyPr wrap="square" lIns="0" tIns="0" rIns="0" bIns="0" rtlCol="0" anchor="ctr"/>
          <a:lstStyle/>
          <a:p>
            <a:pPr algn="ctr" indent="0" marL="0">
              <a:buNone/>
            </a:pPr>
            <a:r>
              <a:rPr lang="en-US" sz="2500" b="1" dirty="0">
                <a:solidFill>
                  <a:srgbClr val="173C51"/>
                </a:solidFill>
                <a:latin typeface="Noto Serif" pitchFamily="34" charset="0"/>
                <a:ea typeface="Noto Serif" pitchFamily="34" charset="-122"/>
                <a:cs typeface="Noto Serif" pitchFamily="34" charset="-120"/>
              </a:rPr>
              <a:t>47.2%</a:t>
            </a:r>
            <a:endParaRPr lang="en-US" sz="2500" dirty="0"/>
          </a:p>
        </p:txBody>
      </p:sp>
      <p:graphicFrame>
        <p:nvGraphicFramePr>
          <p:cNvPr id="24" name="Chart 0" descr=""/>
          <p:cNvGraphicFramePr/>
          <p:nvPr/>
        </p:nvGraphicFramePr>
        <p:xfrm>
          <a:off x="685800" y="4718304"/>
          <a:ext cx="7104888" cy="1490472"/>
        </p:xfrm>
        <a:graphic xmlns:a="http://schemas.openxmlformats.org/drawingml/2006/main">
          <a:graphicData uri="http://schemas.openxmlformats.org/drawingml/2006/chart">
            <c:chart xmlns:c="http://schemas.openxmlformats.org/drawingml/2006/chart" r:id="rId4"/>
          </a:graphicData>
        </a:graphic>
      </p:graphicFrame>
      <p:sp>
        <p:nvSpPr>
          <p:cNvPr id="25" name="Text 19"/>
          <p:cNvSpPr/>
          <p:nvPr/>
        </p:nvSpPr>
        <p:spPr>
          <a:xfrm>
            <a:off x="8247888" y="4782312"/>
            <a:ext cx="3054096" cy="228600"/>
          </a:xfrm>
          <a:prstGeom prst="rect">
            <a:avLst/>
          </a:prstGeom>
          <a:noFill/>
          <a:ln/>
        </p:spPr>
        <p:txBody>
          <a:bodyPr wrap="square" lIns="0" tIns="0" rIns="0" bIns="0" rtlCol="0" anchor="ctr"/>
          <a:lstStyle/>
          <a:p>
            <a:pPr indent="0" marL="0">
              <a:buNone/>
            </a:pPr>
            <a:r>
              <a:rPr lang="en-US" sz="1200" b="1" dirty="0">
                <a:solidFill>
                  <a:srgbClr val="346A55"/>
                </a:solidFill>
                <a:latin typeface="Noto Sans" pitchFamily="34" charset="0"/>
                <a:ea typeface="Noto Sans" pitchFamily="34" charset="-122"/>
                <a:cs typeface="Noto Sans" pitchFamily="34" charset="-120"/>
              </a:rPr>
              <a:t>09–15 TIME MEAN</a:t>
            </a:r>
            <a:endParaRPr lang="en-US" sz="1200" dirty="0"/>
          </a:p>
        </p:txBody>
      </p:sp>
      <p:sp>
        <p:nvSpPr>
          <p:cNvPr id="26" name="Text 20"/>
          <p:cNvSpPr/>
          <p:nvPr/>
        </p:nvSpPr>
        <p:spPr>
          <a:xfrm>
            <a:off x="8247888" y="5212080"/>
            <a:ext cx="3054096" cy="722376"/>
          </a:xfrm>
          <a:prstGeom prst="rect">
            <a:avLst/>
          </a:prstGeom>
          <a:noFill/>
          <a:ln/>
        </p:spPr>
        <p:txBody>
          <a:bodyPr wrap="square" lIns="0" tIns="0" rIns="0" bIns="0" rtlCol="0" anchor="ctr"/>
          <a:lstStyle/>
          <a:p>
            <a:pPr indent="0" marL="0">
              <a:buNone/>
            </a:pPr>
            <a:r>
              <a:rPr lang="en-US" sz="2000" b="1" dirty="0">
                <a:solidFill>
                  <a:srgbClr val="173C51"/>
                </a:solidFill>
                <a:latin typeface="Noto Sans" pitchFamily="34" charset="0"/>
                <a:ea typeface="Noto Sans" pitchFamily="34" charset="-122"/>
                <a:cs typeface="Noto Sans" pitchFamily="34" charset="-120"/>
              </a:rPr>
              <a:t>Solstice 75.3%</a:t>
            </a:r>
            <a:endParaRPr lang="en-US" sz="2000" dirty="0"/>
          </a:p>
          <a:p>
            <a:pPr indent="0" marL="0">
              <a:buNone/>
            </a:pPr>
            <a:r>
              <a:rPr lang="en-US" sz="2000" b="1" dirty="0">
                <a:solidFill>
                  <a:srgbClr val="173C51"/>
                </a:solidFill>
                <a:latin typeface="Noto Sans" pitchFamily="34" charset="0"/>
                <a:ea typeface="Noto Sans" pitchFamily="34" charset="-122"/>
                <a:cs typeface="Noto Sans" pitchFamily="34" charset="-120"/>
              </a:rPr>
              <a:t>Equinox 49.8%</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GEOMETRY SENSITIVITY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Seven models test three geometry controls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One variable at a time; same target, 50% plan cover, solstice solar hours and τ = 0.15.</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parameter study (P5). Controls are not uniform scaling; larger cover percentage does not imply equal plant/material input.</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14</a:t>
            </a:r>
            <a:endParaRPr lang="en-US" sz="1000" dirty="0"/>
          </a:p>
        </p:txBody>
      </p:sp>
      <p:pic>
        <p:nvPicPr>
          <p:cNvPr id="15" name="Image 0" descr="/workspace/temp/presentation/v4/assets/width-small.png">    </p:cNvPr>
          <p:cNvPicPr>
            <a:picLocks noChangeAspect="1"/>
          </p:cNvPicPr>
          <p:nvPr/>
        </p:nvPicPr>
        <p:blipFill>
          <a:blip r:embed="rId1"/>
          <a:stretch>
            <a:fillRect/>
          </a:stretch>
        </p:blipFill>
        <p:spPr>
          <a:xfrm>
            <a:off x="812635" y="1938528"/>
            <a:ext cx="3175329" cy="2112264"/>
          </a:xfrm>
          <a:prstGeom prst="rect">
            <a:avLst/>
          </a:prstGeom>
        </p:spPr>
      </p:pic>
      <p:pic>
        <p:nvPicPr>
          <p:cNvPr id="16" name="Image 1" descr="/workspace/temp/presentation/v4/assets/width-base.png">    </p:cNvPr>
          <p:cNvPicPr>
            <a:picLocks noChangeAspect="1"/>
          </p:cNvPicPr>
          <p:nvPr/>
        </p:nvPicPr>
        <p:blipFill>
          <a:blip r:embed="rId2"/>
          <a:stretch>
            <a:fillRect/>
          </a:stretch>
        </p:blipFill>
        <p:spPr>
          <a:xfrm>
            <a:off x="4579963" y="1938528"/>
            <a:ext cx="3175329" cy="2112264"/>
          </a:xfrm>
          <a:prstGeom prst="rect">
            <a:avLst/>
          </a:prstGeom>
        </p:spPr>
      </p:pic>
      <p:pic>
        <p:nvPicPr>
          <p:cNvPr id="17" name="Image 2" descr="/workspace/temp/presentation/v4/assets/width-large.png">    </p:cNvPr>
          <p:cNvPicPr>
            <a:picLocks noChangeAspect="1"/>
          </p:cNvPicPr>
          <p:nvPr/>
        </p:nvPicPr>
        <p:blipFill>
          <a:blip r:embed="rId3"/>
          <a:stretch>
            <a:fillRect/>
          </a:stretch>
        </p:blipFill>
        <p:spPr>
          <a:xfrm>
            <a:off x="8347291" y="1938528"/>
            <a:ext cx="3175329" cy="2112264"/>
          </a:xfrm>
          <a:prstGeom prst="rect">
            <a:avLst/>
          </a:prstGeom>
        </p:spPr>
      </p:pic>
      <p:sp>
        <p:nvSpPr>
          <p:cNvPr id="18" name="Text 13"/>
          <p:cNvSpPr/>
          <p:nvPr/>
        </p:nvSpPr>
        <p:spPr>
          <a:xfrm>
            <a:off x="594360" y="4050792"/>
            <a:ext cx="3611880" cy="228600"/>
          </a:xfrm>
          <a:prstGeom prst="rect">
            <a:avLst/>
          </a:prstGeom>
          <a:noFill/>
          <a:ln/>
        </p:spPr>
        <p:txBody>
          <a:bodyPr wrap="square" lIns="0" tIns="0" rIns="0" bIns="0" rtlCol="0" anchor="ctr"/>
          <a:lstStyle/>
          <a:p>
            <a:pPr algn="ctr" indent="0" marL="0">
              <a:buNone/>
            </a:pPr>
            <a:r>
              <a:rPr lang="en-US" sz="1150" b="1" dirty="0">
                <a:solidFill>
                  <a:srgbClr val="346A55"/>
                </a:solidFill>
                <a:latin typeface="Noto Sans" pitchFamily="34" charset="0"/>
                <a:ea typeface="Noto Sans" pitchFamily="34" charset="-122"/>
                <a:cs typeface="Noto Sans" pitchFamily="34" charset="-120"/>
              </a:rPr>
              <a:t>SMALLER CROWN</a:t>
            </a:r>
            <a:endParaRPr lang="en-US" sz="1150" dirty="0"/>
          </a:p>
        </p:txBody>
      </p:sp>
      <p:sp>
        <p:nvSpPr>
          <p:cNvPr id="19" name="Text 14"/>
          <p:cNvSpPr/>
          <p:nvPr/>
        </p:nvSpPr>
        <p:spPr>
          <a:xfrm>
            <a:off x="4361688" y="4050792"/>
            <a:ext cx="3611880" cy="228600"/>
          </a:xfrm>
          <a:prstGeom prst="rect">
            <a:avLst/>
          </a:prstGeom>
          <a:noFill/>
          <a:ln/>
        </p:spPr>
        <p:txBody>
          <a:bodyPr wrap="square" lIns="0" tIns="0" rIns="0" bIns="0" rtlCol="0" anchor="ctr"/>
          <a:lstStyle/>
          <a:p>
            <a:pPr algn="ctr" indent="0" marL="0">
              <a:buNone/>
            </a:pPr>
            <a:r>
              <a:rPr lang="en-US" sz="1150" b="1" dirty="0">
                <a:solidFill>
                  <a:srgbClr val="346A55"/>
                </a:solidFill>
                <a:latin typeface="Noto Sans" pitchFamily="34" charset="0"/>
                <a:ea typeface="Noto Sans" pitchFamily="34" charset="-122"/>
                <a:cs typeface="Noto Sans" pitchFamily="34" charset="-120"/>
              </a:rPr>
              <a:t>BASELINE</a:t>
            </a:r>
            <a:endParaRPr lang="en-US" sz="1150" dirty="0"/>
          </a:p>
        </p:txBody>
      </p:sp>
      <p:sp>
        <p:nvSpPr>
          <p:cNvPr id="20" name="Text 15"/>
          <p:cNvSpPr/>
          <p:nvPr/>
        </p:nvSpPr>
        <p:spPr>
          <a:xfrm>
            <a:off x="8129016" y="4050792"/>
            <a:ext cx="3611880" cy="228600"/>
          </a:xfrm>
          <a:prstGeom prst="rect">
            <a:avLst/>
          </a:prstGeom>
          <a:noFill/>
          <a:ln/>
        </p:spPr>
        <p:txBody>
          <a:bodyPr wrap="square" lIns="0" tIns="0" rIns="0" bIns="0" rtlCol="0" anchor="ctr"/>
          <a:lstStyle/>
          <a:p>
            <a:pPr algn="ctr" indent="0" marL="0">
              <a:buNone/>
            </a:pPr>
            <a:r>
              <a:rPr lang="en-US" sz="1150" b="1" dirty="0">
                <a:solidFill>
                  <a:srgbClr val="346A55"/>
                </a:solidFill>
                <a:latin typeface="Noto Sans" pitchFamily="34" charset="0"/>
                <a:ea typeface="Noto Sans" pitchFamily="34" charset="-122"/>
                <a:cs typeface="Noto Sans" pitchFamily="34" charset="-120"/>
              </a:rPr>
              <a:t>LARGER CROWN</a:t>
            </a:r>
            <a:endParaRPr lang="en-US" sz="11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85800" y="4526280"/>
          <a:ext cx="10789920" cy="914400"/>
        </p:xfrm>
        <a:graphic>
          <a:graphicData uri="http://schemas.openxmlformats.org/drawingml/2006/table">
            <a:tbl>
              <a:tblPr/>
              <a:tblGrid>
                <a:gridCol w="2834640"/>
                <a:gridCol w="3200400"/>
                <a:gridCol w="4754880"/>
              </a:tblGrid>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CONTROL</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TESTED SETTINGS</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MEAN BLOCKAGE: LOW / BASE / HIGH</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Upper expansion</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0.92 / 1.08 / 1.24</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52.3% / 60.2% / 66.1%</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Upper-height control</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−0.4 / 0 / +0.4 m</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62.6% / 60.2% / 57.8%</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356616">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Corner factor</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0.55 / 0.85 / 1.00</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480" dirty="0">
                          <a:solidFill>
                            <a:srgbClr val="34434A"/>
                          </a:solidFill>
                          <a:latin typeface="Noto Sans" pitchFamily="34" charset="0"/>
                          <a:ea typeface="Noto Sans" pitchFamily="34" charset="-122"/>
                          <a:cs typeface="Noto Sans" pitchFamily="34" charset="-120"/>
                        </a:rPr>
                        <a:t>61.8% / 60.2% / 59.1%</a:t>
                      </a:r>
                      <a:endParaRPr lang="en-US" sz="148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SPATIAL PLANT COVER</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Coverage amount alone does not determine useful shade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Fixed final structure; five nested leaf-cluster scenarios, not observed growing months.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spatial-cover calculation (P5). Frame/leaf overlap deducted, τ = 0.15; equivalent direct-beam blockage, not cooling.</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15</a:t>
            </a:r>
            <a:endParaRPr lang="en-US" sz="1000" dirty="0"/>
          </a:p>
        </p:txBody>
      </p:sp>
      <p:pic>
        <p:nvPicPr>
          <p:cNvPr id="15" name="Image 0" descr="/workspace/temp/presentation/v4/assets/cover-sequence.gif">    </p:cNvPr>
          <p:cNvPicPr>
            <a:picLocks noChangeAspect="1"/>
          </p:cNvPicPr>
          <p:nvPr/>
        </p:nvPicPr>
        <p:blipFill>
          <a:blip r:embed="rId1"/>
          <a:stretch>
            <a:fillRect/>
          </a:stretch>
        </p:blipFill>
        <p:spPr>
          <a:xfrm>
            <a:off x="700016" y="2011680"/>
            <a:ext cx="4753880" cy="3438144"/>
          </a:xfrm>
          <a:prstGeom prst="rect">
            <a:avLst/>
          </a:prstGeom>
        </p:spPr>
      </p:pic>
      <p:graphicFrame>
        <p:nvGraphicFramePr>
          <p:cNvPr id="16" name="Chart 0" descr=""/>
          <p:cNvGraphicFramePr/>
          <p:nvPr/>
        </p:nvGraphicFramePr>
        <p:xfrm>
          <a:off x="6044184" y="2340864"/>
          <a:ext cx="5413248" cy="2770632"/>
        </p:xfrm>
        <a:graphic xmlns:a="http://schemas.openxmlformats.org/drawingml/2006/main">
          <a:graphicData uri="http://schemas.openxmlformats.org/drawingml/2006/chart">
            <c:chart xmlns:c="http://schemas.openxmlformats.org/drawingml/2006/chart" r:id="rId2"/>
          </a:graphicData>
        </a:graphic>
      </p:graphicFrame>
      <p:sp>
        <p:nvSpPr>
          <p:cNvPr id="17" name="Text 13"/>
          <p:cNvSpPr/>
          <p:nvPr/>
        </p:nvSpPr>
        <p:spPr>
          <a:xfrm>
            <a:off x="6409944" y="5166360"/>
            <a:ext cx="4709160" cy="228600"/>
          </a:xfrm>
          <a:prstGeom prst="rect">
            <a:avLst/>
          </a:prstGeom>
          <a:noFill/>
          <a:ln/>
        </p:spPr>
        <p:txBody>
          <a:bodyPr wrap="square" lIns="0" tIns="0" rIns="0" bIns="0" rtlCol="0" anchor="ctr"/>
          <a:lstStyle/>
          <a:p>
            <a:pPr algn="ctr" indent="0" marL="0">
              <a:buNone/>
            </a:pPr>
            <a:r>
              <a:rPr lang="en-US" sz="1200" b="1" dirty="0">
                <a:solidFill>
                  <a:srgbClr val="66736D"/>
                </a:solidFill>
                <a:latin typeface="Noto Sans" pitchFamily="34" charset="0"/>
                <a:ea typeface="Noto Sans" pitchFamily="34" charset="-122"/>
                <a:cs typeface="Noto Sans" pitchFamily="34" charset="-120"/>
              </a:rPr>
              <a:t>PLAN COVER (%)</a:t>
            </a:r>
            <a:endParaRPr lang="en-US" sz="1200" dirty="0"/>
          </a:p>
        </p:txBody>
      </p:sp>
      <p:sp>
        <p:nvSpPr>
          <p:cNvPr id="18" name="Text 14"/>
          <p:cNvSpPr/>
          <p:nvPr/>
        </p:nvSpPr>
        <p:spPr>
          <a:xfrm>
            <a:off x="612648" y="5495544"/>
            <a:ext cx="5020056" cy="219456"/>
          </a:xfrm>
          <a:prstGeom prst="rect">
            <a:avLst/>
          </a:prstGeom>
          <a:noFill/>
          <a:ln/>
        </p:spPr>
        <p:txBody>
          <a:bodyPr wrap="square" lIns="0" tIns="0" rIns="0" bIns="0" rtlCol="0" anchor="ctr"/>
          <a:lstStyle/>
          <a:p>
            <a:pPr algn="ctr" indent="0" marL="0">
              <a:buNone/>
            </a:pPr>
            <a:r>
              <a:rPr lang="en-US" sz="1050" b="1" dirty="0">
                <a:solidFill>
                  <a:srgbClr val="346A55"/>
                </a:solidFill>
                <a:latin typeface="Noto Sans" pitchFamily="34" charset="0"/>
                <a:ea typeface="Noto Sans" pitchFamily="34" charset="-122"/>
                <a:cs typeface="Noto Sans" pitchFamily="34" charset="-120"/>
              </a:rPr>
              <a:t>VIEW SEQUENCE: 0 → 20 → 50 → 80 → 95% PLAN COVER</a:t>
            </a:r>
            <a:endParaRPr lang="en-US" sz="1050" dirty="0"/>
          </a:p>
        </p:txBody>
      </p:sp>
      <p:sp>
        <p:nvSpPr>
          <p:cNvPr id="19" name="Shape 15"/>
          <p:cNvSpPr/>
          <p:nvPr/>
        </p:nvSpPr>
        <p:spPr>
          <a:xfrm>
            <a:off x="676656" y="5843016"/>
            <a:ext cx="10835640" cy="393192"/>
          </a:xfrm>
          <a:prstGeom prst="rect">
            <a:avLst>
              <a:gd name="adj" fmla="val 23256"/>
            </a:avLst>
          </a:prstGeom>
          <a:solidFill>
            <a:srgbClr val="EDF1E9"/>
          </a:solidFill>
          <a:ln w="7620">
            <a:solidFill>
              <a:srgbClr val="EDF1E9"/>
            </a:solidFill>
            <a:prstDash val="solid"/>
          </a:ln>
        </p:spPr>
      </p:sp>
      <p:sp>
        <p:nvSpPr>
          <p:cNvPr id="20" name="Text 16"/>
          <p:cNvSpPr/>
          <p:nvPr/>
        </p:nvSpPr>
        <p:spPr>
          <a:xfrm>
            <a:off x="832104" y="5907024"/>
            <a:ext cx="10515600" cy="237744"/>
          </a:xfrm>
          <a:prstGeom prst="rect">
            <a:avLst/>
          </a:prstGeom>
          <a:noFill/>
          <a:ln/>
        </p:spPr>
        <p:txBody>
          <a:bodyPr wrap="square" lIns="0" tIns="0" rIns="0" bIns="0" rtlCol="0" anchor="ctr"/>
          <a:lstStyle/>
          <a:p>
            <a:pPr algn="ctr" indent="0" marL="0">
              <a:buNone/>
            </a:pPr>
            <a:r>
              <a:rPr lang="en-US" sz="1550" b="1" dirty="0">
                <a:solidFill>
                  <a:srgbClr val="346A55"/>
                </a:solidFill>
                <a:latin typeface="Noto Sans" pitchFamily="34" charset="0"/>
                <a:ea typeface="Noto Sans" pitchFamily="34" charset="-122"/>
                <a:cs typeface="Noto Sans" pitchFamily="34" charset="-120"/>
              </a:rPr>
              <a:t>Same 50% cover, different layouts at noon: 77.5% / 71.4% / 62.6% blockage.</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APPLICATION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Put occupied-hour shade into the layout decision</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A rest node must coordinate seating, through movement, roots and a substantial base.</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Conceptual application P4; fixed-50%-cover projection P5. No real-site compliance or measured comfort result is claimed; method lead [4].</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16</a:t>
            </a:r>
            <a:endParaRPr lang="en-US" sz="1000" dirty="0"/>
          </a:p>
        </p:txBody>
      </p:sp>
      <p:pic>
        <p:nvPicPr>
          <p:cNvPr id="15" name="Image 0" descr="/workspace/temp/presentation/v4/assets/shadow-sequence.gif">    </p:cNvPr>
          <p:cNvPicPr>
            <a:picLocks noChangeAspect="1"/>
          </p:cNvPicPr>
          <p:nvPr/>
        </p:nvPicPr>
        <p:blipFill>
          <a:blip r:embed="rId1"/>
          <a:stretch>
            <a:fillRect/>
          </a:stretch>
        </p:blipFill>
        <p:spPr>
          <a:xfrm>
            <a:off x="829361" y="2020824"/>
            <a:ext cx="5299862" cy="3785616"/>
          </a:xfrm>
          <a:prstGeom prst="rect">
            <a:avLst/>
          </a:prstGeom>
        </p:spPr>
      </p:pic>
      <p:sp>
        <p:nvSpPr>
          <p:cNvPr id="16" name="Text 13"/>
          <p:cNvSpPr/>
          <p:nvPr/>
        </p:nvSpPr>
        <p:spPr>
          <a:xfrm>
            <a:off x="621792" y="5897880"/>
            <a:ext cx="5715000" cy="219456"/>
          </a:xfrm>
          <a:prstGeom prst="rect">
            <a:avLst/>
          </a:prstGeom>
          <a:noFill/>
          <a:ln/>
        </p:spPr>
        <p:txBody>
          <a:bodyPr wrap="square" lIns="0" tIns="0" rIns="0" bIns="0" rtlCol="0" anchor="ctr"/>
          <a:lstStyle/>
          <a:p>
            <a:pPr algn="ctr" indent="0" marL="0">
              <a:buNone/>
            </a:pPr>
            <a:r>
              <a:rPr lang="en-US" sz="1050" b="1" dirty="0">
                <a:solidFill>
                  <a:srgbClr val="346A55"/>
                </a:solidFill>
                <a:latin typeface="Noto Sans" pitchFamily="34" charset="0"/>
                <a:ea typeface="Noto Sans" pitchFamily="34" charset="-122"/>
                <a:cs typeface="Noto Sans" pitchFamily="34" charset="-120"/>
              </a:rPr>
              <a:t>FIXED 50% PLAN COVER • SOLAR TIME 09:00 → 15:00</a:t>
            </a:r>
            <a:endParaRPr lang="en-US" sz="1050" dirty="0"/>
          </a:p>
        </p:txBody>
      </p:sp>
      <p:sp>
        <p:nvSpPr>
          <p:cNvPr id="17" name="Text 14"/>
          <p:cNvSpPr/>
          <p:nvPr/>
        </p:nvSpPr>
        <p:spPr>
          <a:xfrm>
            <a:off x="6693408" y="2103120"/>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01</a:t>
            </a:r>
            <a:endParaRPr lang="en-US" sz="1800" dirty="0"/>
          </a:p>
        </p:txBody>
      </p:sp>
      <p:sp>
        <p:nvSpPr>
          <p:cNvPr id="18" name="Text 15"/>
          <p:cNvSpPr/>
          <p:nvPr/>
        </p:nvSpPr>
        <p:spPr>
          <a:xfrm>
            <a:off x="7260336" y="2103120"/>
            <a:ext cx="4078224"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SEATING LOCATION</a:t>
            </a:r>
            <a:endParaRPr lang="en-US" sz="2100" dirty="0"/>
          </a:p>
        </p:txBody>
      </p:sp>
      <p:sp>
        <p:nvSpPr>
          <p:cNvPr id="19" name="Text 16"/>
          <p:cNvSpPr/>
          <p:nvPr/>
        </p:nvSpPr>
        <p:spPr>
          <a:xfrm>
            <a:off x="7260336" y="2578608"/>
            <a:ext cx="4078224"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Use the occupied-hour footprint, not just the crown outline or shadow centroid.</a:t>
            </a:r>
            <a:endParaRPr lang="en-US" sz="1700" dirty="0"/>
          </a:p>
        </p:txBody>
      </p:sp>
      <p:sp>
        <p:nvSpPr>
          <p:cNvPr id="20" name="Text 17"/>
          <p:cNvSpPr/>
          <p:nvPr/>
        </p:nvSpPr>
        <p:spPr>
          <a:xfrm>
            <a:off x="6693408" y="3465576"/>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02</a:t>
            </a:r>
            <a:endParaRPr lang="en-US" sz="1800" dirty="0"/>
          </a:p>
        </p:txBody>
      </p:sp>
      <p:sp>
        <p:nvSpPr>
          <p:cNvPr id="21" name="Text 18"/>
          <p:cNvSpPr/>
          <p:nvPr/>
        </p:nvSpPr>
        <p:spPr>
          <a:xfrm>
            <a:off x="7260336" y="3465576"/>
            <a:ext cx="4078224"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SPACE FOR ACCESS &amp; ROOTS</a:t>
            </a:r>
            <a:endParaRPr lang="en-US" sz="2100" dirty="0"/>
          </a:p>
        </p:txBody>
      </p:sp>
      <p:sp>
        <p:nvSpPr>
          <p:cNvPr id="22" name="Text 19"/>
          <p:cNvSpPr/>
          <p:nvPr/>
        </p:nvSpPr>
        <p:spPr>
          <a:xfrm>
            <a:off x="7260336" y="3941064"/>
            <a:ext cx="4078224"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Allow for circulation, counterweight, root zone, irrigation and maintenance.</a:t>
            </a:r>
            <a:endParaRPr lang="en-US" sz="1700" dirty="0"/>
          </a:p>
        </p:txBody>
      </p:sp>
      <p:sp>
        <p:nvSpPr>
          <p:cNvPr id="23" name="Text 20"/>
          <p:cNvSpPr/>
          <p:nvPr/>
        </p:nvSpPr>
        <p:spPr>
          <a:xfrm>
            <a:off x="6693408" y="4837176"/>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03</a:t>
            </a:r>
            <a:endParaRPr lang="en-US" sz="1800" dirty="0"/>
          </a:p>
        </p:txBody>
      </p:sp>
      <p:sp>
        <p:nvSpPr>
          <p:cNvPr id="24" name="Text 21"/>
          <p:cNvSpPr/>
          <p:nvPr/>
        </p:nvSpPr>
        <p:spPr>
          <a:xfrm>
            <a:off x="7260336" y="4837176"/>
            <a:ext cx="4078224"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VALIDATE THE OUTCOME</a:t>
            </a:r>
            <a:endParaRPr lang="en-US" sz="2100" dirty="0"/>
          </a:p>
        </p:txBody>
      </p:sp>
      <p:sp>
        <p:nvSpPr>
          <p:cNvPr id="25" name="Text 22"/>
          <p:cNvSpPr/>
          <p:nvPr/>
        </p:nvSpPr>
        <p:spPr>
          <a:xfrm>
            <a:off x="7260336" y="5312664"/>
            <a:ext cx="4078224"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Confirm site and planting; compare radiation, temperature, humidity and wind.</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MODULAR CONSTRUCTION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Coordinate prefabricated modules and site interfaces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Numbered components help assembly; long members, heavy base and grouted joints constrain it.</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member/assembly and cost schedule (P3, P4). Proposed detail and labour quantities, not a tested construction programme.</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85216" y="2185416"/>
          <a:ext cx="4992624" cy="914400"/>
        </p:xfrm>
        <a:graphic>
          <a:graphicData uri="http://schemas.openxmlformats.org/drawingml/2006/table">
            <a:tbl>
              <a:tblPr/>
              <a:tblGrid>
                <a:gridCol w="1417320"/>
                <a:gridCol w="3575304"/>
              </a:tblGrid>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MODULE</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WHAT IS PREPARED</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Crown</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47 formed/treatment-ready bamboo members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Supports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12 proposed galvanised steel members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Connections</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Head nodes, sleeves, clamps and base flange</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Foundation</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Precast counterweight with anchorage</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493776">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Planting</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500" dirty="0">
                          <a:solidFill>
                            <a:srgbClr val="34434A"/>
                          </a:solidFill>
                          <a:latin typeface="Noto Sans" pitchFamily="34" charset="0"/>
                          <a:ea typeface="Noto Sans" pitchFamily="34" charset="-122"/>
                          <a:cs typeface="Noto Sans" pitchFamily="34" charset="-120"/>
                        </a:rPr>
                        <a:t>2 + 1 plants, substrate and drip provision</a:t>
                      </a:r>
                      <a:endParaRPr lang="en-US" sz="1500" dirty="0">
                        <a:latin typeface="Noto Sans" charset="0"/>
                        <a:ea typeface="Noto Sans" charset="0"/>
                        <a:cs typeface="Noto Sans" charset="0"/>
                      </a:endParaRPr>
                    </a:p>
                  </a:txBody>
                  <a:tcPr marL="114300" marR="114300" marT="76200" marB="762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6" name="Shape 13"/>
          <p:cNvSpPr/>
          <p:nvPr/>
        </p:nvSpPr>
        <p:spPr>
          <a:xfrm>
            <a:off x="5998464" y="2176272"/>
            <a:ext cx="5440680" cy="475488"/>
          </a:xfrm>
          <a:prstGeom prst="rect">
            <a:avLst>
              <a:gd name="adj" fmla="val 19231"/>
            </a:avLst>
          </a:prstGeom>
          <a:solidFill>
            <a:srgbClr val="EDF1E9"/>
          </a:solidFill>
          <a:ln w="7620">
            <a:solidFill>
              <a:srgbClr val="D9DDD2"/>
            </a:solidFill>
            <a:prstDash val="solid"/>
          </a:ln>
        </p:spPr>
      </p:sp>
      <p:sp>
        <p:nvSpPr>
          <p:cNvPr id="17" name="Text 14"/>
          <p:cNvSpPr/>
          <p:nvPr/>
        </p:nvSpPr>
        <p:spPr>
          <a:xfrm>
            <a:off x="6163056" y="2258568"/>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01</a:t>
            </a:r>
            <a:endParaRPr lang="en-US" sz="1400" dirty="0"/>
          </a:p>
        </p:txBody>
      </p:sp>
      <p:sp>
        <p:nvSpPr>
          <p:cNvPr id="18" name="Text 15"/>
          <p:cNvSpPr/>
          <p:nvPr/>
        </p:nvSpPr>
        <p:spPr>
          <a:xfrm>
            <a:off x="6693408" y="2249424"/>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Prefab, treat &amp; number</a:t>
            </a:r>
            <a:endParaRPr lang="en-US" sz="1700" dirty="0"/>
          </a:p>
        </p:txBody>
      </p:sp>
      <p:sp>
        <p:nvSpPr>
          <p:cNvPr id="19" name="Shape 16"/>
          <p:cNvSpPr/>
          <p:nvPr/>
        </p:nvSpPr>
        <p:spPr>
          <a:xfrm>
            <a:off x="5998464" y="2798064"/>
            <a:ext cx="5440680" cy="475488"/>
          </a:xfrm>
          <a:prstGeom prst="rect">
            <a:avLst>
              <a:gd name="adj" fmla="val 19231"/>
            </a:avLst>
          </a:prstGeom>
          <a:solidFill>
            <a:srgbClr val="EDF1E9"/>
          </a:solidFill>
          <a:ln w="7620">
            <a:solidFill>
              <a:srgbClr val="D9DDD2"/>
            </a:solidFill>
            <a:prstDash val="solid"/>
          </a:ln>
        </p:spPr>
      </p:sp>
      <p:sp>
        <p:nvSpPr>
          <p:cNvPr id="20" name="Text 17"/>
          <p:cNvSpPr/>
          <p:nvPr/>
        </p:nvSpPr>
        <p:spPr>
          <a:xfrm>
            <a:off x="6163056" y="2880360"/>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02</a:t>
            </a:r>
            <a:endParaRPr lang="en-US" sz="1400" dirty="0"/>
          </a:p>
        </p:txBody>
      </p:sp>
      <p:sp>
        <p:nvSpPr>
          <p:cNvPr id="21" name="Text 18"/>
          <p:cNvSpPr/>
          <p:nvPr/>
        </p:nvSpPr>
        <p:spPr>
          <a:xfrm>
            <a:off x="6693408" y="2871216"/>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Lift base and set out</a:t>
            </a:r>
            <a:endParaRPr lang="en-US" sz="1700" dirty="0"/>
          </a:p>
        </p:txBody>
      </p:sp>
      <p:sp>
        <p:nvSpPr>
          <p:cNvPr id="22" name="Shape 19"/>
          <p:cNvSpPr/>
          <p:nvPr/>
        </p:nvSpPr>
        <p:spPr>
          <a:xfrm>
            <a:off x="5998464" y="3419856"/>
            <a:ext cx="5440680" cy="475488"/>
          </a:xfrm>
          <a:prstGeom prst="rect">
            <a:avLst>
              <a:gd name="adj" fmla="val 19231"/>
            </a:avLst>
          </a:prstGeom>
          <a:solidFill>
            <a:srgbClr val="EDF1E9"/>
          </a:solidFill>
          <a:ln w="7620">
            <a:solidFill>
              <a:srgbClr val="D9DDD2"/>
            </a:solidFill>
            <a:prstDash val="solid"/>
          </a:ln>
        </p:spPr>
      </p:sp>
      <p:sp>
        <p:nvSpPr>
          <p:cNvPr id="23" name="Text 20"/>
          <p:cNvSpPr/>
          <p:nvPr/>
        </p:nvSpPr>
        <p:spPr>
          <a:xfrm>
            <a:off x="6163056" y="3502152"/>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03</a:t>
            </a:r>
            <a:endParaRPr lang="en-US" sz="1400" dirty="0"/>
          </a:p>
        </p:txBody>
      </p:sp>
      <p:sp>
        <p:nvSpPr>
          <p:cNvPr id="24" name="Text 21"/>
          <p:cNvSpPr/>
          <p:nvPr/>
        </p:nvSpPr>
        <p:spPr>
          <a:xfrm>
            <a:off x="6693408" y="3493008"/>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Support, align &amp; assemble</a:t>
            </a:r>
            <a:endParaRPr lang="en-US" sz="1700" dirty="0"/>
          </a:p>
        </p:txBody>
      </p:sp>
      <p:sp>
        <p:nvSpPr>
          <p:cNvPr id="25" name="Shape 22"/>
          <p:cNvSpPr/>
          <p:nvPr/>
        </p:nvSpPr>
        <p:spPr>
          <a:xfrm>
            <a:off x="5998464" y="4041648"/>
            <a:ext cx="5440680" cy="475488"/>
          </a:xfrm>
          <a:prstGeom prst="rect">
            <a:avLst>
              <a:gd name="adj" fmla="val 19231"/>
            </a:avLst>
          </a:prstGeom>
          <a:solidFill>
            <a:srgbClr val="EDF1E9"/>
          </a:solidFill>
          <a:ln w="7620">
            <a:solidFill>
              <a:srgbClr val="D9DDD2"/>
            </a:solidFill>
            <a:prstDash val="solid"/>
          </a:ln>
        </p:spPr>
      </p:sp>
      <p:sp>
        <p:nvSpPr>
          <p:cNvPr id="26" name="Text 23"/>
          <p:cNvSpPr/>
          <p:nvPr/>
        </p:nvSpPr>
        <p:spPr>
          <a:xfrm>
            <a:off x="6163056" y="4123944"/>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04</a:t>
            </a:r>
            <a:endParaRPr lang="en-US" sz="1400" dirty="0"/>
          </a:p>
        </p:txBody>
      </p:sp>
      <p:sp>
        <p:nvSpPr>
          <p:cNvPr id="27" name="Text 24"/>
          <p:cNvSpPr/>
          <p:nvPr/>
        </p:nvSpPr>
        <p:spPr>
          <a:xfrm>
            <a:off x="6693408" y="4114800"/>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Grout, cure &amp; recheck</a:t>
            </a:r>
            <a:endParaRPr lang="en-US" sz="1700" dirty="0"/>
          </a:p>
        </p:txBody>
      </p:sp>
      <p:sp>
        <p:nvSpPr>
          <p:cNvPr id="28" name="Shape 25"/>
          <p:cNvSpPr/>
          <p:nvPr/>
        </p:nvSpPr>
        <p:spPr>
          <a:xfrm>
            <a:off x="5998464" y="4663440"/>
            <a:ext cx="5440680" cy="475488"/>
          </a:xfrm>
          <a:prstGeom prst="rect">
            <a:avLst>
              <a:gd name="adj" fmla="val 19231"/>
            </a:avLst>
          </a:prstGeom>
          <a:solidFill>
            <a:srgbClr val="EDF1E9"/>
          </a:solidFill>
          <a:ln w="7620">
            <a:solidFill>
              <a:srgbClr val="D9DDD2"/>
            </a:solidFill>
            <a:prstDash val="solid"/>
          </a:ln>
        </p:spPr>
      </p:sp>
      <p:sp>
        <p:nvSpPr>
          <p:cNvPr id="29" name="Text 26"/>
          <p:cNvSpPr/>
          <p:nvPr/>
        </p:nvSpPr>
        <p:spPr>
          <a:xfrm>
            <a:off x="6163056" y="4745736"/>
            <a:ext cx="402336" cy="283464"/>
          </a:xfrm>
          <a:prstGeom prst="rect">
            <a:avLst/>
          </a:prstGeom>
          <a:noFill/>
          <a:ln/>
        </p:spPr>
        <p:txBody>
          <a:bodyPr wrap="square" lIns="0" tIns="0" rIns="0" bIns="0" rtlCol="0" anchor="ctr"/>
          <a:lstStyle/>
          <a:p>
            <a:pPr indent="0" marL="0">
              <a:buNone/>
            </a:pPr>
            <a:r>
              <a:rPr lang="en-US" sz="1400" b="1" dirty="0">
                <a:solidFill>
                  <a:srgbClr val="AA7E4A"/>
                </a:solidFill>
                <a:latin typeface="Noto Sans" pitchFamily="34" charset="0"/>
                <a:ea typeface="Noto Sans" pitchFamily="34" charset="-122"/>
                <a:cs typeface="Noto Sans" pitchFamily="34" charset="-120"/>
              </a:rPr>
              <a:t>05</a:t>
            </a:r>
            <a:endParaRPr lang="en-US" sz="1400" dirty="0"/>
          </a:p>
        </p:txBody>
      </p:sp>
      <p:sp>
        <p:nvSpPr>
          <p:cNvPr id="30" name="Text 27"/>
          <p:cNvSpPr/>
          <p:nvPr/>
        </p:nvSpPr>
        <p:spPr>
          <a:xfrm>
            <a:off x="6693408" y="4736592"/>
            <a:ext cx="4526280" cy="301752"/>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Plant, train &amp; restore</a:t>
            </a:r>
            <a:endParaRPr lang="en-US" sz="1700" dirty="0"/>
          </a:p>
        </p:txBody>
      </p:sp>
      <p:sp>
        <p:nvSpPr>
          <p:cNvPr id="31" name="Text 28"/>
          <p:cNvSpPr/>
          <p:nvPr/>
        </p:nvSpPr>
        <p:spPr>
          <a:xfrm>
            <a:off x="722376" y="5824728"/>
            <a:ext cx="10744200" cy="420624"/>
          </a:xfrm>
          <a:prstGeom prst="rect">
            <a:avLst/>
          </a:prstGeom>
          <a:noFill/>
          <a:ln/>
        </p:spPr>
        <p:txBody>
          <a:bodyPr wrap="square" lIns="0" tIns="0" rIns="0" bIns="0" rtlCol="0" anchor="ctr"/>
          <a:lstStyle/>
          <a:p>
            <a:pPr indent="0" marL="0">
              <a:buNone/>
            </a:pPr>
            <a:r>
              <a:rPr lang="en-US" sz="1600" b="1" dirty="0">
                <a:solidFill>
                  <a:srgbClr val="173C51"/>
                </a:solidFill>
                <a:latin typeface="Noto Sans" pitchFamily="34" charset="0"/>
                <a:ea typeface="Noto Sans" pitchFamily="34" charset="-122"/>
                <a:cs typeface="Noto Sans" pitchFamily="34" charset="-120"/>
              </a:rPr>
              <a:t>14 person-days estimated ≠ 14 calendar days. The ≈9.07 t base controls lifting; grouted nodes limit lossless reversal.</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WORK SUMMARY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Connect geometry, construction and useful shade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Three design workstreams now have traceable outputs.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Synthesis of project records P1–P5. Product, joint, site and growth-duration evidence are the next verification priorities.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18</a:t>
            </a:r>
            <a:endParaRPr lang="en-US" sz="1000" dirty="0"/>
          </a:p>
        </p:txBody>
      </p:sp>
      <p:sp>
        <p:nvSpPr>
          <p:cNvPr id="15" name="Shape 13"/>
          <p:cNvSpPr/>
          <p:nvPr/>
        </p:nvSpPr>
        <p:spPr>
          <a:xfrm>
            <a:off x="594360" y="2295144"/>
            <a:ext cx="3566160" cy="2377440"/>
          </a:xfrm>
          <a:prstGeom prst="rect">
            <a:avLst>
              <a:gd name="adj" fmla="val 3846"/>
            </a:avLst>
          </a:prstGeom>
          <a:solidFill>
            <a:srgbClr val="EDF1E9"/>
          </a:solidFill>
          <a:ln w="7620">
            <a:solidFill>
              <a:srgbClr val="D9DDD2"/>
            </a:solidFill>
            <a:prstDash val="solid"/>
          </a:ln>
        </p:spPr>
      </p:sp>
      <p:sp>
        <p:nvSpPr>
          <p:cNvPr id="16" name="Text 14"/>
          <p:cNvSpPr/>
          <p:nvPr/>
        </p:nvSpPr>
        <p:spPr>
          <a:xfrm>
            <a:off x="777240" y="2532888"/>
            <a:ext cx="3200400" cy="320040"/>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GEOMETRY</a:t>
            </a:r>
            <a:endParaRPr lang="en-US" sz="1600" dirty="0"/>
          </a:p>
        </p:txBody>
      </p:sp>
      <p:sp>
        <p:nvSpPr>
          <p:cNvPr id="17" name="Text 15"/>
          <p:cNvSpPr/>
          <p:nvPr/>
        </p:nvSpPr>
        <p:spPr>
          <a:xfrm>
            <a:off x="777240" y="3108960"/>
            <a:ext cx="3200400" cy="612648"/>
          </a:xfrm>
          <a:prstGeom prst="rect">
            <a:avLst/>
          </a:prstGeom>
          <a:noFill/>
          <a:ln/>
        </p:spPr>
        <p:txBody>
          <a:bodyPr wrap="square" lIns="0" tIns="0" rIns="0" bIns="0" rtlCol="0" anchor="ctr"/>
          <a:lstStyle/>
          <a:p>
            <a:pPr indent="0" marL="0">
              <a:buNone/>
            </a:pPr>
            <a:r>
              <a:rPr lang="en-US" sz="2200" b="1" dirty="0">
                <a:solidFill>
                  <a:srgbClr val="173C51"/>
                </a:solidFill>
                <a:latin typeface="Noto Serif" pitchFamily="34" charset="0"/>
                <a:ea typeface="Noto Serif" pitchFamily="34" charset="-122"/>
                <a:cs typeface="Noto Serif" pitchFamily="34" charset="-120"/>
              </a:rPr>
              <a:t>Rhino/GH model and parameters</a:t>
            </a:r>
            <a:endParaRPr lang="en-US" sz="2200" dirty="0"/>
          </a:p>
        </p:txBody>
      </p:sp>
      <p:sp>
        <p:nvSpPr>
          <p:cNvPr id="18" name="Text 16"/>
          <p:cNvSpPr/>
          <p:nvPr/>
        </p:nvSpPr>
        <p:spPr>
          <a:xfrm>
            <a:off x="777240" y="3931920"/>
            <a:ext cx="3200400" cy="5120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Final form, drawings and material take-off</a:t>
            </a:r>
            <a:endParaRPr lang="en-US" sz="1600" dirty="0"/>
          </a:p>
        </p:txBody>
      </p:sp>
      <p:sp>
        <p:nvSpPr>
          <p:cNvPr id="19" name="Shape 17"/>
          <p:cNvSpPr/>
          <p:nvPr/>
        </p:nvSpPr>
        <p:spPr>
          <a:xfrm>
            <a:off x="4370832" y="2295144"/>
            <a:ext cx="3566160" cy="2377440"/>
          </a:xfrm>
          <a:prstGeom prst="rect">
            <a:avLst>
              <a:gd name="adj" fmla="val 3846"/>
            </a:avLst>
          </a:prstGeom>
          <a:solidFill>
            <a:srgbClr val="EDF1E9"/>
          </a:solidFill>
          <a:ln w="7620">
            <a:solidFill>
              <a:srgbClr val="D9DDD2"/>
            </a:solidFill>
            <a:prstDash val="solid"/>
          </a:ln>
        </p:spPr>
      </p:sp>
      <p:sp>
        <p:nvSpPr>
          <p:cNvPr id="20" name="Text 18"/>
          <p:cNvSpPr/>
          <p:nvPr/>
        </p:nvSpPr>
        <p:spPr>
          <a:xfrm>
            <a:off x="4553712" y="2532888"/>
            <a:ext cx="3200400" cy="320040"/>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MATERIALS &amp; BUILD-UP</a:t>
            </a:r>
            <a:endParaRPr lang="en-US" sz="1600" dirty="0"/>
          </a:p>
        </p:txBody>
      </p:sp>
      <p:sp>
        <p:nvSpPr>
          <p:cNvPr id="21" name="Text 19"/>
          <p:cNvSpPr/>
          <p:nvPr/>
        </p:nvSpPr>
        <p:spPr>
          <a:xfrm>
            <a:off x="4553712" y="3108960"/>
            <a:ext cx="3200400" cy="612648"/>
          </a:xfrm>
          <a:prstGeom prst="rect">
            <a:avLst/>
          </a:prstGeom>
          <a:noFill/>
          <a:ln/>
        </p:spPr>
        <p:txBody>
          <a:bodyPr wrap="square" lIns="0" tIns="0" rIns="0" bIns="0" rtlCol="0" anchor="ctr"/>
          <a:lstStyle/>
          <a:p>
            <a:pPr indent="0" marL="0">
              <a:buNone/>
            </a:pPr>
            <a:r>
              <a:rPr lang="en-US" sz="2200" b="1" dirty="0">
                <a:solidFill>
                  <a:srgbClr val="173C51"/>
                </a:solidFill>
                <a:latin typeface="Noto Serif" pitchFamily="34" charset="0"/>
                <a:ea typeface="Noto Serif" pitchFamily="34" charset="-122"/>
                <a:cs typeface="Noto Serif" pitchFamily="34" charset="-120"/>
              </a:rPr>
              <a:t>Screening, sections, budget and modules</a:t>
            </a:r>
            <a:endParaRPr lang="en-US" sz="2200" dirty="0"/>
          </a:p>
        </p:txBody>
      </p:sp>
      <p:sp>
        <p:nvSpPr>
          <p:cNvPr id="22" name="Text 20"/>
          <p:cNvSpPr/>
          <p:nvPr/>
        </p:nvSpPr>
        <p:spPr>
          <a:xfrm>
            <a:off x="4553712" y="3931920"/>
            <a:ext cx="3200400" cy="5120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Proposed interfaces and implementation constraints</a:t>
            </a:r>
            <a:endParaRPr lang="en-US" sz="1600" dirty="0"/>
          </a:p>
        </p:txBody>
      </p:sp>
      <p:sp>
        <p:nvSpPr>
          <p:cNvPr id="23" name="Shape 21"/>
          <p:cNvSpPr/>
          <p:nvPr/>
        </p:nvSpPr>
        <p:spPr>
          <a:xfrm>
            <a:off x="8147304" y="2295144"/>
            <a:ext cx="3566160" cy="2377440"/>
          </a:xfrm>
          <a:prstGeom prst="rect">
            <a:avLst>
              <a:gd name="adj" fmla="val 3846"/>
            </a:avLst>
          </a:prstGeom>
          <a:solidFill>
            <a:srgbClr val="EDF1E9"/>
          </a:solidFill>
          <a:ln w="7620">
            <a:solidFill>
              <a:srgbClr val="D9DDD2"/>
            </a:solidFill>
            <a:prstDash val="solid"/>
          </a:ln>
        </p:spPr>
      </p:sp>
      <p:sp>
        <p:nvSpPr>
          <p:cNvPr id="24" name="Text 22"/>
          <p:cNvSpPr/>
          <p:nvPr/>
        </p:nvSpPr>
        <p:spPr>
          <a:xfrm>
            <a:off x="8330184" y="2532888"/>
            <a:ext cx="3200400" cy="320040"/>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PERFORMANCE</a:t>
            </a:r>
            <a:endParaRPr lang="en-US" sz="1600" dirty="0"/>
          </a:p>
        </p:txBody>
      </p:sp>
      <p:sp>
        <p:nvSpPr>
          <p:cNvPr id="25" name="Text 23"/>
          <p:cNvSpPr/>
          <p:nvPr/>
        </p:nvSpPr>
        <p:spPr>
          <a:xfrm>
            <a:off x="8330184" y="3108960"/>
            <a:ext cx="3200400" cy="612648"/>
          </a:xfrm>
          <a:prstGeom prst="rect">
            <a:avLst/>
          </a:prstGeom>
          <a:noFill/>
          <a:ln/>
        </p:spPr>
        <p:txBody>
          <a:bodyPr wrap="square" lIns="0" tIns="0" rIns="0" bIns="0" rtlCol="0" anchor="ctr"/>
          <a:lstStyle/>
          <a:p>
            <a:pPr indent="0" marL="0">
              <a:buNone/>
            </a:pPr>
            <a:r>
              <a:rPr lang="en-US" sz="2200" b="1" dirty="0">
                <a:solidFill>
                  <a:srgbClr val="173C51"/>
                </a:solidFill>
                <a:latin typeface="Noto Serif" pitchFamily="34" charset="0"/>
                <a:ea typeface="Noto Serif" pitchFamily="34" charset="-122"/>
                <a:cs typeface="Noto Serif" pitchFamily="34" charset="-120"/>
              </a:rPr>
              <a:t>Time-dependent shade and sensitivity</a:t>
            </a:r>
            <a:endParaRPr lang="en-US" sz="2200" dirty="0"/>
          </a:p>
        </p:txBody>
      </p:sp>
      <p:sp>
        <p:nvSpPr>
          <p:cNvPr id="26" name="Text 24"/>
          <p:cNvSpPr/>
          <p:nvPr/>
        </p:nvSpPr>
        <p:spPr>
          <a:xfrm>
            <a:off x="8330184" y="3931920"/>
            <a:ext cx="3200400" cy="512064"/>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Geometry, cover and spatial-distribution effects</a:t>
            </a:r>
            <a:endParaRPr lang="en-US" sz="1600" dirty="0"/>
          </a:p>
        </p:txBody>
      </p:sp>
      <p:sp>
        <p:nvSpPr>
          <p:cNvPr id="27" name="Shape 25"/>
          <p:cNvSpPr/>
          <p:nvPr/>
        </p:nvSpPr>
        <p:spPr>
          <a:xfrm>
            <a:off x="749808" y="5148072"/>
            <a:ext cx="3474720" cy="411480"/>
          </a:xfrm>
          <a:prstGeom prst="rect">
            <a:avLst>
              <a:gd name="adj" fmla="val 22222"/>
            </a:avLst>
          </a:prstGeom>
          <a:solidFill>
            <a:srgbClr val="EDF1E9"/>
          </a:solidFill>
          <a:ln w="7620">
            <a:solidFill>
              <a:srgbClr val="EDF1E9"/>
            </a:solidFill>
            <a:prstDash val="solid"/>
          </a:ln>
        </p:spPr>
      </p:sp>
      <p:sp>
        <p:nvSpPr>
          <p:cNvPr id="28" name="Text 26"/>
          <p:cNvSpPr/>
          <p:nvPr/>
        </p:nvSpPr>
        <p:spPr>
          <a:xfrm>
            <a:off x="859536" y="5212080"/>
            <a:ext cx="325526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7 PARAMETER MODELS</a:t>
            </a:r>
            <a:endParaRPr lang="en-US" sz="1400" dirty="0"/>
          </a:p>
        </p:txBody>
      </p:sp>
      <p:sp>
        <p:nvSpPr>
          <p:cNvPr id="29" name="Shape 27"/>
          <p:cNvSpPr/>
          <p:nvPr/>
        </p:nvSpPr>
        <p:spPr>
          <a:xfrm>
            <a:off x="4389120" y="5148072"/>
            <a:ext cx="3474720" cy="411480"/>
          </a:xfrm>
          <a:prstGeom prst="rect">
            <a:avLst>
              <a:gd name="adj" fmla="val 22222"/>
            </a:avLst>
          </a:prstGeom>
          <a:solidFill>
            <a:srgbClr val="EDF1E9"/>
          </a:solidFill>
          <a:ln w="7620">
            <a:solidFill>
              <a:srgbClr val="EDF1E9"/>
            </a:solidFill>
            <a:prstDash val="solid"/>
          </a:ln>
        </p:spPr>
      </p:sp>
      <p:sp>
        <p:nvSpPr>
          <p:cNvPr id="30" name="Text 28"/>
          <p:cNvSpPr/>
          <p:nvPr/>
        </p:nvSpPr>
        <p:spPr>
          <a:xfrm>
            <a:off x="4498848" y="5212080"/>
            <a:ext cx="325526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5 COVER STATES</a:t>
            </a:r>
            <a:endParaRPr lang="en-US" sz="1400" dirty="0"/>
          </a:p>
        </p:txBody>
      </p:sp>
      <p:sp>
        <p:nvSpPr>
          <p:cNvPr id="31" name="Shape 29"/>
          <p:cNvSpPr/>
          <p:nvPr/>
        </p:nvSpPr>
        <p:spPr>
          <a:xfrm>
            <a:off x="8028432" y="5148072"/>
            <a:ext cx="3474720" cy="411480"/>
          </a:xfrm>
          <a:prstGeom prst="rect">
            <a:avLst>
              <a:gd name="adj" fmla="val 22222"/>
            </a:avLst>
          </a:prstGeom>
          <a:solidFill>
            <a:srgbClr val="EDF1E9"/>
          </a:solidFill>
          <a:ln w="7620">
            <a:solidFill>
              <a:srgbClr val="EDF1E9"/>
            </a:solidFill>
            <a:prstDash val="solid"/>
          </a:ln>
        </p:spPr>
      </p:sp>
      <p:sp>
        <p:nvSpPr>
          <p:cNvPr id="32" name="Text 30"/>
          <p:cNvSpPr/>
          <p:nvPr/>
        </p:nvSpPr>
        <p:spPr>
          <a:xfrm>
            <a:off x="8138160" y="5212080"/>
            <a:ext cx="325526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1,750 TIME-STEP RESULTS</a:t>
            </a:r>
            <a:endParaRPr lang="en-US" sz="1400" dirty="0"/>
          </a:p>
        </p:txBody>
      </p:sp>
      <p:sp>
        <p:nvSpPr>
          <p:cNvPr id="33" name="Text 31"/>
          <p:cNvSpPr/>
          <p:nvPr/>
        </p:nvSpPr>
        <p:spPr>
          <a:xfrm>
            <a:off x="795528" y="5870448"/>
            <a:ext cx="10652760" cy="320040"/>
          </a:xfrm>
          <a:prstGeom prst="rect">
            <a:avLst/>
          </a:prstGeom>
          <a:noFill/>
          <a:ln/>
        </p:spPr>
        <p:txBody>
          <a:bodyPr wrap="square" lIns="0" tIns="0" rIns="0" bIns="0" rtlCol="0" anchor="ctr"/>
          <a:lstStyle/>
          <a:p>
            <a:pPr algn="ctr" indent="0" marL="0">
              <a:buNone/>
            </a:pPr>
            <a:r>
              <a:rPr lang="en-US" sz="1800" b="1" dirty="0">
                <a:solidFill>
                  <a:srgbClr val="173C51"/>
                </a:solidFill>
                <a:latin typeface="Noto Sans" pitchFamily="34" charset="0"/>
                <a:ea typeface="Noto Sans" pitchFamily="34" charset="-122"/>
                <a:cs typeface="Noto Sans" pitchFamily="34" charset="-120"/>
              </a:rPr>
              <a:t>Next: confirm products and joints, calibrate plant establishment, and test the real site.</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REFERENCES / Q&amp;A</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References and project evidence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Method sources and project inputs are separate; drawings, brief and schedules accompany the deck.</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Literature entries were supplied with project records; original-source checks remain pending. Unverified factors are not presented as certified standards.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19</a:t>
            </a:r>
            <a:endParaRPr lang="en-US" sz="1000" dirty="0"/>
          </a:p>
        </p:txBody>
      </p:sp>
      <p:sp>
        <p:nvSpPr>
          <p:cNvPr id="15" name="Text 13"/>
          <p:cNvSpPr/>
          <p:nvPr/>
        </p:nvSpPr>
        <p:spPr>
          <a:xfrm>
            <a:off x="594360" y="2075688"/>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[1] OUTDOOR SHADE &amp; COMFORT</a:t>
            </a:r>
            <a:endParaRPr lang="en-US" sz="1300" dirty="0"/>
          </a:p>
        </p:txBody>
      </p:sp>
      <p:sp>
        <p:nvSpPr>
          <p:cNvPr id="16" name="Text 14"/>
          <p:cNvSpPr/>
          <p:nvPr/>
        </p:nvSpPr>
        <p:spPr>
          <a:xfrm>
            <a:off x="594360" y="2487168"/>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Watanabe et al. (2014). Evaluation of outdoor thermal comfort in sunlight, building shade, and pergola shade during summer in a humid subtropical region. Building and Environment, 82, 556–565.</a:t>
            </a:r>
            <a:endParaRPr lang="en-US" sz="1350" dirty="0"/>
          </a:p>
        </p:txBody>
      </p:sp>
      <p:sp>
        <p:nvSpPr>
          <p:cNvPr id="17" name="Text 15"/>
          <p:cNvSpPr/>
          <p:nvPr/>
        </p:nvSpPr>
        <p:spPr>
          <a:xfrm>
            <a:off x="6217920" y="2075688"/>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[2] GREENING MECHANISMS</a:t>
            </a:r>
            <a:endParaRPr lang="en-US" sz="1300" dirty="0"/>
          </a:p>
        </p:txBody>
      </p:sp>
      <p:sp>
        <p:nvSpPr>
          <p:cNvPr id="18" name="Text 16"/>
          <p:cNvSpPr/>
          <p:nvPr/>
        </p:nvSpPr>
        <p:spPr>
          <a:xfrm>
            <a:off x="6217920" y="2487168"/>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Hoelscher et al. (2016). Quantifying cooling effects of facade greening: Shading, transpiration and insulation. Energy and Buildings, 114, 283–290.</a:t>
            </a:r>
            <a:endParaRPr lang="en-US" sz="1350" dirty="0"/>
          </a:p>
        </p:txBody>
      </p:sp>
      <p:sp>
        <p:nvSpPr>
          <p:cNvPr id="19" name="Text 17"/>
          <p:cNvSpPr/>
          <p:nvPr/>
        </p:nvSpPr>
        <p:spPr>
          <a:xfrm>
            <a:off x="594360" y="3557016"/>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[3] SOLAR GEOMETRY</a:t>
            </a:r>
            <a:endParaRPr lang="en-US" sz="1300" dirty="0"/>
          </a:p>
        </p:txBody>
      </p:sp>
      <p:sp>
        <p:nvSpPr>
          <p:cNvPr id="20" name="Text 18"/>
          <p:cNvSpPr/>
          <p:nvPr/>
        </p:nvSpPr>
        <p:spPr>
          <a:xfrm>
            <a:off x="594360" y="3968496"/>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NOAA Global Monitoring Division. General Solar Position Calculations.</a:t>
            </a:r>
            <a:endParaRPr lang="en-US" sz="1350" dirty="0"/>
          </a:p>
          <a:p>
            <a:pPr indent="0" marL="0">
              <a:buNone/>
            </a:pPr>
            <a:r>
              <a:rPr lang="en-US" sz="1350" dirty="0">
                <a:solidFill>
                  <a:srgbClr val="34434A"/>
                </a:solidFill>
                <a:latin typeface="Noto Sans" pitchFamily="34" charset="0"/>
                <a:ea typeface="Noto Sans" pitchFamily="34" charset="-122"/>
                <a:cs typeface="Noto Sans" pitchFamily="34" charset="-120"/>
              </a:rPr>
              <a:t>gml.noaa.gov/grad/solcalc/solareqns.PDF</a:t>
            </a:r>
            <a:endParaRPr lang="en-US" sz="1350" dirty="0"/>
          </a:p>
        </p:txBody>
      </p:sp>
      <p:sp>
        <p:nvSpPr>
          <p:cNvPr id="21" name="Text 19"/>
          <p:cNvSpPr/>
          <p:nvPr/>
        </p:nvSpPr>
        <p:spPr>
          <a:xfrm>
            <a:off x="6217920" y="3557016"/>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[4] COMFORT METHOD</a:t>
            </a:r>
            <a:endParaRPr lang="en-US" sz="1300" dirty="0"/>
          </a:p>
        </p:txBody>
      </p:sp>
      <p:sp>
        <p:nvSpPr>
          <p:cNvPr id="22" name="Text 20"/>
          <p:cNvSpPr/>
          <p:nvPr/>
        </p:nvSpPr>
        <p:spPr>
          <a:xfrm>
            <a:off x="6217920" y="3968496"/>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UTCI Calculator / COST Action 730.</a:t>
            </a:r>
            <a:endParaRPr lang="en-US" sz="1350" dirty="0"/>
          </a:p>
          <a:p>
            <a:pPr indent="0" marL="0">
              <a:buNone/>
            </a:pPr>
            <a:r>
              <a:rPr lang="en-US" sz="1350" dirty="0">
                <a:solidFill>
                  <a:srgbClr val="34434A"/>
                </a:solidFill>
                <a:latin typeface="Noto Sans" pitchFamily="34" charset="0"/>
                <a:ea typeface="Noto Sans" pitchFamily="34" charset="-122"/>
                <a:cs typeface="Noto Sans" pitchFamily="34" charset="-120"/>
              </a:rPr>
              <a:t>www.utci.org/utci_calc.php</a:t>
            </a:r>
            <a:endParaRPr lang="en-US" sz="1350" dirty="0"/>
          </a:p>
          <a:p>
            <a:pPr indent="0" marL="0">
              <a:buNone/>
            </a:pPr>
            <a:r>
              <a:rPr lang="en-US" sz="1350" dirty="0">
                <a:solidFill>
                  <a:srgbClr val="34434A"/>
                </a:solidFill>
                <a:latin typeface="Noto Sans" pitchFamily="34" charset="0"/>
                <a:ea typeface="Noto Sans" pitchFamily="34" charset="-122"/>
                <a:cs typeface="Noto Sans" pitchFamily="34" charset="-120"/>
              </a:rPr>
              <a:t>Method lead only; no project UTCI result is reported.</a:t>
            </a:r>
            <a:endParaRPr lang="en-US" sz="1350" dirty="0"/>
          </a:p>
        </p:txBody>
      </p:sp>
      <p:sp>
        <p:nvSpPr>
          <p:cNvPr id="23" name="Shape 21"/>
          <p:cNvSpPr/>
          <p:nvPr/>
        </p:nvSpPr>
        <p:spPr>
          <a:xfrm>
            <a:off x="594360" y="5120640"/>
            <a:ext cx="10927080" cy="0"/>
          </a:xfrm>
          <a:prstGeom prst="line">
            <a:avLst/>
          </a:prstGeom>
          <a:noFill/>
          <a:ln w="8890">
            <a:solidFill>
              <a:srgbClr val="D9DDD2"/>
            </a:solidFill>
            <a:prstDash val="solid"/>
          </a:ln>
        </p:spPr>
      </p:sp>
      <p:sp>
        <p:nvSpPr>
          <p:cNvPr id="24" name="Text 22"/>
          <p:cNvSpPr/>
          <p:nvPr/>
        </p:nvSpPr>
        <p:spPr>
          <a:xfrm>
            <a:off x="594360" y="5285232"/>
            <a:ext cx="210312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PROJECT RECORDS</a:t>
            </a:r>
            <a:endParaRPr lang="en-US" sz="1300" dirty="0"/>
          </a:p>
        </p:txBody>
      </p:sp>
      <p:sp>
        <p:nvSpPr>
          <p:cNvPr id="25" name="Text 23"/>
          <p:cNvSpPr/>
          <p:nvPr/>
        </p:nvSpPr>
        <p:spPr>
          <a:xfrm>
            <a:off x="2743200" y="5257800"/>
            <a:ext cx="8686800" cy="640080"/>
          </a:xfrm>
          <a:prstGeom prst="rect">
            <a:avLst/>
          </a:prstGeom>
          <a:noFill/>
          <a:ln/>
        </p:spPr>
        <p:txBody>
          <a:bodyPr wrap="square" lIns="0" tIns="0" rIns="0" bIns="0" rtlCol="0" anchor="ctr"/>
          <a:lstStyle/>
          <a:p>
            <a:pPr indent="0" marL="0">
              <a:buNone/>
            </a:pPr>
            <a:r>
              <a:rPr lang="en-US" sz="1400" dirty="0">
                <a:solidFill>
                  <a:srgbClr val="34434A"/>
                </a:solidFill>
                <a:latin typeface="Noto Sans" pitchFamily="34" charset="0"/>
                <a:ea typeface="Noto Sans" pitchFamily="34" charset="-122"/>
                <a:cs typeface="Noto Sans" pitchFamily="34" charset="-120"/>
              </a:rPr>
              <a:t>P1 Model &amp; take-off  •  P2 Ideal shade analysis  •  P3 Cost-Analysis.xlsx</a:t>
            </a:r>
            <a:endParaRPr lang="en-US" sz="1400" dirty="0"/>
          </a:p>
          <a:p>
            <a:pPr indent="0" marL="0">
              <a:buNone/>
            </a:pPr>
            <a:r>
              <a:rPr lang="en-US" sz="1400" dirty="0">
                <a:solidFill>
                  <a:srgbClr val="34434A"/>
                </a:solidFill>
                <a:latin typeface="Noto Sans" pitchFamily="34" charset="0"/>
                <a:ea typeface="Noto Sans" pitchFamily="34" charset="-122"/>
                <a:cs typeface="Noto Sans" pitchFamily="34" charset="-120"/>
              </a:rPr>
              <a:t>P4 Proposed design &amp; build-up  •  P5 Parameter and spatial-cover simulation</a:t>
            </a:r>
            <a:endParaRPr lang="en-US" sz="1400" dirty="0"/>
          </a:p>
        </p:txBody>
      </p:sp>
      <p:sp>
        <p:nvSpPr>
          <p:cNvPr id="26" name="Text 24"/>
          <p:cNvSpPr/>
          <p:nvPr/>
        </p:nvSpPr>
        <p:spPr>
          <a:xfrm>
            <a:off x="594360" y="6035040"/>
            <a:ext cx="10972800" cy="256032"/>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P6 Plant establishment concept and assumed-rate route sensitivity; not a measured growth forecast.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erif"/>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VineWeave Canopy — Course-aligned Draft V4</dc:title>
  <dc:subject>green building — VineWeave Canopy</dc:subject>
  <dc:creator>Group 12</dc:creator>
  <cp:lastModifiedBy>Group 12</cp:lastModifiedBy>
  <cp:revision>1</cp:revision>
  <dcterms:created xsi:type="dcterms:W3CDTF">2026-10-25T09:17:58Z</dcterms:created>
  <dcterms:modified xsi:type="dcterms:W3CDTF">2026-10-25T09:17:58Z</dcterms:modified>
</cp:coreProperties>
</file>
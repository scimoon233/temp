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Deflection / adopted limit</c:v>
                </c:pt>
              </c:strCache>
            </c:strRef>
          </c:tx>
          <c:spPr>
            <a:solidFill>
              <a:srgbClr val="346A55"/>
            </a:solidFill>
            <a:effectLst/>
          </c:spPr>
          <c:invertIfNegative val="0"/>
          <c:dLbls>
            <c:numFmt formatCode="0.00"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cat>
            <c:multiLvlStrRef>
              <c:f>Sheet1!$A$2:$A$3</c:f>
              <c:multiLvlStrCache>
                <c:ptCount val="2"/>
                <c:lvl>
                  <c:pt idx="0">
                    <c:v>Simply supported</c:v>
                  </c:pt>
                  <c:pt idx="1">
                    <c:v>Ideal fixed ends</c:v>
                  </c:pt>
                </c:lvl>
              </c:multiLvlStrCache>
            </c:multiLvlStrRef>
          </c:cat>
          <c:val>
            <c:numRef>
              <c:f>Sheet1!$B$2:$B$3</c:f>
              <c:numCache>
                <c:formatCode>General</c:formatCode>
                <c:ptCount val="2"/>
                <c:pt idx="0">
                  <c:v>3.02</c:v>
                </c:pt>
                <c:pt idx="1">
                  <c:v>0.6</c:v>
                </c:pt>
              </c:numCache>
            </c:numRef>
          </c:val>
        </c:ser>
        <c:dLbls>
          <c:numFmt formatCode="0.00"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7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Cost / CNY</c:v>
                </c:pt>
              </c:strCache>
            </c:strRef>
          </c:tx>
          <c:spPr>
            <a:solidFill>
              <a:srgbClr val="346A55"/>
            </a:solidFill>
            <a:effectLst/>
          </c:spPr>
          <c:invertIfNegative val="0"/>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dPt>
            <c:idx val="3"/>
            <c:invertIfNegative val="0"/>
            <c:bubble3D val="0"/>
            <c:spPr>
              <a:solidFill>
                <a:srgbClr val="346A55"/>
              </a:solidFill>
              <a:effectLst/>
            </c:spPr>
          </c:dPt>
          <c:dPt>
            <c:idx val="4"/>
            <c:invertIfNegative val="0"/>
            <c:bubble3D val="0"/>
            <c:spPr>
              <a:solidFill>
                <a:srgbClr val="A7B7A2"/>
              </a:solidFill>
              <a:effectLst/>
            </c:spPr>
          </c:dPt>
          <c:dPt>
            <c:idx val="5"/>
            <c:invertIfNegative val="0"/>
            <c:bubble3D val="0"/>
            <c:spPr>
              <a:solidFill>
                <a:srgbClr val="AA7E4A"/>
              </a:solidFill>
              <a:effectLst/>
            </c:spPr>
          </c:dPt>
          <c:dPt>
            <c:idx val="6"/>
            <c:invertIfNegative val="0"/>
            <c:bubble3D val="0"/>
            <c:spPr>
              <a:solidFill>
                <a:srgbClr val="346A55"/>
              </a:solidFill>
              <a:effectLst/>
            </c:spPr>
          </c:dPt>
          <c:cat>
            <c:multiLvlStrRef>
              <c:f>Sheet1!$A$2:$A$8</c:f>
              <c:multiLvlStrCache>
                <c:ptCount val="7"/>
                <c:lvl>
                  <c:pt idx="0">
                    <c:v>Materials</c:v>
                  </c:pt>
                  <c:pt idx="1">
                    <c:v>Installation</c:v>
                  </c:pt>
                  <c:pt idx="2">
                    <c:v>Other</c:v>
                  </c:pt>
                  <c:pt idx="3">
                    <c:v>Fabrication</c:v>
                  </c:pt>
                  <c:pt idx="4">
                    <c:v>Maintenance</c:v>
                  </c:pt>
                  <c:pt idx="5">
                    <c:v>Planting</c:v>
                  </c:pt>
                  <c:pt idx="6">
                    <c:v>Transport</c:v>
                  </c:pt>
                </c:lvl>
              </c:multiLvlStrCache>
            </c:multiLvlStrRef>
          </c:cat>
          <c:val>
            <c:numRef>
              <c:f>Sheet1!$B$2:$B$8</c:f>
              <c:numCache>
                <c:formatCode>General</c:formatCode>
                <c:ptCount val="7"/>
                <c:pt idx="0">
                  <c:v>30549.3022975</c:v>
                </c:pt>
                <c:pt idx="1">
                  <c:v>6050</c:v>
                </c:pt>
                <c:pt idx="2">
                  <c:v>5679.6828674</c:v>
                </c:pt>
                <c:pt idx="3">
                  <c:v>5241.733545</c:v>
                </c:pt>
                <c:pt idx="4">
                  <c:v>2300</c:v>
                </c:pt>
                <c:pt idx="5">
                  <c:v>1165</c:v>
                </c:pt>
                <c:pt idx="6">
                  <c:v>690</c:v>
                </c:pt>
              </c:numCache>
            </c:numRef>
          </c:val>
        </c:ser>
        <c:dLbls>
          <c:numFmt formatCode="#,##0" sourceLinked="0"/>
          <c:txPr>
            <a:bodyPr/>
            <a:lstStyle/>
            <a:p>
              <a:pPr>
                <a:defRPr b="0" i="0" strike="noStrike" sz="14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5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35000"/>
          <c:min val="0"/>
        </c:scaling>
        <c:delete val="0"/>
        <c:axPos val="b"/>
        <c:majorGridlines>
          <c:spPr>
            <a:ln w="12700" cap="flat">
              <a:solidFill>
                <a:srgbClr val="D9DDD2"/>
              </a:solidFill>
              <a:prstDash val="solid"/>
              <a:round/>
            </a:ln>
          </c:spPr>
        </c:majorGridlines>
        <c:numFmt formatCode="0,&quot;k&quot;"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10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Carbon / kgCO₂e</c:v>
                </c:pt>
              </c:strCache>
            </c:strRef>
          </c:tx>
          <c:spPr>
            <a:solidFill>
              <a:schemeClr val="accent1"/>
            </a:solidFill>
            <a:ln w="9525" cap="flat">
              <a:solidFill>
                <a:srgbClr val="F9F9F9"/>
              </a:solidFill>
              <a:prstDash val="solid"/>
              <a:round/>
            </a:ln>
            <a:effectLst/>
          </c:spPr>
          <c:dPt>
            <c:idx val="0"/>
            <c:bubble3D val="0"/>
            <c:spPr>
              <a:solidFill>
                <a:srgbClr val="346A55"/>
              </a:solidFill>
              <a:effectLst/>
            </c:spPr>
          </c:dPt>
          <c:dPt>
            <c:idx val="1"/>
            <c:bubble3D val="0"/>
            <c:spPr>
              <a:solidFill>
                <a:srgbClr val="A7B7A2"/>
              </a:solidFill>
              <a:effectLst/>
            </c:spPr>
          </c:dPt>
          <c:dPt>
            <c:idx val="2"/>
            <c:bubble3D val="0"/>
            <c:spPr>
              <a:solidFill>
                <a:srgbClr val="AA7E4A"/>
              </a:solidFill>
              <a:effectLst/>
            </c:spPr>
          </c:dPt>
          <c:dLbls>
            <c:dLbl>
              <c:idx val="0"/>
              <c:numFmt formatCode="0%" sourceLinked="0"/>
              <c:spPr/>
              <c:txPr>
                <a:bodyPr/>
                <a:lstStyle/>
                <a:p>
                  <a:pPr>
                    <a:defRPr sz="1800" b="0" i="0" u="none" strike="noStrike">
                      <a:solidFill>
                        <a:srgbClr val="173C51"/>
                      </a:solidFill>
                      <a:latin typeface="Arial"/>
                    </a:defRPr>
                  </a:pPr>
                </a:p>
              </c:txPr>
              <c:showLegendKey val="0"/>
              <c:showVal val="0"/>
              <c:showCatName val="0"/>
              <c:showSerName val="0"/>
              <c:showPercent val="0"/>
              <c:showBubbleSize val="0"/>
            </c:dLbl>
            <c:dLbl>
              <c:idx val="1"/>
              <c:numFmt formatCode="0%" sourceLinked="0"/>
              <c:spPr/>
              <c:txPr>
                <a:bodyPr/>
                <a:lstStyle/>
                <a:p>
                  <a:pPr>
                    <a:defRPr sz="1800" b="0" i="0" u="none" strike="noStrike">
                      <a:solidFill>
                        <a:srgbClr val="173C51"/>
                      </a:solidFill>
                      <a:latin typeface="Arial"/>
                    </a:defRPr>
                  </a:pPr>
                </a:p>
              </c:txPr>
              <c:showLegendKey val="0"/>
              <c:showVal val="0"/>
              <c:showCatName val="0"/>
              <c:showSerName val="0"/>
              <c:showPercent val="0"/>
              <c:showBubbleSize val="0"/>
            </c:dLbl>
            <c:dLbl>
              <c:idx val="2"/>
              <c:numFmt formatCode="0%" sourceLinked="0"/>
              <c:spPr/>
              <c:txPr>
                <a:bodyPr/>
                <a:lstStyle/>
                <a:p>
                  <a:pPr>
                    <a:defRPr sz="1800" b="0" i="0" u="none" strike="noStrike">
                      <a:solidFill>
                        <a:srgbClr val="173C51"/>
                      </a:solidFill>
                      <a:latin typeface="Arial"/>
                    </a:defRPr>
                  </a:pPr>
                </a:p>
              </c:txPr>
              <c:showLegendKey val="0"/>
              <c:showVal val="0"/>
              <c:showCatName val="0"/>
              <c:showSerName val="0"/>
              <c:showPercent val="0"/>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Primary members</c:v>
                </c:pt>
                <c:pt idx="1">
                  <c:v>Counterweight</c:v>
                </c:pt>
                <c:pt idx="2">
                  <c:v>Other components</c:v>
                </c:pt>
              </c:strCache>
            </c:strRef>
          </c:cat>
          <c:val>
            <c:numRef>
              <c:f>Sheet1!$B$2:$B$4</c:f>
              <c:numCache>
                <c:ptCount val="3"/>
                <c:pt idx="0">
                  <c:v>1581.19629365</c:v>
                </c:pt>
                <c:pt idx="1">
                  <c:v>1088.64</c:v>
                </c:pt>
                <c:pt idx="2">
                  <c:v>150</c:v>
                </c:pt>
              </c:numCache>
            </c:numRef>
          </c:val>
        </c:ser>
        <c:firstSliceAng val="0"/>
        <c:holeSize val="66"/>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Mean direct-beam blockage (%)</c:v>
                </c:pt>
              </c:strCache>
            </c:strRef>
          </c:tx>
          <c:spPr>
            <a:solidFill>
              <a:srgbClr val="346A55"/>
            </a:solidFill>
            <a:effectLst/>
          </c:spPr>
          <c:invertIfNegative val="0"/>
          <c:dLbls>
            <c:numFmt formatCode="0.0&quot;%&quot;" sourceLinked="0"/>
            <c:txPr>
              <a:bodyPr/>
              <a:lstStyle/>
              <a:p>
                <a:pPr>
                  <a:defRPr b="0" i="0" strike="noStrike" sz="17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cat>
            <c:multiLvlStrRef>
              <c:f>Sheet1!$A$2:$A$4</c:f>
              <c:multiLvlStrCache>
                <c:ptCount val="3"/>
                <c:lvl>
                  <c:pt idx="0">
                    <c:v>Smaller crown</c:v>
                  </c:pt>
                  <c:pt idx="1">
                    <c:v>Baseline</c:v>
                  </c:pt>
                  <c:pt idx="2">
                    <c:v>Larger crown</c:v>
                  </c:pt>
                </c:lvl>
              </c:multiLvlStrCache>
            </c:multiLvlStrRef>
          </c:cat>
          <c:val>
            <c:numRef>
              <c:f>Sheet1!$B$2:$B$4</c:f>
              <c:numCache>
                <c:formatCode>General</c:formatCode>
                <c:ptCount val="3"/>
                <c:pt idx="0">
                  <c:v>52.27950152921584</c:v>
                </c:pt>
                <c:pt idx="1">
                  <c:v>60.19719328472306</c:v>
                </c:pt>
                <c:pt idx="2">
                  <c:v>66.14345280947457</c:v>
                </c:pt>
              </c:numCache>
            </c:numRef>
          </c:val>
        </c:ser>
        <c:dLbls>
          <c:numFmt formatCode="0.0&quot;%&quot;" sourceLinked="0"/>
          <c:txPr>
            <a:bodyPr/>
            <a:lstStyle/>
            <a:p>
              <a:pPr>
                <a:defRPr b="0" i="0" strike="noStrike" sz="17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9DDD2"/>
            </a:solidFill>
            <a:prstDash val="solid"/>
            <a:round/>
          </a:ln>
        </c:spPr>
        <c:txPr>
          <a:bodyPr/>
          <a:lstStyle/>
          <a:p>
            <a:pPr>
              <a:defRPr sz="15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D9DDD2"/>
              </a:solidFill>
              <a:prstDash val="solid"/>
              <a:round/>
            </a:ln>
          </c:spPr>
        </c:majorGridlines>
        <c:numFmt formatCode="General" sourceLinked="0"/>
        <c:majorTickMark val="out"/>
        <c:minorTickMark val="none"/>
        <c:tickLblPos val="nextTo"/>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Mean equivalent direct-beam blockage (%)</c:v>
                </c:pt>
              </c:strCache>
            </c:strRef>
          </c:tx>
          <c:spPr>
            <a:solidFill>
              <a:srgbClr val="346A55"/>
            </a:solidFill>
            <a:effectLst/>
          </c:spPr>
          <c:invertIfNegative val="0"/>
          <c:dLbls>
            <c:numFmt formatCode="0.0&quot;%&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dPt>
            <c:idx val="0"/>
            <c:invertIfNegative val="0"/>
            <c:bubble3D val="0"/>
            <c:spPr>
              <a:solidFill>
                <a:srgbClr val="346A55"/>
              </a:solidFill>
              <a:effectLst/>
            </c:spPr>
          </c:dPt>
          <c:dPt>
            <c:idx val="1"/>
            <c:invertIfNegative val="0"/>
            <c:bubble3D val="0"/>
            <c:spPr>
              <a:solidFill>
                <a:srgbClr val="A7B7A2"/>
              </a:solidFill>
              <a:effectLst/>
            </c:spPr>
          </c:dPt>
          <c:dPt>
            <c:idx val="2"/>
            <c:invertIfNegative val="0"/>
            <c:bubble3D val="0"/>
            <c:spPr>
              <a:solidFill>
                <a:srgbClr val="AA7E4A"/>
              </a:solidFill>
              <a:effectLst/>
            </c:spPr>
          </c:dPt>
          <c:cat>
            <c:multiLvlStrRef>
              <c:f>Sheet1!$A$2:$A$4</c:f>
              <c:multiLvlStrCache>
                <c:ptCount val="3"/>
                <c:lvl>
                  <c:pt idx="0">
                    <c:v>0% plan cover</c:v>
                  </c:pt>
                  <c:pt idx="1">
                    <c:v>50% plan cover</c:v>
                  </c:pt>
                  <c:pt idx="2">
                    <c:v>95% plan cover</c:v>
                  </c:pt>
                </c:lvl>
              </c:multiLvlStrCache>
            </c:multiLvlStrRef>
          </c:cat>
          <c:val>
            <c:numRef>
              <c:f>Sheet1!$B$2:$B$4</c:f>
              <c:numCache>
                <c:formatCode>General</c:formatCode>
                <c:ptCount val="3"/>
                <c:pt idx="0">
                  <c:v>40.21868884193895</c:v>
                </c:pt>
                <c:pt idx="1">
                  <c:v>60.19719328472306</c:v>
                </c:pt>
                <c:pt idx="2">
                  <c:v>70.6954503684305</c:v>
                </c:pt>
              </c:numCache>
            </c:numRef>
          </c:val>
        </c:ser>
        <c:dLbls>
          <c:numFmt formatCode="0.0&quot;%&quot;" sourceLinked="0"/>
          <c:txPr>
            <a:bodyPr/>
            <a:lstStyle/>
            <a:p>
              <a:pPr>
                <a:defRPr b="0" i="0" strike="noStrike" sz="1600" u="none">
                  <a:solidFill>
                    <a:srgbClr val="173C51"/>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D9DDD2"/>
            </a:solidFill>
            <a:prstDash val="solid"/>
            <a:round/>
          </a:ln>
        </c:spPr>
        <c:txPr>
          <a:bodyPr/>
          <a:lstStyle/>
          <a:p>
            <a:pPr>
              <a:defRPr sz="1400" b="0" i="0" u="none" strike="noStrike">
                <a:solidFill>
                  <a:srgbClr val="000000"/>
                </a:solidFill>
                <a:latin typeface="Noto Sans"/>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D9DDD2"/>
              </a:solidFill>
              <a:prstDash val="solid"/>
              <a:round/>
            </a:ln>
          </c:spPr>
        </c:majorGridlines>
        <c:numFmt formatCode="General" sourceLinked="0"/>
        <c:majorTickMark val="out"/>
        <c:minorTickMark val="none"/>
        <c:tickLblPos val="low"/>
        <c:spPr>
          <a:ln w="12700" cap="flat">
            <a:solidFill>
              <a:srgbClr val="D9DDD2"/>
            </a:solidFill>
            <a:prstDash val="solid"/>
            <a:round/>
          </a:ln>
        </c:spPr>
        <c:txPr>
          <a:bodyPr/>
          <a:lstStyle/>
          <a:p>
            <a:pPr>
              <a:defRPr sz="1300" b="0" i="0" u="none" strike="noStrike">
                <a:solidFill>
                  <a:srgbClr val="000000"/>
                </a:solidFill>
                <a:latin typeface="Noto Sans"/>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VineWeave Canopy is the title and central subject; team credits are secondary.
SPOKEN SCRIPT
We present VineWeave Canopy, a tree-like support system combining climbing plants with pedestrian shade. Our work connects parametric geometry, material and construction choices, and shading performance. The team responsibilities are summarised below. We begin with the public-space problem and the design goals.
TRANSITION
First, the public-space problem.
Q&amp;A
Where are the detailed responsibilities? The names and core roles remain on the cover; the supplied allocation and planning document retain the full task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project targets local shade, not a street-wide cooling claim.
SPOKEN SCRIPT
Our starting point is a short pedestrian pause in an exposed public space. We combine a broad climbing-plant support with open circulation around it. Shading is intended to reduce direct solar exposure. Actual air-temperature and thermal-comfort changes would still need valid environmental measurements or modelling.
TRANSITION
Here is the proposed geometry.
Q&amp;A
How much cooling is achieved? No temperature reduction has been measured or calculated in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geometry creates an elevated climbing envelope while concentrating the supports.
SPOKEN SCRIPT
The model has fifty-nine members. Its extent is about six point two two by six point six six metres, with a height around three point four eight metres. The plan and elevation show the broad crown and converging supports. These are geometric dimensions, separate from structural verification.
TRANSITION
Now, the crown layout.
Q&amp;A
Does a valid model establish safety? No. Closed CAD geometry does not verify member capacity, joints, foundations or wind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crown, opening and open sides each have a defined design role.
SPOKEN SCRIPT
The crown provides a framework for climbing plants. The central opening is retained in the analysis, but its future leaf boundary depends on growth and pruning. Around the support, open sides leave space for movement. They express an airflow intention rather than a proven ventilation effect.
TRANSITION
Next, material roles.
Q&amp;A
Will the central leaf hole remain open? Only under the stated maintenance assumption; real vegetation could grow across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Different member roles motivate different materials.
SPOKEN SCRIPT
Classifying the centre lines by whether they reach the ground gives twelve supports and forty-seven crown members. Steel is proposed for the support zone and engineered bamboo for the crown. The coloured view shows this assignment; neither zone has passed a complete structural analysis.
TRANSITION
Here are the screening inputs.
Q&amp;A
Why must the supports be steel? Steel is the proposed choice; a unique-material necessity has not been established by complete load and stability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Screening values help frame a choice but do not replace product-specific evidence.
SPOKEN SCRIPT
This is a preliminary screen, not a certified specification. The conductivity and carbon factors are workbook inputs. The bamboo product identity, strength, stiffness, density and carbon data must be matched consistently before final selection. A favourable material factor alone does not establish a feasible system.
TRANSITION
Connection restraint is the next condition.
Q&amp;A
Are glubam and scrimber interchangeable? No. Their manufacturing routes and properties can differ, so we retain the generic engineered-bamboo label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calculation identifies a restraint requirement, not a proven joint solution.
SPOKEN SCRIPT
Here the same six point six five metre member is checked under two ideal boundary conditions. Relative to the adopted deflection limit, the simply supported result is about three, while the ideal fixed-end result is about zero point six. This illustrates why connection restraint matters. It does not prove that twelve proposed nodes provide these restraints throughout the complete canopy.
TRANSITION
This also affects the budget.
Q&amp;A
Have the joints passed? No. A detailed joint and global structural model, with verified material inputs, is still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Connections form a substantial part of the estimated cost.
SPOKEN SCRIPT
The estimated unit total is about fifty-one thousand six hundred and seventy-six yuan. The chart includes materials, fabrication, transport, installation, planting, maintenance and other costs. Nodes account for twelve thousand yuan within materials. These are preliminary allowances, not supplier quotations.
TRANSITION
Next, the carbon contributors.
Q&amp;A
Is the price confirmed? No. Node fabrication and the other rates require actual supplier and contractor quotations.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estimate is useful for identifying contributors, but its boundary is not yet certified.
SPOKEN SCRIPT
The preliminary total is about two thousand eight hundred and twenty kilograms of carbon-dioxide equivalent per unit. Primary members contribute the largest share, while the counterweight contributes roughly thirty-nine percent. The bamboo factor, processing boundary and allowance for connection components still need verification. We do not credit biogenic carbon storage or present this as a verified whole-life assessment.
TRANSITION
Now, the planting requirements.
Q&amp;A
Is this verified A1–A3 carbon? Not yet. Factor-specific boundaries must first be aligned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Choose plants through their climbing behaviour, local suitability and maintenance needs.
SPOKEN SCRIPT
These are candidate plants from the project screen. Boston ivy, trumpet creeper and Rangoon creeper climb in different ways. Their suitability must be checked against local climate, anchorage, root space and maintenance. In particular, we have not established a common seasonal pattern or a reliable time to full canopy cover.
TRANSITION
Next, the environmental intention.
Q&amp;A
How soon will the plants cover the canopy? No growth duration has been calibrated; species, site and care evidence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Shading and airflow should not be treated as the same type of result.
SPOKEN SCRIPT
Shading is the direct geometric mechanism studied here. The open edges retain potential lateral airflow paths, but dense vegetation may also resist airflow. The dashed arrows describe an intention, not simulated wind. We do not infer a chimney effect from the central opening or transfer a cooling number from a different greening project.
TRANSITION
Here are the analytical assumptions.
Q&amp;A
Does the opening improve ventilation? It is a hypothesis. A site-specific flow model or measurement is needed to establish an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following percentages are meaningful only with their metric and assumptions.
SPOKEN SCRIPT
We assume thirty degrees north, true solar time and no surrounding obstructions. The target is a fixed reference zone, not net usable floor area. Ideal overlap uses a continuous leaf envelope. Equivalent blockage adds the frame, spatial leaf patches and assumed transmittance. Neither metric is a temperature change.
TRANSITION
First, the ideal shadow footprint.
Q&amp;A
Why two metrics? One isolates geometric overlap; the other adds explicit frame and optical assumptions. Their percentages should not be substituted for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position of the shadow matters as much as the noon percentage.
SPOKEN SCRIPT
The three views use the same scale and target. At nine and fifteen solar time, ideal overlap is about forty-seven percent. At noon it reaches nearly ninety-nine percent, while the six-hour mean is seventy-five point three percent. This is a hypothetical continuous-leaf envelope. It is not a prediction that real vegetation will provide continuous shade throughout the day.
TRANSITION
Next, crown width at fixed cover.
Q&amp;A
Does 98.7 percent describe actual planting? No. It is the ideal leaf-envelope geometric overlap at solstice noon under the stated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larger crown increases blockage in this controlled comparison, not necessarily overall design quality.
SPOKEN SCRIPT
At fifty percent plan cover, increasing crown width raises mean equivalent blockage from fifty-two point three to sixty point two and sixty-six point one percent. But the larger crown requires more member length and more planted area. The comparison does not hold inputs equal or establish an optimum.
TRANSITION
Now, cover at fixed geometry.
Q&amp;A
Is the larger model the best design? Shade is only one criterion; structural capacity, space, material and maintenance have not been jointly optimised.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Coverage is a spatial scenario, not a biological timetable.
SPOKEN SCRIPT
The frame already blocks some sunlight before foliage develops. Holding the structure fixed, the zero, fifty and ninety-five percent cover scenarios give mean direct-beam blockage of about forty, sixty and seventy-one percent. The animation includes two additional intermediate states. These are nested spatial-cover scenarios, not a timetable for real plant growth or a measured seasonal cycle.
TRANSITION
Next, relate shade to occupied space.
Q&amp;A
How many years to ninety-five percent? We have not calibrated growth duration. That requires species, site, planting and maintenance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A useful shade calculation must eventually use the real occupied area.
SPOKEN SCRIPT
The cover stays at fifty percent as the sun changes direction. Seating should follow occupied-hour shade, rather than only the support centre or noon footprint. A real layout must also account for the counterweight, roots and circulation. This reference square is not a verified net usable area.
TRANSITION
Finally, the assembly strategy.
Q&amp;A
Is this a real street layout? No. A site-specific plan and paired environmental validation are still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Prefabrication is an opportunity; the node detail is a construction constraint.
SPOKEN SCRIPT
The proposal uses factory forming, treatment, preassembly and numbering before site installation. The simplified sequence then positions the base, assembles the frame, grouts and cures the nodes, and finishes with inspection and planting. The workbook estimates fourteen person-days, not fourteen calendar days. Grouting also means that completely dry, losslessly reversible construction should not be claimed.
TRANSITION
We close with the main contribution.
Q&amp;A
Can it be easily moved? Relocation and individual replacement depend on the final joints, lifting design and foundation arrangement; they are not yet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The contribution is a traceable concept and scenario analysis, with implementation conditions stated clearly.
SPOKEN SCRIPT
VineWeave combines a tree-like support, climbing vegetation and a proposed material and assembly strategy. The analysis shows how geometry, foliage and sun position affect shade within an explicit target. The next stage is to confirm the bamboo product, connection behaviour and real site conditions before claiming structural or thermal performance. Thank you; we welcome your questions.
TRANSITION
Thank you. We welcome your questions.
Q&amp;A
What is the strongest demonstrated result? The traceable geometric and direct-beam shade scenarios, under their stated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References support methods and mechanisms; project evidence remains distinct.
SPOKEN SCRIPT
This slide is available for questions and is not part of the planned spoken sequence. Literature and method entries are source leads supplied in the project material; their original-source checks remain pending. Project records identify the model, calculations, estimate and proposals.
TRANSITION
Return to the relevant result slide during questions.
Q&amp;A
Do the references validate all material factors? No. Product properties, specific standards and factor boundaries require further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4" Type="http://schemas.openxmlformats.org/officeDocument/2006/relationships/chart" Target="/ppt/charts/chart4.xml"/><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5-1.gif"/><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gif"/><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603504" y="283464"/>
            <a:ext cx="3657600" cy="246888"/>
          </a:xfrm>
          <a:prstGeom prst="rect">
            <a:avLst/>
          </a:prstGeom>
          <a:noFill/>
          <a:ln/>
        </p:spPr>
        <p:txBody>
          <a:bodyPr wrap="square" lIns="0" tIns="0" rIns="0" bIns="0" rtlCol="0" anchor="ctr"/>
          <a:lstStyle/>
          <a:p>
            <a:pPr indent="0" marL="0">
              <a:buNone/>
            </a:pPr>
            <a:r>
              <a:rPr lang="en-US" sz="1200" b="1" spc="170" kern="0" dirty="0">
                <a:solidFill>
                  <a:srgbClr val="346A55"/>
                </a:solidFill>
                <a:latin typeface="Noto Sans" pitchFamily="34" charset="0"/>
                <a:ea typeface="Noto Sans" pitchFamily="34" charset="-122"/>
                <a:cs typeface="Noto Sans" pitchFamily="34" charset="-120"/>
              </a:rPr>
              <a:t>GREEN BUILDING</a:t>
            </a:r>
            <a:endParaRPr lang="en-US" sz="1200" dirty="0"/>
          </a:p>
        </p:txBody>
      </p:sp>
      <p:sp>
        <p:nvSpPr>
          <p:cNvPr id="8" name="Text 6"/>
          <p:cNvSpPr/>
          <p:nvPr/>
        </p:nvSpPr>
        <p:spPr>
          <a:xfrm>
            <a:off x="9372600" y="283464"/>
            <a:ext cx="1920240" cy="228600"/>
          </a:xfrm>
          <a:prstGeom prst="rect">
            <a:avLst/>
          </a:prstGeom>
          <a:noFill/>
          <a:ln/>
        </p:spPr>
        <p:txBody>
          <a:bodyPr wrap="square" lIns="0" tIns="0" rIns="0" bIns="0" rtlCol="0" anchor="ctr"/>
          <a:lstStyle/>
          <a:p>
            <a:pPr algn="r" indent="0" marL="0">
              <a:buNone/>
            </a:pPr>
            <a:r>
              <a:rPr lang="en-US" sz="1100" spc="100" kern="0" dirty="0">
                <a:solidFill>
                  <a:srgbClr val="66736D"/>
                </a:solidFill>
                <a:latin typeface="Noto Sans" pitchFamily="34" charset="0"/>
                <a:ea typeface="Noto Sans" pitchFamily="34" charset="-122"/>
                <a:cs typeface="Noto Sans" pitchFamily="34" charset="-120"/>
              </a:rPr>
              <a:t>GROUP 12</a:t>
            </a:r>
            <a:endParaRPr lang="en-US" sz="1100" dirty="0"/>
          </a:p>
        </p:txBody>
      </p:sp>
      <p:sp>
        <p:nvSpPr>
          <p:cNvPr id="9" name="Shape 7"/>
          <p:cNvSpPr/>
          <p:nvPr/>
        </p:nvSpPr>
        <p:spPr>
          <a:xfrm>
            <a:off x="603504" y="758952"/>
            <a:ext cx="10972800" cy="0"/>
          </a:xfrm>
          <a:prstGeom prst="line">
            <a:avLst/>
          </a:prstGeom>
          <a:noFill/>
          <a:ln w="10160">
            <a:solidFill>
              <a:srgbClr val="AA7E4A"/>
            </a:solidFill>
            <a:prstDash val="solid"/>
          </a:ln>
        </p:spPr>
      </p:sp>
      <p:sp>
        <p:nvSpPr>
          <p:cNvPr id="10" name="Text 8"/>
          <p:cNvSpPr/>
          <p:nvPr/>
        </p:nvSpPr>
        <p:spPr>
          <a:xfrm>
            <a:off x="621792" y="1417320"/>
            <a:ext cx="6583680" cy="1691640"/>
          </a:xfrm>
          <a:prstGeom prst="rect">
            <a:avLst/>
          </a:prstGeom>
          <a:noFill/>
          <a:ln/>
        </p:spPr>
        <p:txBody>
          <a:bodyPr wrap="square" lIns="0" tIns="0" rIns="0" bIns="0" rtlCol="0" anchor="ctr"/>
          <a:lstStyle/>
          <a:p>
            <a:pPr indent="0" marL="0">
              <a:buNone/>
            </a:pPr>
            <a:r>
              <a:rPr lang="en-US" sz="4900" b="1" dirty="0">
                <a:solidFill>
                  <a:srgbClr val="173C51"/>
                </a:solidFill>
                <a:latin typeface="Noto Serif" pitchFamily="34" charset="0"/>
                <a:ea typeface="Noto Serif" pitchFamily="34" charset="-122"/>
                <a:cs typeface="Noto Serif" pitchFamily="34" charset="-120"/>
              </a:rPr>
              <a:t>VineWeave</a:t>
            </a:r>
            <a:endParaRPr lang="en-US" sz="4900" dirty="0"/>
          </a:p>
          <a:p>
            <a:pPr indent="0" marL="0">
              <a:buNone/>
            </a:pPr>
            <a:r>
              <a:rPr lang="en-US" sz="4900" b="1" dirty="0">
                <a:solidFill>
                  <a:srgbClr val="173C51"/>
                </a:solidFill>
                <a:latin typeface="Noto Serif" pitchFamily="34" charset="0"/>
                <a:ea typeface="Noto Serif" pitchFamily="34" charset="-122"/>
                <a:cs typeface="Noto Serif" pitchFamily="34" charset="-120"/>
              </a:rPr>
              <a:t>Canopy</a:t>
            </a:r>
            <a:endParaRPr lang="en-US" sz="4900" dirty="0"/>
          </a:p>
        </p:txBody>
      </p:sp>
      <p:sp>
        <p:nvSpPr>
          <p:cNvPr id="11" name="Text 9"/>
          <p:cNvSpPr/>
          <p:nvPr/>
        </p:nvSpPr>
        <p:spPr>
          <a:xfrm>
            <a:off x="667512" y="3337560"/>
            <a:ext cx="6080760" cy="822960"/>
          </a:xfrm>
          <a:prstGeom prst="rect">
            <a:avLst/>
          </a:prstGeom>
          <a:noFill/>
          <a:ln/>
        </p:spPr>
        <p:txBody>
          <a:bodyPr wrap="square" lIns="0" tIns="0" rIns="0" bIns="0" rtlCol="0" anchor="ctr"/>
          <a:lstStyle/>
          <a:p>
            <a:pPr indent="0" marL="0">
              <a:buNone/>
            </a:pPr>
            <a:r>
              <a:rPr lang="en-US" sz="2300" dirty="0">
                <a:solidFill>
                  <a:srgbClr val="34434A"/>
                </a:solidFill>
                <a:latin typeface="Noto Sans" pitchFamily="34" charset="0"/>
                <a:ea typeface="Noto Sans" pitchFamily="34" charset="-122"/>
                <a:cs typeface="Noto Sans" pitchFamily="34" charset="-120"/>
              </a:rPr>
              <a:t>A tree-like support system for climbing plants</a:t>
            </a:r>
            <a:endParaRPr lang="en-US" sz="2300" dirty="0"/>
          </a:p>
          <a:p>
            <a:pPr indent="0" marL="0">
              <a:buNone/>
            </a:pPr>
            <a:r>
              <a:rPr lang="en-US" sz="2300" dirty="0">
                <a:solidFill>
                  <a:srgbClr val="34434A"/>
                </a:solidFill>
                <a:latin typeface="Noto Sans" pitchFamily="34" charset="0"/>
                <a:ea typeface="Noto Sans" pitchFamily="34" charset="-122"/>
                <a:cs typeface="Noto Sans" pitchFamily="34" charset="-120"/>
              </a:rPr>
              <a:t>and pedestrian shade</a:t>
            </a:r>
            <a:endParaRPr lang="en-US" sz="2300" dirty="0"/>
          </a:p>
        </p:txBody>
      </p:sp>
      <p:sp>
        <p:nvSpPr>
          <p:cNvPr id="12" name="Text 10"/>
          <p:cNvSpPr/>
          <p:nvPr/>
        </p:nvSpPr>
        <p:spPr>
          <a:xfrm>
            <a:off x="685800" y="4489704"/>
            <a:ext cx="5760720" cy="320040"/>
          </a:xfrm>
          <a:prstGeom prst="rect">
            <a:avLst/>
          </a:prstGeom>
          <a:noFill/>
          <a:ln/>
        </p:spPr>
        <p:txBody>
          <a:bodyPr wrap="square" lIns="0" tIns="0" rIns="0" bIns="0" rtlCol="0" anchor="ctr"/>
          <a:lstStyle/>
          <a:p>
            <a:pPr indent="0" marL="0">
              <a:buNone/>
            </a:pPr>
            <a:r>
              <a:rPr lang="en-US" sz="1400" dirty="0">
                <a:solidFill>
                  <a:srgbClr val="346A55"/>
                </a:solidFill>
                <a:latin typeface="Noto Sans" pitchFamily="34" charset="0"/>
                <a:ea typeface="Noto Sans" pitchFamily="34" charset="-122"/>
                <a:cs typeface="Noto Sans" pitchFamily="34" charset="-120"/>
              </a:rPr>
              <a:t>Parametric design  ·  Planting  ·  Shade performance</a:t>
            </a:r>
            <a:endParaRPr lang="en-US" sz="1400" dirty="0"/>
          </a:p>
        </p:txBody>
      </p:sp>
      <p:pic>
        <p:nvPicPr>
          <p:cNvPr id="13" name="Image 0" descr="/workspace/temp/presentation/v1/assets/model-axon.png">    </p:cNvPr>
          <p:cNvPicPr>
            <a:picLocks noChangeAspect="1"/>
          </p:cNvPicPr>
          <p:nvPr/>
        </p:nvPicPr>
        <p:blipFill>
          <a:blip r:embed="rId1"/>
          <a:stretch>
            <a:fillRect/>
          </a:stretch>
        </p:blipFill>
        <p:spPr>
          <a:xfrm>
            <a:off x="6784848" y="1495172"/>
            <a:ext cx="4791456" cy="3465320"/>
          </a:xfrm>
          <a:prstGeom prst="rect">
            <a:avLst/>
          </a:prstGeom>
        </p:spPr>
      </p:pic>
      <p:sp>
        <p:nvSpPr>
          <p:cNvPr id="14" name="Shape 11"/>
          <p:cNvSpPr/>
          <p:nvPr/>
        </p:nvSpPr>
        <p:spPr>
          <a:xfrm>
            <a:off x="612648" y="5239512"/>
            <a:ext cx="10963656" cy="0"/>
          </a:xfrm>
          <a:prstGeom prst="line">
            <a:avLst/>
          </a:prstGeom>
          <a:noFill/>
          <a:ln w="10160">
            <a:solidFill>
              <a:srgbClr val="D9DDD2"/>
            </a:solidFill>
            <a:prstDash val="solid"/>
          </a:ln>
        </p:spPr>
      </p:sp>
      <p:sp>
        <p:nvSpPr>
          <p:cNvPr id="15" name="Text 12"/>
          <p:cNvSpPr/>
          <p:nvPr/>
        </p:nvSpPr>
        <p:spPr>
          <a:xfrm>
            <a:off x="667512" y="5385816"/>
            <a:ext cx="4572000" cy="201168"/>
          </a:xfrm>
          <a:prstGeom prst="rect">
            <a:avLst/>
          </a:prstGeom>
          <a:noFill/>
          <a:ln/>
        </p:spPr>
        <p:txBody>
          <a:bodyPr wrap="square" lIns="0" tIns="0" rIns="0" bIns="0" rtlCol="0" anchor="ctr"/>
          <a:lstStyle/>
          <a:p>
            <a:pPr indent="0" marL="0">
              <a:buNone/>
            </a:pPr>
            <a:r>
              <a:rPr lang="en-US" sz="1050" b="1" spc="100" kern="0" dirty="0">
                <a:solidFill>
                  <a:srgbClr val="66736D"/>
                </a:solidFill>
                <a:latin typeface="Noto Sans" pitchFamily="34" charset="0"/>
                <a:ea typeface="Noto Sans" pitchFamily="34" charset="-122"/>
                <a:cs typeface="Noto Sans" pitchFamily="34" charset="-120"/>
              </a:rPr>
              <a:t>TEAM &amp; RESPONSIBILITIES</a:t>
            </a:r>
            <a:endParaRPr lang="en-US" sz="1050" dirty="0"/>
          </a:p>
        </p:txBody>
      </p:sp>
      <p:sp>
        <p:nvSpPr>
          <p:cNvPr id="16" name="Text 13"/>
          <p:cNvSpPr/>
          <p:nvPr/>
        </p:nvSpPr>
        <p:spPr>
          <a:xfrm>
            <a:off x="685800"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臧唯羽</a:t>
            </a:r>
            <a:endParaRPr lang="en-US" sz="1700" dirty="0"/>
          </a:p>
        </p:txBody>
      </p:sp>
      <p:sp>
        <p:nvSpPr>
          <p:cNvPr id="17" name="Text 14"/>
          <p:cNvSpPr/>
          <p:nvPr/>
        </p:nvSpPr>
        <p:spPr>
          <a:xfrm>
            <a:off x="685800"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Form &amp; parametric</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modelling</a:t>
            </a:r>
            <a:endParaRPr lang="en-US" sz="1250" dirty="0"/>
          </a:p>
        </p:txBody>
      </p:sp>
      <p:sp>
        <p:nvSpPr>
          <p:cNvPr id="18" name="Text 15"/>
          <p:cNvSpPr/>
          <p:nvPr/>
        </p:nvSpPr>
        <p:spPr>
          <a:xfrm>
            <a:off x="2953512"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林新淇</a:t>
            </a:r>
            <a:endParaRPr lang="en-US" sz="1700" dirty="0"/>
          </a:p>
        </p:txBody>
      </p:sp>
      <p:sp>
        <p:nvSpPr>
          <p:cNvPr id="19" name="Text 16"/>
          <p:cNvSpPr/>
          <p:nvPr/>
        </p:nvSpPr>
        <p:spPr>
          <a:xfrm>
            <a:off x="2953512"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Materials &amp;</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construction</a:t>
            </a:r>
            <a:endParaRPr lang="en-US" sz="1250" dirty="0"/>
          </a:p>
        </p:txBody>
      </p:sp>
      <p:sp>
        <p:nvSpPr>
          <p:cNvPr id="20" name="Text 17"/>
          <p:cNvSpPr/>
          <p:nvPr/>
        </p:nvSpPr>
        <p:spPr>
          <a:xfrm>
            <a:off x="5221224"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虞寒哲</a:t>
            </a:r>
            <a:endParaRPr lang="en-US" sz="1700" dirty="0"/>
          </a:p>
        </p:txBody>
      </p:sp>
      <p:sp>
        <p:nvSpPr>
          <p:cNvPr id="21" name="Text 18"/>
          <p:cNvSpPr/>
          <p:nvPr/>
        </p:nvSpPr>
        <p:spPr>
          <a:xfrm>
            <a:off x="5221224"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Shade performance</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application</a:t>
            </a:r>
            <a:endParaRPr lang="en-US" sz="1250" dirty="0"/>
          </a:p>
        </p:txBody>
      </p:sp>
      <p:sp>
        <p:nvSpPr>
          <p:cNvPr id="22" name="Text 19"/>
          <p:cNvSpPr/>
          <p:nvPr/>
        </p:nvSpPr>
        <p:spPr>
          <a:xfrm>
            <a:off x="7488936"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徐世程</a:t>
            </a:r>
            <a:endParaRPr lang="en-US" sz="1700" dirty="0"/>
          </a:p>
        </p:txBody>
      </p:sp>
      <p:sp>
        <p:nvSpPr>
          <p:cNvPr id="23" name="Text 20"/>
          <p:cNvSpPr/>
          <p:nvPr/>
        </p:nvSpPr>
        <p:spPr>
          <a:xfrm>
            <a:off x="7488936"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PPT production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integration</a:t>
            </a:r>
            <a:endParaRPr lang="en-US" sz="1250" dirty="0"/>
          </a:p>
        </p:txBody>
      </p:sp>
      <p:sp>
        <p:nvSpPr>
          <p:cNvPr id="24" name="Text 21"/>
          <p:cNvSpPr/>
          <p:nvPr/>
        </p:nvSpPr>
        <p:spPr>
          <a:xfrm>
            <a:off x="9756648" y="5696712"/>
            <a:ext cx="204825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CJK SC" pitchFamily="34" charset="0"/>
                <a:ea typeface="Noto Sans CJK SC" pitchFamily="34" charset="-122"/>
                <a:cs typeface="Noto Sans CJK SC" pitchFamily="34" charset="-120"/>
              </a:rPr>
              <a:t>陈淼</a:t>
            </a:r>
            <a:endParaRPr lang="en-US" sz="1700" dirty="0"/>
          </a:p>
        </p:txBody>
      </p:sp>
      <p:sp>
        <p:nvSpPr>
          <p:cNvPr id="25" name="Text 22"/>
          <p:cNvSpPr/>
          <p:nvPr/>
        </p:nvSpPr>
        <p:spPr>
          <a:xfrm>
            <a:off x="9756648" y="6089904"/>
            <a:ext cx="2048256" cy="429768"/>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English presentation</a:t>
            </a:r>
            <a:endParaRPr lang="en-US" sz="1250" dirty="0"/>
          </a:p>
          <a:p>
            <a:pPr indent="0" marL="0">
              <a:buNone/>
            </a:pPr>
            <a:r>
              <a:rPr lang="en-US" sz="1250" dirty="0">
                <a:solidFill>
                  <a:srgbClr val="66736D"/>
                </a:solidFill>
                <a:latin typeface="Noto Sans" pitchFamily="34" charset="0"/>
                <a:ea typeface="Noto Sans" pitchFamily="34" charset="-122"/>
                <a:cs typeface="Noto Sans" pitchFamily="34" charset="-120"/>
              </a:rPr>
              <a:t>&amp; Q&amp;A</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DESIGN INTENT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 shaded pause point in public space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Combine climbing vegetation, a tree-like support and clear pedestrian circulation.</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Mechanism references: [1,2]. Project design: P4. Thermal improvement is an objective, not a measured result.</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02</a:t>
            </a:r>
            <a:endParaRPr lang="en-US" sz="1000" dirty="0"/>
          </a:p>
        </p:txBody>
      </p:sp>
      <p:sp>
        <p:nvSpPr>
          <p:cNvPr id="15" name="Shape 13"/>
          <p:cNvSpPr/>
          <p:nvPr/>
        </p:nvSpPr>
        <p:spPr>
          <a:xfrm>
            <a:off x="594360" y="2423160"/>
            <a:ext cx="3566160" cy="2331720"/>
          </a:xfrm>
          <a:prstGeom prst="rect">
            <a:avLst>
              <a:gd name="adj" fmla="val 3922"/>
            </a:avLst>
          </a:prstGeom>
          <a:solidFill>
            <a:srgbClr val="FFFFFF"/>
          </a:solidFill>
          <a:ln w="7620">
            <a:solidFill>
              <a:srgbClr val="D9DDD2"/>
            </a:solidFill>
            <a:prstDash val="solid"/>
          </a:ln>
        </p:spPr>
      </p:sp>
      <p:sp>
        <p:nvSpPr>
          <p:cNvPr id="16" name="Text 14"/>
          <p:cNvSpPr/>
          <p:nvPr/>
        </p:nvSpPr>
        <p:spPr>
          <a:xfrm>
            <a:off x="804672" y="2615184"/>
            <a:ext cx="914400" cy="457200"/>
          </a:xfrm>
          <a:prstGeom prst="rect">
            <a:avLst/>
          </a:prstGeom>
          <a:noFill/>
          <a:ln/>
        </p:spPr>
        <p:txBody>
          <a:bodyPr wrap="square" lIns="0" tIns="0" rIns="0" bIns="0" rtlCol="0" anchor="ctr"/>
          <a:lstStyle/>
          <a:p>
            <a:pPr indent="0" marL="0">
              <a:buNone/>
            </a:pPr>
            <a:r>
              <a:rPr lang="en-US" sz="2900" dirty="0">
                <a:solidFill>
                  <a:srgbClr val="AA7E4A"/>
                </a:solidFill>
                <a:latin typeface="Noto Serif" pitchFamily="34" charset="0"/>
                <a:ea typeface="Noto Serif" pitchFamily="34" charset="-122"/>
                <a:cs typeface="Noto Serif" pitchFamily="34" charset="-120"/>
              </a:rPr>
              <a:t>01</a:t>
            </a:r>
            <a:endParaRPr lang="en-US" sz="2900" dirty="0"/>
          </a:p>
        </p:txBody>
      </p:sp>
      <p:sp>
        <p:nvSpPr>
          <p:cNvPr id="17" name="Text 15"/>
          <p:cNvSpPr/>
          <p:nvPr/>
        </p:nvSpPr>
        <p:spPr>
          <a:xfrm>
            <a:off x="804672" y="3246120"/>
            <a:ext cx="314553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SOLAR EXPOSURE</a:t>
            </a:r>
            <a:endParaRPr lang="en-US" sz="1700" dirty="0"/>
          </a:p>
        </p:txBody>
      </p:sp>
      <p:sp>
        <p:nvSpPr>
          <p:cNvPr id="18" name="Text 16"/>
          <p:cNvSpPr/>
          <p:nvPr/>
        </p:nvSpPr>
        <p:spPr>
          <a:xfrm>
            <a:off x="804672" y="3767328"/>
            <a:ext cx="3127248" cy="658368"/>
          </a:xfrm>
          <a:prstGeom prst="rect">
            <a:avLst/>
          </a:prstGeom>
          <a:noFill/>
          <a:ln/>
        </p:spPr>
        <p:txBody>
          <a:bodyPr wrap="square" lIns="0" tIns="0" rIns="0" bIns="0" rtlCol="0" anchor="ctr"/>
          <a:lstStyle/>
          <a:p>
            <a:pPr indent="0" marL="0">
              <a:buNone/>
            </a:pPr>
            <a:r>
              <a:rPr lang="en-US" sz="2100" dirty="0">
                <a:solidFill>
                  <a:srgbClr val="173C51"/>
                </a:solidFill>
                <a:latin typeface="Noto Sans" pitchFamily="34" charset="0"/>
                <a:ea typeface="Noto Sans" pitchFamily="34" charset="-122"/>
                <a:cs typeface="Noto Sans" pitchFamily="34" charset="-120"/>
              </a:rPr>
              <a:t>Offer local shelter for short pedestrian stops.</a:t>
            </a:r>
            <a:endParaRPr lang="en-US" sz="2100" dirty="0"/>
          </a:p>
        </p:txBody>
      </p:sp>
      <p:sp>
        <p:nvSpPr>
          <p:cNvPr id="19" name="Shape 17"/>
          <p:cNvSpPr/>
          <p:nvPr/>
        </p:nvSpPr>
        <p:spPr>
          <a:xfrm>
            <a:off x="4379976" y="2423160"/>
            <a:ext cx="3566160" cy="2331720"/>
          </a:xfrm>
          <a:prstGeom prst="rect">
            <a:avLst>
              <a:gd name="adj" fmla="val 3922"/>
            </a:avLst>
          </a:prstGeom>
          <a:solidFill>
            <a:srgbClr val="FFFFFF"/>
          </a:solidFill>
          <a:ln w="7620">
            <a:solidFill>
              <a:srgbClr val="D9DDD2"/>
            </a:solidFill>
            <a:prstDash val="solid"/>
          </a:ln>
        </p:spPr>
      </p:sp>
      <p:sp>
        <p:nvSpPr>
          <p:cNvPr id="20" name="Text 18"/>
          <p:cNvSpPr/>
          <p:nvPr/>
        </p:nvSpPr>
        <p:spPr>
          <a:xfrm>
            <a:off x="4590288" y="2615184"/>
            <a:ext cx="914400" cy="457200"/>
          </a:xfrm>
          <a:prstGeom prst="rect">
            <a:avLst/>
          </a:prstGeom>
          <a:noFill/>
          <a:ln/>
        </p:spPr>
        <p:txBody>
          <a:bodyPr wrap="square" lIns="0" tIns="0" rIns="0" bIns="0" rtlCol="0" anchor="ctr"/>
          <a:lstStyle/>
          <a:p>
            <a:pPr indent="0" marL="0">
              <a:buNone/>
            </a:pPr>
            <a:r>
              <a:rPr lang="en-US" sz="2900" dirty="0">
                <a:solidFill>
                  <a:srgbClr val="AA7E4A"/>
                </a:solidFill>
                <a:latin typeface="Noto Serif" pitchFamily="34" charset="0"/>
                <a:ea typeface="Noto Serif" pitchFamily="34" charset="-122"/>
                <a:cs typeface="Noto Serif" pitchFamily="34" charset="-120"/>
              </a:rPr>
              <a:t>02</a:t>
            </a:r>
            <a:endParaRPr lang="en-US" sz="2900" dirty="0"/>
          </a:p>
        </p:txBody>
      </p:sp>
      <p:sp>
        <p:nvSpPr>
          <p:cNvPr id="21" name="Text 19"/>
          <p:cNvSpPr/>
          <p:nvPr/>
        </p:nvSpPr>
        <p:spPr>
          <a:xfrm>
            <a:off x="4590288" y="3246120"/>
            <a:ext cx="314553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CLIMBING SUPPORT</a:t>
            </a:r>
            <a:endParaRPr lang="en-US" sz="1700" dirty="0"/>
          </a:p>
        </p:txBody>
      </p:sp>
      <p:sp>
        <p:nvSpPr>
          <p:cNvPr id="22" name="Text 20"/>
          <p:cNvSpPr/>
          <p:nvPr/>
        </p:nvSpPr>
        <p:spPr>
          <a:xfrm>
            <a:off x="4590288" y="3767328"/>
            <a:ext cx="3127248" cy="658368"/>
          </a:xfrm>
          <a:prstGeom prst="rect">
            <a:avLst/>
          </a:prstGeom>
          <a:noFill/>
          <a:ln/>
        </p:spPr>
        <p:txBody>
          <a:bodyPr wrap="square" lIns="0" tIns="0" rIns="0" bIns="0" rtlCol="0" anchor="ctr"/>
          <a:lstStyle/>
          <a:p>
            <a:pPr indent="0" marL="0">
              <a:buNone/>
            </a:pPr>
            <a:r>
              <a:rPr lang="en-US" sz="2100" dirty="0">
                <a:solidFill>
                  <a:srgbClr val="173C51"/>
                </a:solidFill>
                <a:latin typeface="Noto Sans" pitchFamily="34" charset="0"/>
                <a:ea typeface="Noto Sans" pitchFamily="34" charset="-122"/>
                <a:cs typeface="Noto Sans" pitchFamily="34" charset="-120"/>
              </a:rPr>
              <a:t>Guide vegetation across a broad, elevated crown.</a:t>
            </a:r>
            <a:endParaRPr lang="en-US" sz="2100" dirty="0"/>
          </a:p>
        </p:txBody>
      </p:sp>
      <p:sp>
        <p:nvSpPr>
          <p:cNvPr id="23" name="Shape 21"/>
          <p:cNvSpPr/>
          <p:nvPr/>
        </p:nvSpPr>
        <p:spPr>
          <a:xfrm>
            <a:off x="8165592" y="2423160"/>
            <a:ext cx="3566160" cy="2331720"/>
          </a:xfrm>
          <a:prstGeom prst="rect">
            <a:avLst>
              <a:gd name="adj" fmla="val 3922"/>
            </a:avLst>
          </a:prstGeom>
          <a:solidFill>
            <a:srgbClr val="FFFFFF"/>
          </a:solidFill>
          <a:ln w="7620">
            <a:solidFill>
              <a:srgbClr val="D9DDD2"/>
            </a:solidFill>
            <a:prstDash val="solid"/>
          </a:ln>
        </p:spPr>
      </p:sp>
      <p:sp>
        <p:nvSpPr>
          <p:cNvPr id="24" name="Text 22"/>
          <p:cNvSpPr/>
          <p:nvPr/>
        </p:nvSpPr>
        <p:spPr>
          <a:xfrm>
            <a:off x="8375904" y="2615184"/>
            <a:ext cx="914400" cy="457200"/>
          </a:xfrm>
          <a:prstGeom prst="rect">
            <a:avLst/>
          </a:prstGeom>
          <a:noFill/>
          <a:ln/>
        </p:spPr>
        <p:txBody>
          <a:bodyPr wrap="square" lIns="0" tIns="0" rIns="0" bIns="0" rtlCol="0" anchor="ctr"/>
          <a:lstStyle/>
          <a:p>
            <a:pPr indent="0" marL="0">
              <a:buNone/>
            </a:pPr>
            <a:r>
              <a:rPr lang="en-US" sz="2900" dirty="0">
                <a:solidFill>
                  <a:srgbClr val="AA7E4A"/>
                </a:solidFill>
                <a:latin typeface="Noto Serif" pitchFamily="34" charset="0"/>
                <a:ea typeface="Noto Serif" pitchFamily="34" charset="-122"/>
                <a:cs typeface="Noto Serif" pitchFamily="34" charset="-120"/>
              </a:rPr>
              <a:t>03</a:t>
            </a:r>
            <a:endParaRPr lang="en-US" sz="2900" dirty="0"/>
          </a:p>
        </p:txBody>
      </p:sp>
      <p:sp>
        <p:nvSpPr>
          <p:cNvPr id="25" name="Text 23"/>
          <p:cNvSpPr/>
          <p:nvPr/>
        </p:nvSpPr>
        <p:spPr>
          <a:xfrm>
            <a:off x="8375904" y="3246120"/>
            <a:ext cx="3145536" cy="292608"/>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OPEN CIRCULATION</a:t>
            </a:r>
            <a:endParaRPr lang="en-US" sz="1700" dirty="0"/>
          </a:p>
        </p:txBody>
      </p:sp>
      <p:sp>
        <p:nvSpPr>
          <p:cNvPr id="26" name="Text 24"/>
          <p:cNvSpPr/>
          <p:nvPr/>
        </p:nvSpPr>
        <p:spPr>
          <a:xfrm>
            <a:off x="8375904" y="3767328"/>
            <a:ext cx="3127248" cy="658368"/>
          </a:xfrm>
          <a:prstGeom prst="rect">
            <a:avLst/>
          </a:prstGeom>
          <a:noFill/>
          <a:ln/>
        </p:spPr>
        <p:txBody>
          <a:bodyPr wrap="square" lIns="0" tIns="0" rIns="0" bIns="0" rtlCol="0" anchor="ctr"/>
          <a:lstStyle/>
          <a:p>
            <a:pPr indent="0" marL="0">
              <a:buNone/>
            </a:pPr>
            <a:r>
              <a:rPr lang="en-US" sz="2100" dirty="0">
                <a:solidFill>
                  <a:srgbClr val="173C51"/>
                </a:solidFill>
                <a:latin typeface="Noto Sans" pitchFamily="34" charset="0"/>
                <a:ea typeface="Noto Sans" pitchFamily="34" charset="-122"/>
                <a:cs typeface="Noto Sans" pitchFamily="34" charset="-120"/>
              </a:rPr>
              <a:t>Keep the surrounding walking route accessible.</a:t>
            </a:r>
            <a:endParaRPr lang="en-US" sz="2100" dirty="0"/>
          </a:p>
        </p:txBody>
      </p:sp>
      <p:sp>
        <p:nvSpPr>
          <p:cNvPr id="27" name="Text 25"/>
          <p:cNvSpPr/>
          <p:nvPr/>
        </p:nvSpPr>
        <p:spPr>
          <a:xfrm>
            <a:off x="822960" y="5230368"/>
            <a:ext cx="10515600" cy="566928"/>
          </a:xfrm>
          <a:prstGeom prst="rect">
            <a:avLst/>
          </a:prstGeom>
          <a:noFill/>
          <a:ln/>
        </p:spPr>
        <p:txBody>
          <a:bodyPr wrap="square" lIns="0" tIns="0" rIns="0" bIns="0" rtlCol="0" anchor="ctr"/>
          <a:lstStyle/>
          <a:p>
            <a:pPr algn="ctr" indent="0" marL="0">
              <a:buNone/>
            </a:pPr>
            <a:r>
              <a:rPr lang="en-US" sz="2200" b="1" dirty="0">
                <a:solidFill>
                  <a:srgbClr val="173C51"/>
                </a:solidFill>
                <a:latin typeface="Noto Sans" pitchFamily="34" charset="0"/>
                <a:ea typeface="Noto Sans" pitchFamily="34" charset="-122"/>
                <a:cs typeface="Noto Sans" pitchFamily="34" charset="-120"/>
              </a:rPr>
              <a:t>Design goal: reduce direct solar exposure while supporting everyday use.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DESIGN &amp; GEOMETRY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 broad crown on a compact tree-like support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Project geometry—not a certified structural or fabrication model.</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project model and geometry records (P1). Dimensions rounded; exterior geometry diameter 80 mm.</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03</a:t>
            </a:r>
            <a:endParaRPr lang="en-US" sz="1000" dirty="0"/>
          </a:p>
        </p:txBody>
      </p:sp>
      <p:pic>
        <p:nvPicPr>
          <p:cNvPr id="15" name="Image 0" descr="/workspace/temp/presentation/v1/assets/model-axon.png">    </p:cNvPr>
          <p:cNvPicPr>
            <a:picLocks noChangeAspect="1"/>
          </p:cNvPicPr>
          <p:nvPr/>
        </p:nvPicPr>
        <p:blipFill>
          <a:blip r:embed="rId1"/>
          <a:stretch>
            <a:fillRect/>
          </a:stretch>
        </p:blipFill>
        <p:spPr>
          <a:xfrm>
            <a:off x="1002507" y="1828800"/>
            <a:ext cx="5310185" cy="3840480"/>
          </a:xfrm>
          <a:prstGeom prst="rect">
            <a:avLst/>
          </a:prstGeom>
        </p:spPr>
      </p:pic>
      <p:pic>
        <p:nvPicPr>
          <p:cNvPr id="16" name="Image 1" descr="/workspace/temp/presentation/v1/assets/model-plan.png">    </p:cNvPr>
          <p:cNvPicPr>
            <a:picLocks noChangeAspect="1"/>
          </p:cNvPicPr>
          <p:nvPr/>
        </p:nvPicPr>
        <p:blipFill>
          <a:blip r:embed="rId2"/>
          <a:stretch>
            <a:fillRect/>
          </a:stretch>
        </p:blipFill>
        <p:spPr>
          <a:xfrm>
            <a:off x="7125053" y="1938528"/>
            <a:ext cx="1934774" cy="2057400"/>
          </a:xfrm>
          <a:prstGeom prst="rect">
            <a:avLst/>
          </a:prstGeom>
        </p:spPr>
      </p:pic>
      <p:pic>
        <p:nvPicPr>
          <p:cNvPr id="17" name="Image 2" descr="/workspace/temp/presentation/v1/assets/model-elevation.png">    </p:cNvPr>
          <p:cNvPicPr>
            <a:picLocks noChangeAspect="1"/>
          </p:cNvPicPr>
          <p:nvPr/>
        </p:nvPicPr>
        <p:blipFill>
          <a:blip r:embed="rId3"/>
          <a:stretch>
            <a:fillRect/>
          </a:stretch>
        </p:blipFill>
        <p:spPr>
          <a:xfrm>
            <a:off x="9189720" y="2302678"/>
            <a:ext cx="2194560" cy="1329100"/>
          </a:xfrm>
          <a:prstGeom prst="rect">
            <a:avLst/>
          </a:prstGeom>
        </p:spPr>
      </p:pic>
      <p:sp>
        <p:nvSpPr>
          <p:cNvPr id="18" name="Text 13"/>
          <p:cNvSpPr/>
          <p:nvPr/>
        </p:nvSpPr>
        <p:spPr>
          <a:xfrm>
            <a:off x="7498080" y="3886200"/>
            <a:ext cx="1280160" cy="210312"/>
          </a:xfrm>
          <a:prstGeom prst="rect">
            <a:avLst/>
          </a:prstGeom>
          <a:noFill/>
          <a:ln/>
        </p:spPr>
        <p:txBody>
          <a:bodyPr wrap="square" lIns="0" tIns="0" rIns="0" bIns="0" rtlCol="0" anchor="ctr"/>
          <a:lstStyle/>
          <a:p>
            <a:pPr algn="ctr" indent="0" marL="0">
              <a:buNone/>
            </a:pPr>
            <a:r>
              <a:rPr lang="en-US" sz="1100" b="1" dirty="0">
                <a:solidFill>
                  <a:srgbClr val="66736D"/>
                </a:solidFill>
                <a:latin typeface="Noto Sans" pitchFamily="34" charset="0"/>
                <a:ea typeface="Noto Sans" pitchFamily="34" charset="-122"/>
                <a:cs typeface="Noto Sans" pitchFamily="34" charset="-120"/>
              </a:rPr>
              <a:t>PLAN</a:t>
            </a:r>
            <a:endParaRPr lang="en-US" sz="1100" dirty="0"/>
          </a:p>
        </p:txBody>
      </p:sp>
      <p:sp>
        <p:nvSpPr>
          <p:cNvPr id="19" name="Text 14"/>
          <p:cNvSpPr/>
          <p:nvPr/>
        </p:nvSpPr>
        <p:spPr>
          <a:xfrm>
            <a:off x="9646920" y="3886200"/>
            <a:ext cx="1371600" cy="210312"/>
          </a:xfrm>
          <a:prstGeom prst="rect">
            <a:avLst/>
          </a:prstGeom>
          <a:noFill/>
          <a:ln/>
        </p:spPr>
        <p:txBody>
          <a:bodyPr wrap="square" lIns="0" tIns="0" rIns="0" bIns="0" rtlCol="0" anchor="ctr"/>
          <a:lstStyle/>
          <a:p>
            <a:pPr algn="ctr" indent="0" marL="0">
              <a:buNone/>
            </a:pPr>
            <a:r>
              <a:rPr lang="en-US" sz="1100" b="1" dirty="0">
                <a:solidFill>
                  <a:srgbClr val="66736D"/>
                </a:solidFill>
                <a:latin typeface="Noto Sans" pitchFamily="34" charset="0"/>
                <a:ea typeface="Noto Sans" pitchFamily="34" charset="-122"/>
                <a:cs typeface="Noto Sans" pitchFamily="34" charset="-120"/>
              </a:rPr>
              <a:t>ELEVATION</a:t>
            </a:r>
            <a:endParaRPr lang="en-US" sz="1100" dirty="0"/>
          </a:p>
        </p:txBody>
      </p:sp>
      <p:sp>
        <p:nvSpPr>
          <p:cNvPr id="20" name="Shape 15"/>
          <p:cNvSpPr/>
          <p:nvPr/>
        </p:nvSpPr>
        <p:spPr>
          <a:xfrm>
            <a:off x="6995160" y="4434840"/>
            <a:ext cx="4389120" cy="1143000"/>
          </a:xfrm>
          <a:prstGeom prst="rect">
            <a:avLst>
              <a:gd name="adj" fmla="val 8000"/>
            </a:avLst>
          </a:prstGeom>
          <a:solidFill>
            <a:srgbClr val="EDF1E9"/>
          </a:solidFill>
          <a:ln w="7620">
            <a:solidFill>
              <a:srgbClr val="D9DDD2"/>
            </a:solidFill>
            <a:prstDash val="solid"/>
          </a:ln>
        </p:spPr>
      </p:sp>
      <p:sp>
        <p:nvSpPr>
          <p:cNvPr id="21" name="Text 16"/>
          <p:cNvSpPr/>
          <p:nvPr/>
        </p:nvSpPr>
        <p:spPr>
          <a:xfrm>
            <a:off x="7159752" y="4553712"/>
            <a:ext cx="4059936"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6.22 × 6.66 m</a:t>
            </a:r>
            <a:endParaRPr lang="en-US" sz="2000" dirty="0"/>
          </a:p>
        </p:txBody>
      </p:sp>
      <p:sp>
        <p:nvSpPr>
          <p:cNvPr id="22" name="Text 17"/>
          <p:cNvSpPr/>
          <p:nvPr/>
        </p:nvSpPr>
        <p:spPr>
          <a:xfrm>
            <a:off x="7159752" y="4974336"/>
            <a:ext cx="4059936" cy="52120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Overall plan extent</a:t>
            </a:r>
            <a:endParaRPr lang="en-US" sz="1600" dirty="0"/>
          </a:p>
        </p:txBody>
      </p:sp>
      <p:sp>
        <p:nvSpPr>
          <p:cNvPr id="23" name="Shape 18"/>
          <p:cNvSpPr/>
          <p:nvPr/>
        </p:nvSpPr>
        <p:spPr>
          <a:xfrm>
            <a:off x="777240" y="5760720"/>
            <a:ext cx="2560320" cy="411480"/>
          </a:xfrm>
          <a:prstGeom prst="rect">
            <a:avLst>
              <a:gd name="adj" fmla="val 22222"/>
            </a:avLst>
          </a:prstGeom>
          <a:solidFill>
            <a:srgbClr val="EDF1E9"/>
          </a:solidFill>
          <a:ln w="7620">
            <a:solidFill>
              <a:srgbClr val="EDF1E9"/>
            </a:solidFill>
            <a:prstDash val="solid"/>
          </a:ln>
        </p:spPr>
      </p:sp>
      <p:sp>
        <p:nvSpPr>
          <p:cNvPr id="24" name="Text 19"/>
          <p:cNvSpPr/>
          <p:nvPr/>
        </p:nvSpPr>
        <p:spPr>
          <a:xfrm>
            <a:off x="886968" y="5824728"/>
            <a:ext cx="234086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59 MEMBERS</a:t>
            </a:r>
            <a:endParaRPr lang="en-US" sz="1400" dirty="0"/>
          </a:p>
        </p:txBody>
      </p:sp>
      <p:sp>
        <p:nvSpPr>
          <p:cNvPr id="25" name="Shape 20"/>
          <p:cNvSpPr/>
          <p:nvPr/>
        </p:nvSpPr>
        <p:spPr>
          <a:xfrm>
            <a:off x="3611880" y="5760720"/>
            <a:ext cx="3200400" cy="411480"/>
          </a:xfrm>
          <a:prstGeom prst="rect">
            <a:avLst>
              <a:gd name="adj" fmla="val 22222"/>
            </a:avLst>
          </a:prstGeom>
          <a:solidFill>
            <a:srgbClr val="EDF1E9"/>
          </a:solidFill>
          <a:ln w="7620">
            <a:solidFill>
              <a:srgbClr val="EDF1E9"/>
            </a:solidFill>
            <a:prstDash val="solid"/>
          </a:ln>
        </p:spPr>
      </p:sp>
      <p:sp>
        <p:nvSpPr>
          <p:cNvPr id="26" name="Text 21"/>
          <p:cNvSpPr/>
          <p:nvPr/>
        </p:nvSpPr>
        <p:spPr>
          <a:xfrm>
            <a:off x="3721608" y="5824728"/>
            <a:ext cx="298094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3.48 m MAX. HEIGHT</a:t>
            </a:r>
            <a:endParaRPr lang="en-US" sz="1400" dirty="0"/>
          </a:p>
        </p:txBody>
      </p:sp>
      <p:sp>
        <p:nvSpPr>
          <p:cNvPr id="27" name="Shape 22"/>
          <p:cNvSpPr/>
          <p:nvPr/>
        </p:nvSpPr>
        <p:spPr>
          <a:xfrm>
            <a:off x="7086600" y="5760720"/>
            <a:ext cx="4297680" cy="411480"/>
          </a:xfrm>
          <a:prstGeom prst="rect">
            <a:avLst>
              <a:gd name="adj" fmla="val 22222"/>
            </a:avLst>
          </a:prstGeom>
          <a:solidFill>
            <a:srgbClr val="EDF1E9"/>
          </a:solidFill>
          <a:ln w="7620">
            <a:solidFill>
              <a:srgbClr val="EDF1E9"/>
            </a:solidFill>
            <a:prstDash val="solid"/>
          </a:ln>
        </p:spPr>
      </p:sp>
      <p:sp>
        <p:nvSpPr>
          <p:cNvPr id="28" name="Text 23"/>
          <p:cNvSpPr/>
          <p:nvPr/>
        </p:nvSpPr>
        <p:spPr>
          <a:xfrm>
            <a:off x="7196328" y="5824728"/>
            <a:ext cx="407822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80 mm EXTERIOR DIAMETER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DESIGN &amp; GEOMETRY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 climbing envelope with open edges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Organise the crown, central opening and pedestrian edge as one system.</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Sources: project geometry and proposed layout (P1, P4). The leaf envelope is hypothetical.</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04</a:t>
            </a:r>
            <a:endParaRPr lang="en-US" sz="1000" dirty="0"/>
          </a:p>
        </p:txBody>
      </p:sp>
      <p:pic>
        <p:nvPicPr>
          <p:cNvPr id="15" name="Image 0" descr="/workspace/temp/presentation/v1/assets/model-plan.png">    </p:cNvPr>
          <p:cNvPicPr>
            <a:picLocks noChangeAspect="1"/>
          </p:cNvPicPr>
          <p:nvPr/>
        </p:nvPicPr>
        <p:blipFill>
          <a:blip r:embed="rId1"/>
          <a:stretch>
            <a:fillRect/>
          </a:stretch>
        </p:blipFill>
        <p:spPr>
          <a:xfrm>
            <a:off x="1518449" y="1828800"/>
            <a:ext cx="3912542" cy="4160520"/>
          </a:xfrm>
          <a:prstGeom prst="rect">
            <a:avLst/>
          </a:prstGeom>
        </p:spPr>
      </p:pic>
      <p:sp>
        <p:nvSpPr>
          <p:cNvPr id="16" name="Text 13"/>
          <p:cNvSpPr/>
          <p:nvPr/>
        </p:nvSpPr>
        <p:spPr>
          <a:xfrm>
            <a:off x="6720840" y="214884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7" name="Text 14"/>
          <p:cNvSpPr/>
          <p:nvPr/>
        </p:nvSpPr>
        <p:spPr>
          <a:xfrm>
            <a:off x="7287768" y="2148840"/>
            <a:ext cx="400507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INTERWOVEN CROWN</a:t>
            </a:r>
            <a:endParaRPr lang="en-US" sz="2100" dirty="0"/>
          </a:p>
        </p:txBody>
      </p:sp>
      <p:sp>
        <p:nvSpPr>
          <p:cNvPr id="18" name="Text 15"/>
          <p:cNvSpPr/>
          <p:nvPr/>
        </p:nvSpPr>
        <p:spPr>
          <a:xfrm>
            <a:off x="7287768" y="2624328"/>
            <a:ext cx="400507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Provides the proposed climbing envelope.</a:t>
            </a:r>
            <a:endParaRPr lang="en-US" sz="1700" dirty="0"/>
          </a:p>
        </p:txBody>
      </p:sp>
      <p:sp>
        <p:nvSpPr>
          <p:cNvPr id="19" name="Text 16"/>
          <p:cNvSpPr/>
          <p:nvPr/>
        </p:nvSpPr>
        <p:spPr>
          <a:xfrm>
            <a:off x="6720840" y="3493008"/>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0" name="Text 17"/>
          <p:cNvSpPr/>
          <p:nvPr/>
        </p:nvSpPr>
        <p:spPr>
          <a:xfrm>
            <a:off x="7287768" y="3493008"/>
            <a:ext cx="400507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CENTRAL OPENING</a:t>
            </a:r>
            <a:endParaRPr lang="en-US" sz="2100" dirty="0"/>
          </a:p>
        </p:txBody>
      </p:sp>
      <p:sp>
        <p:nvSpPr>
          <p:cNvPr id="21" name="Text 18"/>
          <p:cNvSpPr/>
          <p:nvPr/>
        </p:nvSpPr>
        <p:spPr>
          <a:xfrm>
            <a:off x="7287768" y="3968496"/>
            <a:ext cx="400507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Leaf-hole size is an explicit analysis assumption.</a:t>
            </a:r>
            <a:endParaRPr lang="en-US" sz="1700" dirty="0"/>
          </a:p>
        </p:txBody>
      </p:sp>
      <p:sp>
        <p:nvSpPr>
          <p:cNvPr id="22" name="Text 19"/>
          <p:cNvSpPr/>
          <p:nvPr/>
        </p:nvSpPr>
        <p:spPr>
          <a:xfrm>
            <a:off x="6720840" y="48463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3" name="Text 20"/>
          <p:cNvSpPr/>
          <p:nvPr/>
        </p:nvSpPr>
        <p:spPr>
          <a:xfrm>
            <a:off x="7287768" y="4846320"/>
            <a:ext cx="400507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OPEN SIDES</a:t>
            </a:r>
            <a:endParaRPr lang="en-US" sz="2100" dirty="0"/>
          </a:p>
        </p:txBody>
      </p:sp>
      <p:sp>
        <p:nvSpPr>
          <p:cNvPr id="24" name="Text 21"/>
          <p:cNvSpPr/>
          <p:nvPr/>
        </p:nvSpPr>
        <p:spPr>
          <a:xfrm>
            <a:off x="7287768" y="5321808"/>
            <a:ext cx="400507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Retain space for movement and potential airflow.</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Assign materials by structural role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proposed steel support zone and engineered-bamboo crown.</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Sources: project centreline classification and material schedule (P1, P3). Proposed material assignment—not a safety certification.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05</a:t>
            </a:r>
            <a:endParaRPr lang="en-US" sz="1000" dirty="0"/>
          </a:p>
        </p:txBody>
      </p:sp>
      <p:pic>
        <p:nvPicPr>
          <p:cNvPr id="15" name="Image 0" descr="/workspace/temp/presentation/v1/assets/material-zones.png">    </p:cNvPr>
          <p:cNvPicPr>
            <a:picLocks noChangeAspect="1"/>
          </p:cNvPicPr>
          <p:nvPr/>
        </p:nvPicPr>
        <p:blipFill>
          <a:blip r:embed="rId1"/>
          <a:stretch>
            <a:fillRect/>
          </a:stretch>
        </p:blipFill>
        <p:spPr>
          <a:xfrm>
            <a:off x="760770" y="1874520"/>
            <a:ext cx="5885099" cy="4251960"/>
          </a:xfrm>
          <a:prstGeom prst="rect">
            <a:avLst/>
          </a:prstGeom>
        </p:spPr>
      </p:pic>
      <p:sp>
        <p:nvSpPr>
          <p:cNvPr id="16" name="Shape 13"/>
          <p:cNvSpPr/>
          <p:nvPr/>
        </p:nvSpPr>
        <p:spPr>
          <a:xfrm>
            <a:off x="6995160" y="2359152"/>
            <a:ext cx="4343400" cy="1417320"/>
          </a:xfrm>
          <a:prstGeom prst="rect">
            <a:avLst>
              <a:gd name="adj" fmla="val 6452"/>
            </a:avLst>
          </a:prstGeom>
          <a:solidFill>
            <a:srgbClr val="EDF1E9"/>
          </a:solidFill>
          <a:ln w="7620">
            <a:solidFill>
              <a:srgbClr val="D9DDD2"/>
            </a:solidFill>
            <a:prstDash val="solid"/>
          </a:ln>
        </p:spPr>
      </p:sp>
      <p:sp>
        <p:nvSpPr>
          <p:cNvPr id="17" name="Text 14"/>
          <p:cNvSpPr/>
          <p:nvPr/>
        </p:nvSpPr>
        <p:spPr>
          <a:xfrm>
            <a:off x="7159752" y="2478024"/>
            <a:ext cx="4014216" cy="320040"/>
          </a:xfrm>
          <a:prstGeom prst="rect">
            <a:avLst/>
          </a:prstGeom>
          <a:noFill/>
          <a:ln/>
        </p:spPr>
        <p:txBody>
          <a:bodyPr wrap="square" lIns="0" tIns="0" rIns="0" bIns="0" rtlCol="0" anchor="ctr"/>
          <a:lstStyle/>
          <a:p>
            <a:pPr indent="0" marL="0">
              <a:buNone/>
            </a:pPr>
            <a:r>
              <a:rPr lang="en-US" sz="2000" b="1" dirty="0">
                <a:solidFill>
                  <a:srgbClr val="3E6E9E"/>
                </a:solidFill>
                <a:latin typeface="Noto Sans" pitchFamily="34" charset="0"/>
                <a:ea typeface="Noto Sans" pitchFamily="34" charset="-122"/>
                <a:cs typeface="Noto Sans" pitchFamily="34" charset="-120"/>
              </a:rPr>
              <a:t>12 STEEL SUPPORTS</a:t>
            </a:r>
            <a:endParaRPr lang="en-US" sz="2000" dirty="0"/>
          </a:p>
        </p:txBody>
      </p:sp>
      <p:sp>
        <p:nvSpPr>
          <p:cNvPr id="18" name="Text 15"/>
          <p:cNvSpPr/>
          <p:nvPr/>
        </p:nvSpPr>
        <p:spPr>
          <a:xfrm>
            <a:off x="7159752" y="2898648"/>
            <a:ext cx="4014216"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69.38 m · proposed galvanised Q355B tube</a:t>
            </a:r>
            <a:endParaRPr lang="en-US" sz="1600" dirty="0"/>
          </a:p>
        </p:txBody>
      </p:sp>
      <p:sp>
        <p:nvSpPr>
          <p:cNvPr id="19" name="Shape 16"/>
          <p:cNvSpPr/>
          <p:nvPr/>
        </p:nvSpPr>
        <p:spPr>
          <a:xfrm>
            <a:off x="6995160" y="4160520"/>
            <a:ext cx="4343400" cy="1417320"/>
          </a:xfrm>
          <a:prstGeom prst="rect">
            <a:avLst>
              <a:gd name="adj" fmla="val 6452"/>
            </a:avLst>
          </a:prstGeom>
          <a:solidFill>
            <a:srgbClr val="EDF1E9"/>
          </a:solidFill>
          <a:ln w="7620">
            <a:solidFill>
              <a:srgbClr val="D9DDD2"/>
            </a:solidFill>
            <a:prstDash val="solid"/>
          </a:ln>
        </p:spPr>
      </p:sp>
      <p:sp>
        <p:nvSpPr>
          <p:cNvPr id="20" name="Text 17"/>
          <p:cNvSpPr/>
          <p:nvPr/>
        </p:nvSpPr>
        <p:spPr>
          <a:xfrm>
            <a:off x="7159752" y="4279392"/>
            <a:ext cx="4014216" cy="320040"/>
          </a:xfrm>
          <a:prstGeom prst="rect">
            <a:avLst/>
          </a:prstGeom>
          <a:noFill/>
          <a:ln/>
        </p:spPr>
        <p:txBody>
          <a:bodyPr wrap="square" lIns="0" tIns="0" rIns="0" bIns="0" rtlCol="0" anchor="ctr"/>
          <a:lstStyle/>
          <a:p>
            <a:pPr indent="0" marL="0">
              <a:buNone/>
            </a:pPr>
            <a:r>
              <a:rPr lang="en-US" sz="2000" b="1" dirty="0">
                <a:solidFill>
                  <a:srgbClr val="AA7E4A"/>
                </a:solidFill>
                <a:latin typeface="Noto Sans" pitchFamily="34" charset="0"/>
                <a:ea typeface="Noto Sans" pitchFamily="34" charset="-122"/>
                <a:cs typeface="Noto Sans" pitchFamily="34" charset="-120"/>
              </a:rPr>
              <a:t>47 BAMBOO CROWN MEMBERS</a:t>
            </a:r>
            <a:endParaRPr lang="en-US" sz="2000" dirty="0"/>
          </a:p>
        </p:txBody>
      </p:sp>
      <p:sp>
        <p:nvSpPr>
          <p:cNvPr id="21" name="Text 18"/>
          <p:cNvSpPr/>
          <p:nvPr/>
        </p:nvSpPr>
        <p:spPr>
          <a:xfrm>
            <a:off x="7159752" y="4700016"/>
            <a:ext cx="4014216" cy="79552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219.28 m · proposed engineered bamboo</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MATERIALS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Material selection balances several requirements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Preliminary screening inputs; match all bamboo properties to a confirmed product.</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material-input workbook (P3). *Reference inputs—not independently verified product data or quotations.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85216" y="2258568"/>
          <a:ext cx="10991088" cy="2670048"/>
        </p:xfrm>
        <a:graphic>
          <a:graphicData uri="http://schemas.openxmlformats.org/drawingml/2006/table">
            <a:tbl>
              <a:tblPr/>
              <a:tblGrid>
                <a:gridCol w="2331720"/>
                <a:gridCol w="1417320"/>
                <a:gridCol w="1965960"/>
                <a:gridCol w="5276088"/>
              </a:tblGrid>
              <a:tr h="566928">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MATERIAL</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λ*</a:t>
                      </a:r>
                      <a:endParaRPr lang="en-US" sz="1700" dirty="0">
                        <a:latin typeface="Noto Sans" charset="0"/>
                        <a:ea typeface="Noto Sans" charset="0"/>
                        <a:cs typeface="Noto Sans" charset="0"/>
                      </a:endParaRPr>
                    </a:p>
                    <a:p>
                      <a:pPr indent="0" marL="0">
                        <a:buNone/>
                      </a:pPr>
                      <a:r>
                        <a:rPr lang="en-US" sz="1700" dirty="0">
                          <a:solidFill>
                            <a:srgbClr val="34434A"/>
                          </a:solidFill>
                          <a:latin typeface="Noto Sans" pitchFamily="34" charset="0"/>
                          <a:ea typeface="Noto Sans" pitchFamily="34" charset="-122"/>
                          <a:cs typeface="Noto Sans" pitchFamily="34" charset="-120"/>
                        </a:rPr>
                        <a:t>W/(m·K)</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CARBON FACTOR*</a:t>
                      </a:r>
                      <a:endParaRPr lang="en-US" sz="1700" dirty="0">
                        <a:latin typeface="Noto Sans" charset="0"/>
                        <a:ea typeface="Noto Sans" charset="0"/>
                        <a:cs typeface="Noto Sans" charset="0"/>
                      </a:endParaRPr>
                    </a:p>
                    <a:p>
                      <a:pPr indent="0" marL="0">
                        <a:buNone/>
                      </a:pPr>
                      <a:r>
                        <a:rPr lang="en-US" sz="1700" dirty="0">
                          <a:solidFill>
                            <a:srgbClr val="34434A"/>
                          </a:solidFill>
                          <a:latin typeface="Noto Sans" pitchFamily="34" charset="0"/>
                          <a:ea typeface="Noto Sans" pitchFamily="34" charset="-122"/>
                          <a:cs typeface="Noto Sans" pitchFamily="34" charset="-120"/>
                        </a:rPr>
                        <a:t>kgCO₂e/kg</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DESIGN IMPLICATION</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85800">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Galvanised steel</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50</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2.15</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Proposed supports; protect against corrosion.</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685800">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Engineered bamboo*</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0.22</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0.40</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Proposed crown; stiffness and treatment need confirmation.</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r h="731520">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Treated timber</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0.14</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1.10</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c>
                  <a:txBody>
                    <a:bodyPr/>
                    <a:lstStyle/>
                    <a:p>
                      <a:pPr indent="0" marL="0">
                        <a:buNone/>
                      </a:pPr>
                      <a:r>
                        <a:rPr lang="en-US" sz="1700" dirty="0">
                          <a:solidFill>
                            <a:srgbClr val="34434A"/>
                          </a:solidFill>
                          <a:latin typeface="Noto Sans" pitchFamily="34" charset="0"/>
                          <a:ea typeface="Noto Sans" pitchFamily="34" charset="-122"/>
                          <a:cs typeface="Noto Sans" pitchFamily="34" charset="-120"/>
                        </a:rPr>
                        <a:t>Screened alternative; capacity and outdoor care matter.</a:t>
                      </a:r>
                      <a:endParaRPr lang="en-US" sz="1700" dirty="0">
                        <a:latin typeface="Noto Sans" charset="0"/>
                        <a:ea typeface="Noto Sans" charset="0"/>
                        <a:cs typeface="Noto Sans" charset="0"/>
                      </a:endParaRPr>
                    </a:p>
                  </a:txBody>
                  <a:tcPr marL="127000" marR="127000" marT="101600" marB="101600" anchor="mid">
                    <a:lnL w="7620" cap="flat" cmpd="sng" algn="ctr">
                      <a:solidFill>
                        <a:srgbClr val="D9DDD2"/>
                      </a:solidFill>
                      <a:prstDash val="solid"/>
                      <a:round/>
                      <a:headEnd type="none" w="med" len="med"/>
                      <a:tailEnd type="none" w="med" len="med"/>
                    </a:lnL>
                    <a:lnR w="7620" cap="flat" cmpd="sng" algn="ctr">
                      <a:solidFill>
                        <a:srgbClr val="D9DDD2"/>
                      </a:solidFill>
                      <a:prstDash val="solid"/>
                      <a:round/>
                      <a:headEnd type="none" w="med" len="med"/>
                      <a:tailEnd type="none" w="med" len="med"/>
                    </a:lnR>
                    <a:lnT w="7620" cap="flat" cmpd="sng" algn="ctr">
                      <a:solidFill>
                        <a:srgbClr val="D9DDD2"/>
                      </a:solidFill>
                      <a:prstDash val="solid"/>
                      <a:round/>
                      <a:headEnd type="none" w="med" len="med"/>
                      <a:tailEnd type="none" w="med" len="med"/>
                    </a:lnT>
                    <a:lnB w="7620" cap="flat" cmpd="sng" algn="ctr">
                      <a:solidFill>
                        <a:srgbClr val="D9DDD2"/>
                      </a:solidFill>
                      <a:prstDash val="solid"/>
                      <a:round/>
                      <a:headEnd type="none" w="med" len="med"/>
                      <a:tailEnd type="none" w="med" len="med"/>
                    </a:lnB>
                    <a:solidFill>
                      <a:srgbClr val="F8F7F2"/>
                    </a:solidFill>
                  </a:tcPr>
                </a:tc>
              </a:tr>
            </a:tbl>
          </a:graphicData>
        </a:graphic>
      </p:graphicFrame>
      <p:sp>
        <p:nvSpPr>
          <p:cNvPr id="16" name="Shape 13"/>
          <p:cNvSpPr/>
          <p:nvPr/>
        </p:nvSpPr>
        <p:spPr>
          <a:xfrm>
            <a:off x="594360" y="5513832"/>
            <a:ext cx="10972800" cy="566928"/>
          </a:xfrm>
          <a:prstGeom prst="rect">
            <a:avLst>
              <a:gd name="adj" fmla="val 16129"/>
            </a:avLst>
          </a:prstGeom>
          <a:solidFill>
            <a:srgbClr val="EDF1E9"/>
          </a:solidFill>
          <a:ln w="7620">
            <a:solidFill>
              <a:srgbClr val="EDF1E9"/>
            </a:solidFill>
            <a:prstDash val="solid"/>
          </a:ln>
        </p:spPr>
      </p:sp>
      <p:sp>
        <p:nvSpPr>
          <p:cNvPr id="17" name="Text 14"/>
          <p:cNvSpPr/>
          <p:nvPr/>
        </p:nvSpPr>
        <p:spPr>
          <a:xfrm>
            <a:off x="786384" y="5623560"/>
            <a:ext cx="10561320" cy="329184"/>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Product identity, strength, stiffness and carbon boundaries still require evidence.</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STRUCTURAL FEASIBILITY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Connection restraint governs deflection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A simplified beam check—not a verified response of the complete canopy.</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simplified deflection workbook (P3). Bamboo inputs and actual joint restraint require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07</a:t>
            </a:r>
            <a:endParaRPr lang="en-US" sz="1000" dirty="0"/>
          </a:p>
        </p:txBody>
      </p:sp>
      <p:graphicFrame>
        <p:nvGraphicFramePr>
          <p:cNvPr id="15" name="Chart 0" descr=""/>
          <p:cNvGraphicFramePr/>
          <p:nvPr/>
        </p:nvGraphicFramePr>
        <p:xfrm>
          <a:off x="566928" y="2267712"/>
          <a:ext cx="6492240" cy="3337560"/>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7424928" y="2459736"/>
            <a:ext cx="4023360" cy="1371600"/>
          </a:xfrm>
          <a:prstGeom prst="rect">
            <a:avLst>
              <a:gd name="adj" fmla="val 6667"/>
            </a:avLst>
          </a:prstGeom>
          <a:solidFill>
            <a:srgbClr val="EDF1E9"/>
          </a:solidFill>
          <a:ln w="7620">
            <a:solidFill>
              <a:srgbClr val="D9DDD2"/>
            </a:solidFill>
            <a:prstDash val="solid"/>
          </a:ln>
        </p:spPr>
      </p:sp>
      <p:sp>
        <p:nvSpPr>
          <p:cNvPr id="17" name="Text 14"/>
          <p:cNvSpPr/>
          <p:nvPr/>
        </p:nvSpPr>
        <p:spPr>
          <a:xfrm>
            <a:off x="7589520" y="2578608"/>
            <a:ext cx="3694176"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SAME 6.65 m SPAN</a:t>
            </a:r>
            <a:endParaRPr lang="en-US" sz="2000" dirty="0"/>
          </a:p>
        </p:txBody>
      </p:sp>
      <p:sp>
        <p:nvSpPr>
          <p:cNvPr id="18" name="Text 15"/>
          <p:cNvSpPr/>
          <p:nvPr/>
        </p:nvSpPr>
        <p:spPr>
          <a:xfrm>
            <a:off x="7589520" y="2999232"/>
            <a:ext cx="3694176" cy="74980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Self-weight + assumed wet foliage</a:t>
            </a:r>
            <a:endParaRPr lang="en-US" sz="1600" dirty="0"/>
          </a:p>
        </p:txBody>
      </p:sp>
      <p:sp>
        <p:nvSpPr>
          <p:cNvPr id="19" name="Shape 16"/>
          <p:cNvSpPr/>
          <p:nvPr/>
        </p:nvSpPr>
        <p:spPr>
          <a:xfrm>
            <a:off x="7424928" y="4187952"/>
            <a:ext cx="4023360" cy="1444752"/>
          </a:xfrm>
          <a:prstGeom prst="rect">
            <a:avLst>
              <a:gd name="adj" fmla="val 6329"/>
            </a:avLst>
          </a:prstGeom>
          <a:solidFill>
            <a:srgbClr val="EDF1E9"/>
          </a:solidFill>
          <a:ln w="7620">
            <a:solidFill>
              <a:srgbClr val="D9DDD2"/>
            </a:solidFill>
            <a:prstDash val="solid"/>
          </a:ln>
        </p:spPr>
      </p:sp>
      <p:sp>
        <p:nvSpPr>
          <p:cNvPr id="20" name="Text 17"/>
          <p:cNvSpPr/>
          <p:nvPr/>
        </p:nvSpPr>
        <p:spPr>
          <a:xfrm>
            <a:off x="7589520" y="4306824"/>
            <a:ext cx="3694176"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RATIO ≤ 1.0 IS THE TARGET</a:t>
            </a:r>
            <a:endParaRPr lang="en-US" sz="2000" dirty="0"/>
          </a:p>
        </p:txBody>
      </p:sp>
      <p:sp>
        <p:nvSpPr>
          <p:cNvPr id="21" name="Text 18"/>
          <p:cNvSpPr/>
          <p:nvPr/>
        </p:nvSpPr>
        <p:spPr>
          <a:xfrm>
            <a:off x="7589520" y="4727448"/>
            <a:ext cx="3694176" cy="822960"/>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Actual rotational restraint is not verified.</a:t>
            </a:r>
            <a:endParaRPr lang="en-US" sz="1600" dirty="0"/>
          </a:p>
        </p:txBody>
      </p:sp>
      <p:sp>
        <p:nvSpPr>
          <p:cNvPr id="22" name="Text 19"/>
          <p:cNvSpPr/>
          <p:nvPr/>
        </p:nvSpPr>
        <p:spPr>
          <a:xfrm>
            <a:off x="1280160" y="5797296"/>
            <a:ext cx="5486400" cy="274320"/>
          </a:xfrm>
          <a:prstGeom prst="rect">
            <a:avLst/>
          </a:prstGeom>
          <a:noFill/>
          <a:ln/>
        </p:spPr>
        <p:txBody>
          <a:bodyPr wrap="square" lIns="0" tIns="0" rIns="0" bIns="0" rtlCol="0" anchor="ctr"/>
          <a:lstStyle/>
          <a:p>
            <a:pPr indent="0" marL="0">
              <a:buNone/>
            </a:pPr>
            <a:r>
              <a:rPr lang="en-US" sz="1400" dirty="0">
                <a:solidFill>
                  <a:srgbClr val="66736D"/>
                </a:solidFill>
                <a:latin typeface="Noto Sans" pitchFamily="34" charset="0"/>
                <a:ea typeface="Noto Sans" pitchFamily="34" charset="-122"/>
                <a:cs typeface="Noto Sans" pitchFamily="34" charset="-120"/>
              </a:rPr>
              <a:t>Deflection / adopted L/200 limit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COST &amp; CARBON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A preliminary budget of CNY 51,676 per unit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The total includes more than the visible structural members.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Cost-Analysis.xlsx (P3). Preliminary estimate—not supplier quotations; node price is particularly uncertain.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08</a:t>
            </a:r>
            <a:endParaRPr lang="en-US" sz="1000" dirty="0"/>
          </a:p>
        </p:txBody>
      </p:sp>
      <p:graphicFrame>
        <p:nvGraphicFramePr>
          <p:cNvPr id="15" name="Chart 0" descr=""/>
          <p:cNvGraphicFramePr/>
          <p:nvPr/>
        </p:nvGraphicFramePr>
        <p:xfrm>
          <a:off x="530352" y="2084832"/>
          <a:ext cx="7406640" cy="3968496"/>
        </p:xfrm>
        <a:graphic xmlns:a="http://schemas.openxmlformats.org/drawingml/2006/main">
          <a:graphicData uri="http://schemas.openxmlformats.org/drawingml/2006/chart">
            <c:chart xmlns:c="http://schemas.openxmlformats.org/drawingml/2006/chart" r:id="rId1"/>
          </a:graphicData>
        </a:graphic>
      </p:graphicFrame>
      <p:sp>
        <p:nvSpPr>
          <p:cNvPr id="16" name="Shape 13"/>
          <p:cNvSpPr/>
          <p:nvPr/>
        </p:nvSpPr>
        <p:spPr>
          <a:xfrm>
            <a:off x="8247888" y="2496312"/>
            <a:ext cx="3218688" cy="1463040"/>
          </a:xfrm>
          <a:prstGeom prst="rect">
            <a:avLst>
              <a:gd name="adj" fmla="val 6250"/>
            </a:avLst>
          </a:prstGeom>
          <a:solidFill>
            <a:srgbClr val="EDF1E9"/>
          </a:solidFill>
          <a:ln w="7620">
            <a:solidFill>
              <a:srgbClr val="D9DDD2"/>
            </a:solidFill>
            <a:prstDash val="solid"/>
          </a:ln>
        </p:spPr>
      </p:sp>
      <p:sp>
        <p:nvSpPr>
          <p:cNvPr id="17" name="Text 14"/>
          <p:cNvSpPr/>
          <p:nvPr/>
        </p:nvSpPr>
        <p:spPr>
          <a:xfrm>
            <a:off x="8412480" y="2615184"/>
            <a:ext cx="2889504"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CNY 51,676</a:t>
            </a:r>
            <a:endParaRPr lang="en-US" sz="2000" dirty="0"/>
          </a:p>
        </p:txBody>
      </p:sp>
      <p:sp>
        <p:nvSpPr>
          <p:cNvPr id="18" name="Text 15"/>
          <p:cNvSpPr/>
          <p:nvPr/>
        </p:nvSpPr>
        <p:spPr>
          <a:xfrm>
            <a:off x="8412480" y="3035808"/>
            <a:ext cx="2889504" cy="84124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Preliminary total per unit</a:t>
            </a:r>
            <a:endParaRPr lang="en-US" sz="1600" dirty="0"/>
          </a:p>
        </p:txBody>
      </p:sp>
      <p:sp>
        <p:nvSpPr>
          <p:cNvPr id="19" name="Shape 16"/>
          <p:cNvSpPr/>
          <p:nvPr/>
        </p:nvSpPr>
        <p:spPr>
          <a:xfrm>
            <a:off x="8247888" y="4297680"/>
            <a:ext cx="3218688" cy="1463040"/>
          </a:xfrm>
          <a:prstGeom prst="rect">
            <a:avLst>
              <a:gd name="adj" fmla="val 6250"/>
            </a:avLst>
          </a:prstGeom>
          <a:solidFill>
            <a:srgbClr val="EDF1E9"/>
          </a:solidFill>
          <a:ln w="7620">
            <a:solidFill>
              <a:srgbClr val="D9DDD2"/>
            </a:solidFill>
            <a:prstDash val="solid"/>
          </a:ln>
        </p:spPr>
      </p:sp>
      <p:sp>
        <p:nvSpPr>
          <p:cNvPr id="20" name="Text 17"/>
          <p:cNvSpPr/>
          <p:nvPr/>
        </p:nvSpPr>
        <p:spPr>
          <a:xfrm>
            <a:off x="8412480" y="4416552"/>
            <a:ext cx="2889504" cy="320040"/>
          </a:xfrm>
          <a:prstGeom prst="rect">
            <a:avLst/>
          </a:prstGeom>
          <a:noFill/>
          <a:ln/>
        </p:spPr>
        <p:txBody>
          <a:bodyPr wrap="square" lIns="0" tIns="0" rIns="0" bIns="0" rtlCol="0" anchor="ctr"/>
          <a:lstStyle/>
          <a:p>
            <a:pPr indent="0" marL="0">
              <a:buNone/>
            </a:pPr>
            <a:r>
              <a:rPr lang="en-US" sz="2000" b="1" dirty="0">
                <a:solidFill>
                  <a:srgbClr val="AA7E4A"/>
                </a:solidFill>
                <a:latin typeface="Noto Sans" pitchFamily="34" charset="0"/>
                <a:ea typeface="Noto Sans" pitchFamily="34" charset="-122"/>
                <a:cs typeface="Noto Sans" pitchFamily="34" charset="-120"/>
              </a:rPr>
              <a:t>CNY 12,000</a:t>
            </a:r>
            <a:endParaRPr lang="en-US" sz="2000" dirty="0"/>
          </a:p>
        </p:txBody>
      </p:sp>
      <p:sp>
        <p:nvSpPr>
          <p:cNvPr id="21" name="Text 18"/>
          <p:cNvSpPr/>
          <p:nvPr/>
        </p:nvSpPr>
        <p:spPr>
          <a:xfrm>
            <a:off x="8412480" y="4837176"/>
            <a:ext cx="2889504" cy="84124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Rigid-node allowance within materials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COST &amp; CARBON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Track embodied carbon—and long-term care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Current factors indicate where further checking and reduction efforts should focus.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workbook carbon estimate (P3). Preliminary factors; boundaries, processing and node inclusion need verification.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09</a:t>
            </a:r>
            <a:endParaRPr lang="en-US" sz="1000" dirty="0"/>
          </a:p>
        </p:txBody>
      </p:sp>
      <p:graphicFrame>
        <p:nvGraphicFramePr>
          <p:cNvPr id="15" name="Chart 0" descr=""/>
          <p:cNvGraphicFramePr/>
          <p:nvPr/>
        </p:nvGraphicFramePr>
        <p:xfrm>
          <a:off x="594360" y="2048256"/>
          <a:ext cx="5943600" cy="39776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1828800" y="3520440"/>
            <a:ext cx="3474720" cy="640080"/>
          </a:xfrm>
          <a:prstGeom prst="rect">
            <a:avLst/>
          </a:prstGeom>
          <a:noFill/>
          <a:ln/>
        </p:spPr>
        <p:txBody>
          <a:bodyPr wrap="square" lIns="0" tIns="0" rIns="0" bIns="0" rtlCol="0" anchor="ctr"/>
          <a:lstStyle/>
          <a:p>
            <a:pPr algn="ctr" indent="0" marL="0">
              <a:buNone/>
            </a:pPr>
            <a:r>
              <a:rPr lang="en-US" sz="3100" b="1" dirty="0">
                <a:solidFill>
                  <a:srgbClr val="173C51"/>
                </a:solidFill>
                <a:latin typeface="Noto Serif" pitchFamily="34" charset="0"/>
                <a:ea typeface="Noto Serif" pitchFamily="34" charset="-122"/>
                <a:cs typeface="Noto Serif" pitchFamily="34" charset="-120"/>
              </a:rPr>
              <a:t>≈ 2,820</a:t>
            </a:r>
            <a:endParaRPr lang="en-US" sz="3100" dirty="0"/>
          </a:p>
        </p:txBody>
      </p:sp>
      <p:sp>
        <p:nvSpPr>
          <p:cNvPr id="17" name="Text 14"/>
          <p:cNvSpPr/>
          <p:nvPr/>
        </p:nvSpPr>
        <p:spPr>
          <a:xfrm>
            <a:off x="1920240" y="4151376"/>
            <a:ext cx="3291840" cy="274320"/>
          </a:xfrm>
          <a:prstGeom prst="rect">
            <a:avLst/>
          </a:prstGeom>
          <a:noFill/>
          <a:ln/>
        </p:spPr>
        <p:txBody>
          <a:bodyPr wrap="square" lIns="0" tIns="0" rIns="0" bIns="0" rtlCol="0" anchor="ctr"/>
          <a:lstStyle/>
          <a:p>
            <a:pPr algn="ctr" indent="0" marL="0">
              <a:buNone/>
            </a:pPr>
            <a:r>
              <a:rPr lang="en-US" sz="1600" dirty="0">
                <a:solidFill>
                  <a:srgbClr val="66736D"/>
                </a:solidFill>
                <a:latin typeface="Noto Sans" pitchFamily="34" charset="0"/>
                <a:ea typeface="Noto Sans" pitchFamily="34" charset="-122"/>
                <a:cs typeface="Noto Sans" pitchFamily="34" charset="-120"/>
              </a:rPr>
              <a:t>kgCO₂e / unit</a:t>
            </a:r>
            <a:endParaRPr lang="en-US" sz="1600" dirty="0"/>
          </a:p>
        </p:txBody>
      </p:sp>
      <p:sp>
        <p:nvSpPr>
          <p:cNvPr id="18" name="Shape 15"/>
          <p:cNvSpPr/>
          <p:nvPr/>
        </p:nvSpPr>
        <p:spPr>
          <a:xfrm>
            <a:off x="6995160" y="2468880"/>
            <a:ext cx="164592" cy="164592"/>
          </a:xfrm>
          <a:prstGeom prst="rect">
            <a:avLst>
              <a:gd name="adj" fmla="val 55556"/>
            </a:avLst>
          </a:prstGeom>
          <a:solidFill>
            <a:srgbClr val="346A55"/>
          </a:solidFill>
          <a:ln w="7620">
            <a:solidFill>
              <a:srgbClr val="346A55"/>
            </a:solidFill>
            <a:prstDash val="solid"/>
          </a:ln>
        </p:spPr>
      </p:sp>
      <p:sp>
        <p:nvSpPr>
          <p:cNvPr id="19" name="Text 16"/>
          <p:cNvSpPr/>
          <p:nvPr/>
        </p:nvSpPr>
        <p:spPr>
          <a:xfrm>
            <a:off x="7315200" y="2404872"/>
            <a:ext cx="2834640" cy="320040"/>
          </a:xfrm>
          <a:prstGeom prst="rect">
            <a:avLst/>
          </a:prstGeom>
          <a:noFill/>
          <a:ln/>
        </p:spPr>
        <p:txBody>
          <a:bodyPr wrap="square" lIns="0" tIns="0" rIns="0" bIns="0" rtlCol="0" anchor="ctr"/>
          <a:lstStyle/>
          <a:p>
            <a:pPr indent="0" marL="0">
              <a:buNone/>
            </a:pPr>
            <a:r>
              <a:rPr lang="en-US" sz="1900" dirty="0">
                <a:solidFill>
                  <a:srgbClr val="34434A"/>
                </a:solidFill>
                <a:latin typeface="Noto Sans" pitchFamily="34" charset="0"/>
                <a:ea typeface="Noto Sans" pitchFamily="34" charset="-122"/>
                <a:cs typeface="Noto Sans" pitchFamily="34" charset="-120"/>
              </a:rPr>
              <a:t>Primary members</a:t>
            </a:r>
            <a:endParaRPr lang="en-US" sz="1900" dirty="0"/>
          </a:p>
        </p:txBody>
      </p:sp>
      <p:sp>
        <p:nvSpPr>
          <p:cNvPr id="20" name="Text 17"/>
          <p:cNvSpPr/>
          <p:nvPr/>
        </p:nvSpPr>
        <p:spPr>
          <a:xfrm>
            <a:off x="10287000" y="2404872"/>
            <a:ext cx="1051560" cy="320040"/>
          </a:xfrm>
          <a:prstGeom prst="rect">
            <a:avLst/>
          </a:prstGeom>
          <a:noFill/>
          <a:ln/>
        </p:spPr>
        <p:txBody>
          <a:bodyPr wrap="square" lIns="0" tIns="0" rIns="0" bIns="0" rtlCol="0" anchor="ctr"/>
          <a:lstStyle/>
          <a:p>
            <a:pPr algn="r" indent="0" marL="0">
              <a:buNone/>
            </a:pPr>
            <a:r>
              <a:rPr lang="en-US" sz="1900" b="1" dirty="0">
                <a:solidFill>
                  <a:srgbClr val="173C51"/>
                </a:solidFill>
                <a:latin typeface="Noto Sans" pitchFamily="34" charset="0"/>
                <a:ea typeface="Noto Sans" pitchFamily="34" charset="-122"/>
                <a:cs typeface="Noto Sans" pitchFamily="34" charset="-120"/>
              </a:rPr>
              <a:t>1,581</a:t>
            </a:r>
            <a:endParaRPr lang="en-US" sz="1900" dirty="0"/>
          </a:p>
        </p:txBody>
      </p:sp>
      <p:sp>
        <p:nvSpPr>
          <p:cNvPr id="21" name="Shape 18"/>
          <p:cNvSpPr/>
          <p:nvPr/>
        </p:nvSpPr>
        <p:spPr>
          <a:xfrm>
            <a:off x="6995160" y="3182112"/>
            <a:ext cx="164592" cy="164592"/>
          </a:xfrm>
          <a:prstGeom prst="rect">
            <a:avLst>
              <a:gd name="adj" fmla="val 55556"/>
            </a:avLst>
          </a:prstGeom>
          <a:solidFill>
            <a:srgbClr val="A7B7A2"/>
          </a:solidFill>
          <a:ln w="7620">
            <a:solidFill>
              <a:srgbClr val="A7B7A2"/>
            </a:solidFill>
            <a:prstDash val="solid"/>
          </a:ln>
        </p:spPr>
      </p:sp>
      <p:sp>
        <p:nvSpPr>
          <p:cNvPr id="22" name="Text 19"/>
          <p:cNvSpPr/>
          <p:nvPr/>
        </p:nvSpPr>
        <p:spPr>
          <a:xfrm>
            <a:off x="7315200" y="3118104"/>
            <a:ext cx="2834640" cy="320040"/>
          </a:xfrm>
          <a:prstGeom prst="rect">
            <a:avLst/>
          </a:prstGeom>
          <a:noFill/>
          <a:ln/>
        </p:spPr>
        <p:txBody>
          <a:bodyPr wrap="square" lIns="0" tIns="0" rIns="0" bIns="0" rtlCol="0" anchor="ctr"/>
          <a:lstStyle/>
          <a:p>
            <a:pPr indent="0" marL="0">
              <a:buNone/>
            </a:pPr>
            <a:r>
              <a:rPr lang="en-US" sz="1900" dirty="0">
                <a:solidFill>
                  <a:srgbClr val="34434A"/>
                </a:solidFill>
                <a:latin typeface="Noto Sans" pitchFamily="34" charset="0"/>
                <a:ea typeface="Noto Sans" pitchFamily="34" charset="-122"/>
                <a:cs typeface="Noto Sans" pitchFamily="34" charset="-120"/>
              </a:rPr>
              <a:t>Counterweight</a:t>
            </a:r>
            <a:endParaRPr lang="en-US" sz="1900" dirty="0"/>
          </a:p>
        </p:txBody>
      </p:sp>
      <p:sp>
        <p:nvSpPr>
          <p:cNvPr id="23" name="Text 20"/>
          <p:cNvSpPr/>
          <p:nvPr/>
        </p:nvSpPr>
        <p:spPr>
          <a:xfrm>
            <a:off x="10287000" y="3118104"/>
            <a:ext cx="1051560" cy="320040"/>
          </a:xfrm>
          <a:prstGeom prst="rect">
            <a:avLst/>
          </a:prstGeom>
          <a:noFill/>
          <a:ln/>
        </p:spPr>
        <p:txBody>
          <a:bodyPr wrap="square" lIns="0" tIns="0" rIns="0" bIns="0" rtlCol="0" anchor="ctr"/>
          <a:lstStyle/>
          <a:p>
            <a:pPr algn="r" indent="0" marL="0">
              <a:buNone/>
            </a:pPr>
            <a:r>
              <a:rPr lang="en-US" sz="1900" b="1" dirty="0">
                <a:solidFill>
                  <a:srgbClr val="173C51"/>
                </a:solidFill>
                <a:latin typeface="Noto Sans" pitchFamily="34" charset="0"/>
                <a:ea typeface="Noto Sans" pitchFamily="34" charset="-122"/>
                <a:cs typeface="Noto Sans" pitchFamily="34" charset="-120"/>
              </a:rPr>
              <a:t>1,089</a:t>
            </a:r>
            <a:endParaRPr lang="en-US" sz="1900" dirty="0"/>
          </a:p>
        </p:txBody>
      </p:sp>
      <p:sp>
        <p:nvSpPr>
          <p:cNvPr id="24" name="Shape 21"/>
          <p:cNvSpPr/>
          <p:nvPr/>
        </p:nvSpPr>
        <p:spPr>
          <a:xfrm>
            <a:off x="6995160" y="3895344"/>
            <a:ext cx="164592" cy="164592"/>
          </a:xfrm>
          <a:prstGeom prst="rect">
            <a:avLst>
              <a:gd name="adj" fmla="val 55556"/>
            </a:avLst>
          </a:prstGeom>
          <a:solidFill>
            <a:srgbClr val="AA7E4A"/>
          </a:solidFill>
          <a:ln w="7620">
            <a:solidFill>
              <a:srgbClr val="AA7E4A"/>
            </a:solidFill>
            <a:prstDash val="solid"/>
          </a:ln>
        </p:spPr>
      </p:sp>
      <p:sp>
        <p:nvSpPr>
          <p:cNvPr id="25" name="Text 22"/>
          <p:cNvSpPr/>
          <p:nvPr/>
        </p:nvSpPr>
        <p:spPr>
          <a:xfrm>
            <a:off x="7315200" y="3831336"/>
            <a:ext cx="2834640" cy="320040"/>
          </a:xfrm>
          <a:prstGeom prst="rect">
            <a:avLst/>
          </a:prstGeom>
          <a:noFill/>
          <a:ln/>
        </p:spPr>
        <p:txBody>
          <a:bodyPr wrap="square" lIns="0" tIns="0" rIns="0" bIns="0" rtlCol="0" anchor="ctr"/>
          <a:lstStyle/>
          <a:p>
            <a:pPr indent="0" marL="0">
              <a:buNone/>
            </a:pPr>
            <a:r>
              <a:rPr lang="en-US" sz="1900" dirty="0">
                <a:solidFill>
                  <a:srgbClr val="34434A"/>
                </a:solidFill>
                <a:latin typeface="Noto Sans" pitchFamily="34" charset="0"/>
                <a:ea typeface="Noto Sans" pitchFamily="34" charset="-122"/>
                <a:cs typeface="Noto Sans" pitchFamily="34" charset="-120"/>
              </a:rPr>
              <a:t>Other components</a:t>
            </a:r>
            <a:endParaRPr lang="en-US" sz="1900" dirty="0"/>
          </a:p>
        </p:txBody>
      </p:sp>
      <p:sp>
        <p:nvSpPr>
          <p:cNvPr id="26" name="Text 23"/>
          <p:cNvSpPr/>
          <p:nvPr/>
        </p:nvSpPr>
        <p:spPr>
          <a:xfrm>
            <a:off x="10287000" y="3831336"/>
            <a:ext cx="1051560" cy="320040"/>
          </a:xfrm>
          <a:prstGeom prst="rect">
            <a:avLst/>
          </a:prstGeom>
          <a:noFill/>
          <a:ln/>
        </p:spPr>
        <p:txBody>
          <a:bodyPr wrap="square" lIns="0" tIns="0" rIns="0" bIns="0" rtlCol="0" anchor="ctr"/>
          <a:lstStyle/>
          <a:p>
            <a:pPr algn="r" indent="0" marL="0">
              <a:buNone/>
            </a:pPr>
            <a:r>
              <a:rPr lang="en-US" sz="1900" b="1" dirty="0">
                <a:solidFill>
                  <a:srgbClr val="173C51"/>
                </a:solidFill>
                <a:latin typeface="Noto Sans" pitchFamily="34" charset="0"/>
                <a:ea typeface="Noto Sans" pitchFamily="34" charset="-122"/>
                <a:cs typeface="Noto Sans" pitchFamily="34" charset="-120"/>
              </a:rPr>
              <a:t>150</a:t>
            </a:r>
            <a:endParaRPr lang="en-US" sz="1900" dirty="0"/>
          </a:p>
        </p:txBody>
      </p:sp>
      <p:sp>
        <p:nvSpPr>
          <p:cNvPr id="27" name="Text 24"/>
          <p:cNvSpPr/>
          <p:nvPr/>
        </p:nvSpPr>
        <p:spPr>
          <a:xfrm>
            <a:off x="6995160" y="5074920"/>
            <a:ext cx="4389120" cy="594360"/>
          </a:xfrm>
          <a:prstGeom prst="rect">
            <a:avLst/>
          </a:prstGeom>
          <a:noFill/>
          <a:ln/>
        </p:spPr>
        <p:txBody>
          <a:bodyPr wrap="square" lIns="0" tIns="0" rIns="0" bIns="0" rtlCol="0" anchor="ctr"/>
          <a:lstStyle/>
          <a:p>
            <a:pPr indent="0" marL="0">
              <a:buNone/>
            </a:pPr>
            <a:r>
              <a:rPr lang="en-US" sz="1800" b="1" dirty="0">
                <a:solidFill>
                  <a:srgbClr val="346A55"/>
                </a:solidFill>
                <a:latin typeface="Noto Sans" pitchFamily="34" charset="0"/>
                <a:ea typeface="Noto Sans" pitchFamily="34" charset="-122"/>
                <a:cs typeface="Noto Sans" pitchFamily="34" charset="-120"/>
              </a:rPr>
              <a:t>Protect steel • Treat bamboo • Inspect joints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PLANTING</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Plant choice is part of the performance design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Proposed candidates—not a confirmed site-specific planting specification.</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project planting screen (P3). Local suitability, wet loads and phenology require confirmation.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10</a:t>
            </a:r>
            <a:endParaRPr lang="en-US" sz="1000" dirty="0"/>
          </a:p>
        </p:txBody>
      </p:sp>
      <p:sp>
        <p:nvSpPr>
          <p:cNvPr id="15" name="Shape 13"/>
          <p:cNvSpPr/>
          <p:nvPr/>
        </p:nvSpPr>
        <p:spPr>
          <a:xfrm>
            <a:off x="585216" y="2331720"/>
            <a:ext cx="3566160" cy="3172968"/>
          </a:xfrm>
          <a:prstGeom prst="rect">
            <a:avLst>
              <a:gd name="adj" fmla="val 2882"/>
            </a:avLst>
          </a:prstGeom>
          <a:solidFill>
            <a:srgbClr val="FFFFFF"/>
          </a:solidFill>
          <a:ln w="7620">
            <a:solidFill>
              <a:srgbClr val="D9DDD2"/>
            </a:solidFill>
            <a:prstDash val="solid"/>
          </a:ln>
        </p:spPr>
      </p:sp>
      <p:sp>
        <p:nvSpPr>
          <p:cNvPr id="16" name="Shape 14"/>
          <p:cNvSpPr/>
          <p:nvPr/>
        </p:nvSpPr>
        <p:spPr>
          <a:xfrm rot="2100000">
            <a:off x="804672" y="2578608"/>
            <a:ext cx="197510" cy="411480"/>
          </a:xfrm>
          <a:prstGeom prst="ellipse">
            <a:avLst/>
          </a:prstGeom>
          <a:solidFill>
            <a:srgbClr val="F8F7F2">
              <a:alpha val="60000"/>
            </a:srgbClr>
          </a:solidFill>
          <a:ln w="7620">
            <a:solidFill>
              <a:srgbClr val="A7B7A2"/>
            </a:solidFill>
            <a:prstDash val="solid"/>
          </a:ln>
        </p:spPr>
      </p:sp>
      <p:sp>
        <p:nvSpPr>
          <p:cNvPr id="17" name="Text 15"/>
          <p:cNvSpPr/>
          <p:nvPr/>
        </p:nvSpPr>
        <p:spPr>
          <a:xfrm>
            <a:off x="795528" y="3108960"/>
            <a:ext cx="3145536" cy="420624"/>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Boston ivy</a:t>
            </a:r>
            <a:endParaRPr lang="en-US" sz="2300" dirty="0"/>
          </a:p>
        </p:txBody>
      </p:sp>
      <p:sp>
        <p:nvSpPr>
          <p:cNvPr id="18" name="Text 16"/>
          <p:cNvSpPr/>
          <p:nvPr/>
        </p:nvSpPr>
        <p:spPr>
          <a:xfrm>
            <a:off x="795528" y="3639312"/>
            <a:ext cx="3145536" cy="32004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Primary candidate</a:t>
            </a:r>
            <a:endParaRPr lang="en-US" sz="1400" dirty="0"/>
          </a:p>
        </p:txBody>
      </p:sp>
      <p:sp>
        <p:nvSpPr>
          <p:cNvPr id="19" name="Text 17"/>
          <p:cNvSpPr/>
          <p:nvPr/>
        </p:nvSpPr>
        <p:spPr>
          <a:xfrm>
            <a:off x="795528" y="4178808"/>
            <a:ext cx="3145536" cy="429768"/>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Tendrils with adhesive pads</a:t>
            </a:r>
            <a:endParaRPr lang="en-US" sz="1700" dirty="0"/>
          </a:p>
        </p:txBody>
      </p:sp>
      <p:sp>
        <p:nvSpPr>
          <p:cNvPr id="20" name="Text 18"/>
          <p:cNvSpPr/>
          <p:nvPr/>
        </p:nvSpPr>
        <p:spPr>
          <a:xfrm>
            <a:off x="795528" y="4773168"/>
            <a:ext cx="3145536" cy="493776"/>
          </a:xfrm>
          <a:prstGeom prst="rect">
            <a:avLst/>
          </a:prstGeom>
          <a:noFill/>
          <a:ln/>
        </p:spPr>
        <p:txBody>
          <a:bodyPr wrap="square" lIns="0" tIns="0" rIns="0" bIns="0" rtlCol="0" anchor="ctr"/>
          <a:lstStyle/>
          <a:p>
            <a:pPr indent="0" marL="0">
              <a:buNone/>
            </a:pPr>
            <a:r>
              <a:rPr lang="en-US" sz="1600" dirty="0">
                <a:solidFill>
                  <a:srgbClr val="66736D"/>
                </a:solidFill>
                <a:latin typeface="Noto Sans" pitchFamily="34" charset="0"/>
                <a:ea typeface="Noto Sans" pitchFamily="34" charset="-122"/>
                <a:cs typeface="Noto Sans" pitchFamily="34" charset="-120"/>
              </a:rPr>
              <a:t>Check anchorage and seasonal cover.</a:t>
            </a:r>
            <a:endParaRPr lang="en-US" sz="1600" dirty="0"/>
          </a:p>
        </p:txBody>
      </p:sp>
      <p:sp>
        <p:nvSpPr>
          <p:cNvPr id="21" name="Shape 19"/>
          <p:cNvSpPr/>
          <p:nvPr/>
        </p:nvSpPr>
        <p:spPr>
          <a:xfrm>
            <a:off x="4379976" y="2331720"/>
            <a:ext cx="3566160" cy="3172968"/>
          </a:xfrm>
          <a:prstGeom prst="rect">
            <a:avLst>
              <a:gd name="adj" fmla="val 2882"/>
            </a:avLst>
          </a:prstGeom>
          <a:solidFill>
            <a:srgbClr val="FFFFFF"/>
          </a:solidFill>
          <a:ln w="7620">
            <a:solidFill>
              <a:srgbClr val="D9DDD2"/>
            </a:solidFill>
            <a:prstDash val="solid"/>
          </a:ln>
        </p:spPr>
      </p:sp>
      <p:sp>
        <p:nvSpPr>
          <p:cNvPr id="22" name="Shape 20"/>
          <p:cNvSpPr/>
          <p:nvPr/>
        </p:nvSpPr>
        <p:spPr>
          <a:xfrm rot="2100000">
            <a:off x="4599432" y="2578608"/>
            <a:ext cx="197510" cy="411480"/>
          </a:xfrm>
          <a:prstGeom prst="ellipse">
            <a:avLst/>
          </a:prstGeom>
          <a:solidFill>
            <a:srgbClr val="F8F7F2">
              <a:alpha val="60000"/>
            </a:srgbClr>
          </a:solidFill>
          <a:ln w="7620">
            <a:solidFill>
              <a:srgbClr val="A7B7A2"/>
            </a:solidFill>
            <a:prstDash val="solid"/>
          </a:ln>
        </p:spPr>
      </p:sp>
      <p:sp>
        <p:nvSpPr>
          <p:cNvPr id="23" name="Text 21"/>
          <p:cNvSpPr/>
          <p:nvPr/>
        </p:nvSpPr>
        <p:spPr>
          <a:xfrm>
            <a:off x="4590288" y="3108960"/>
            <a:ext cx="3145536" cy="420624"/>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Trumpet creeper</a:t>
            </a:r>
            <a:endParaRPr lang="en-US" sz="2300" dirty="0"/>
          </a:p>
        </p:txBody>
      </p:sp>
      <p:sp>
        <p:nvSpPr>
          <p:cNvPr id="24" name="Text 22"/>
          <p:cNvSpPr/>
          <p:nvPr/>
        </p:nvSpPr>
        <p:spPr>
          <a:xfrm>
            <a:off x="4590288" y="3639312"/>
            <a:ext cx="3145536" cy="32004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Alternative</a:t>
            </a:r>
            <a:endParaRPr lang="en-US" sz="1400" dirty="0"/>
          </a:p>
        </p:txBody>
      </p:sp>
      <p:sp>
        <p:nvSpPr>
          <p:cNvPr id="25" name="Text 23"/>
          <p:cNvSpPr/>
          <p:nvPr/>
        </p:nvSpPr>
        <p:spPr>
          <a:xfrm>
            <a:off x="4590288" y="4178808"/>
            <a:ext cx="3145536" cy="429768"/>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Aerial roots</a:t>
            </a:r>
            <a:endParaRPr lang="en-US" sz="1700" dirty="0"/>
          </a:p>
        </p:txBody>
      </p:sp>
      <p:sp>
        <p:nvSpPr>
          <p:cNvPr id="26" name="Text 24"/>
          <p:cNvSpPr/>
          <p:nvPr/>
        </p:nvSpPr>
        <p:spPr>
          <a:xfrm>
            <a:off x="4590288" y="4773168"/>
            <a:ext cx="3145536" cy="493776"/>
          </a:xfrm>
          <a:prstGeom prst="rect">
            <a:avLst/>
          </a:prstGeom>
          <a:noFill/>
          <a:ln/>
        </p:spPr>
        <p:txBody>
          <a:bodyPr wrap="square" lIns="0" tIns="0" rIns="0" bIns="0" rtlCol="0" anchor="ctr"/>
          <a:lstStyle/>
          <a:p>
            <a:pPr indent="0" marL="0">
              <a:buNone/>
            </a:pPr>
            <a:r>
              <a:rPr lang="en-US" sz="1600" dirty="0">
                <a:solidFill>
                  <a:srgbClr val="66736D"/>
                </a:solidFill>
                <a:latin typeface="Noto Sans" pitchFamily="34" charset="0"/>
                <a:ea typeface="Noto Sans" pitchFamily="34" charset="-122"/>
                <a:cs typeface="Noto Sans" pitchFamily="34" charset="-120"/>
              </a:rPr>
              <a:t>Manage vigorous growth and root space.</a:t>
            </a:r>
            <a:endParaRPr lang="en-US" sz="1600" dirty="0"/>
          </a:p>
        </p:txBody>
      </p:sp>
      <p:sp>
        <p:nvSpPr>
          <p:cNvPr id="27" name="Shape 25"/>
          <p:cNvSpPr/>
          <p:nvPr/>
        </p:nvSpPr>
        <p:spPr>
          <a:xfrm>
            <a:off x="8174736" y="2331720"/>
            <a:ext cx="3566160" cy="3172968"/>
          </a:xfrm>
          <a:prstGeom prst="rect">
            <a:avLst>
              <a:gd name="adj" fmla="val 2882"/>
            </a:avLst>
          </a:prstGeom>
          <a:solidFill>
            <a:srgbClr val="FFFFFF"/>
          </a:solidFill>
          <a:ln w="7620">
            <a:solidFill>
              <a:srgbClr val="D9DDD2"/>
            </a:solidFill>
            <a:prstDash val="solid"/>
          </a:ln>
        </p:spPr>
      </p:sp>
      <p:sp>
        <p:nvSpPr>
          <p:cNvPr id="28" name="Shape 26"/>
          <p:cNvSpPr/>
          <p:nvPr/>
        </p:nvSpPr>
        <p:spPr>
          <a:xfrm rot="2100000">
            <a:off x="8394192" y="2578608"/>
            <a:ext cx="197510" cy="411480"/>
          </a:xfrm>
          <a:prstGeom prst="ellipse">
            <a:avLst/>
          </a:prstGeom>
          <a:solidFill>
            <a:srgbClr val="F8F7F2">
              <a:alpha val="60000"/>
            </a:srgbClr>
          </a:solidFill>
          <a:ln w="7620">
            <a:solidFill>
              <a:srgbClr val="A7B7A2"/>
            </a:solidFill>
            <a:prstDash val="solid"/>
          </a:ln>
        </p:spPr>
      </p:sp>
      <p:sp>
        <p:nvSpPr>
          <p:cNvPr id="29" name="Text 27"/>
          <p:cNvSpPr/>
          <p:nvPr/>
        </p:nvSpPr>
        <p:spPr>
          <a:xfrm>
            <a:off x="8385048" y="3108960"/>
            <a:ext cx="3145536" cy="420624"/>
          </a:xfrm>
          <a:prstGeom prst="rect">
            <a:avLst/>
          </a:prstGeom>
          <a:noFill/>
          <a:ln/>
        </p:spPr>
        <p:txBody>
          <a:bodyPr wrap="square" lIns="0" tIns="0" rIns="0" bIns="0" rtlCol="0" anchor="ctr"/>
          <a:lstStyle/>
          <a:p>
            <a:pPr indent="0" marL="0">
              <a:buNone/>
            </a:pPr>
            <a:r>
              <a:rPr lang="en-US" sz="2300" b="1" dirty="0">
                <a:solidFill>
                  <a:srgbClr val="173C51"/>
                </a:solidFill>
                <a:latin typeface="Noto Serif" pitchFamily="34" charset="0"/>
                <a:ea typeface="Noto Serif" pitchFamily="34" charset="-122"/>
                <a:cs typeface="Noto Serif" pitchFamily="34" charset="-120"/>
              </a:rPr>
              <a:t>Rangoon creeper</a:t>
            </a:r>
            <a:endParaRPr lang="en-US" sz="2300" dirty="0"/>
          </a:p>
        </p:txBody>
      </p:sp>
      <p:sp>
        <p:nvSpPr>
          <p:cNvPr id="30" name="Text 28"/>
          <p:cNvSpPr/>
          <p:nvPr/>
        </p:nvSpPr>
        <p:spPr>
          <a:xfrm>
            <a:off x="8385048" y="3639312"/>
            <a:ext cx="3145536" cy="320040"/>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Companion candidate</a:t>
            </a:r>
            <a:endParaRPr lang="en-US" sz="1400" dirty="0"/>
          </a:p>
        </p:txBody>
      </p:sp>
      <p:sp>
        <p:nvSpPr>
          <p:cNvPr id="31" name="Text 29"/>
          <p:cNvSpPr/>
          <p:nvPr/>
        </p:nvSpPr>
        <p:spPr>
          <a:xfrm>
            <a:off x="8385048" y="4178808"/>
            <a:ext cx="3145536" cy="429768"/>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Twining shoots</a:t>
            </a:r>
            <a:endParaRPr lang="en-US" sz="1700" dirty="0"/>
          </a:p>
        </p:txBody>
      </p:sp>
      <p:sp>
        <p:nvSpPr>
          <p:cNvPr id="32" name="Text 30"/>
          <p:cNvSpPr/>
          <p:nvPr/>
        </p:nvSpPr>
        <p:spPr>
          <a:xfrm>
            <a:off x="8385048" y="4773168"/>
            <a:ext cx="3145536" cy="493776"/>
          </a:xfrm>
          <a:prstGeom prst="rect">
            <a:avLst/>
          </a:prstGeom>
          <a:noFill/>
          <a:ln/>
        </p:spPr>
        <p:txBody>
          <a:bodyPr wrap="square" lIns="0" tIns="0" rIns="0" bIns="0" rtlCol="0" anchor="ctr"/>
          <a:lstStyle/>
          <a:p>
            <a:pPr indent="0" marL="0">
              <a:buNone/>
            </a:pPr>
            <a:r>
              <a:rPr lang="en-US" sz="1600" dirty="0">
                <a:solidFill>
                  <a:srgbClr val="66736D"/>
                </a:solidFill>
                <a:latin typeface="Noto Sans" pitchFamily="34" charset="0"/>
                <a:ea typeface="Noto Sans" pitchFamily="34" charset="-122"/>
                <a:cs typeface="Noto Sans" pitchFamily="34" charset="-120"/>
              </a:rPr>
              <a:t>Confirm local winter survival and leaf habit.</a:t>
            </a:r>
            <a:endParaRPr lang="en-US" sz="1600" dirty="0"/>
          </a:p>
        </p:txBody>
      </p:sp>
      <p:sp>
        <p:nvSpPr>
          <p:cNvPr id="33" name="Text 31"/>
          <p:cNvSpPr/>
          <p:nvPr/>
        </p:nvSpPr>
        <p:spPr>
          <a:xfrm>
            <a:off x="731520" y="5843016"/>
            <a:ext cx="10698480" cy="274320"/>
          </a:xfrm>
          <a:prstGeom prst="rect">
            <a:avLst/>
          </a:prstGeom>
          <a:noFill/>
          <a:ln/>
        </p:spPr>
        <p:txBody>
          <a:bodyPr wrap="square" lIns="0" tIns="0" rIns="0" bIns="0" rtlCol="0" anchor="ctr"/>
          <a:lstStyle/>
          <a:p>
            <a:pPr algn="ctr" indent="0" marL="0">
              <a:buNone/>
            </a:pPr>
            <a:r>
              <a:rPr lang="en-US" sz="1800" b="1" dirty="0">
                <a:solidFill>
                  <a:srgbClr val="346A55"/>
                </a:solidFill>
                <a:latin typeface="Noto Sans" pitchFamily="34" charset="0"/>
                <a:ea typeface="Noto Sans" pitchFamily="34" charset="-122"/>
                <a:cs typeface="Noto Sans" pitchFamily="34" charset="-120"/>
              </a:rPr>
              <a:t>Root space • Water supply • Training • Pruning</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ENVIRONMENTAL INTENT</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Open sides and a porous crown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Shade and potential airflow paths are design intentions with different evidence needs.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Mechanisms: [1,2]. Airflow sketch: project concept (P4), not a wind-field simulation.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11</a:t>
            </a:r>
            <a:endParaRPr lang="en-US" sz="1000" dirty="0"/>
          </a:p>
        </p:txBody>
      </p:sp>
      <p:sp>
        <p:nvSpPr>
          <p:cNvPr id="15" name="Shape 13"/>
          <p:cNvSpPr/>
          <p:nvPr/>
        </p:nvSpPr>
        <p:spPr>
          <a:xfrm>
            <a:off x="868680" y="5559552"/>
            <a:ext cx="6035040" cy="0"/>
          </a:xfrm>
          <a:prstGeom prst="line">
            <a:avLst/>
          </a:prstGeom>
          <a:noFill/>
          <a:ln w="19050">
            <a:solidFill>
              <a:srgbClr val="66736D"/>
            </a:solidFill>
            <a:prstDash val="solid"/>
          </a:ln>
        </p:spPr>
      </p:sp>
      <p:sp>
        <p:nvSpPr>
          <p:cNvPr id="16" name="Shape 14"/>
          <p:cNvSpPr/>
          <p:nvPr/>
        </p:nvSpPr>
        <p:spPr>
          <a:xfrm>
            <a:off x="3749040" y="5468112"/>
            <a:ext cx="0" cy="-2560320"/>
          </a:xfrm>
          <a:prstGeom prst="line">
            <a:avLst/>
          </a:prstGeom>
          <a:noFill/>
          <a:ln w="76200">
            <a:solidFill>
              <a:srgbClr val="346A55"/>
            </a:solidFill>
            <a:prstDash val="solid"/>
          </a:ln>
        </p:spPr>
      </p:sp>
      <p:sp>
        <p:nvSpPr>
          <p:cNvPr id="17" name="Shape 15"/>
          <p:cNvSpPr/>
          <p:nvPr/>
        </p:nvSpPr>
        <p:spPr>
          <a:xfrm>
            <a:off x="1645920" y="2971800"/>
            <a:ext cx="1755648" cy="-530352"/>
          </a:xfrm>
          <a:prstGeom prst="line">
            <a:avLst/>
          </a:prstGeom>
          <a:noFill/>
          <a:ln w="38100">
            <a:solidFill>
              <a:srgbClr val="346A55"/>
            </a:solidFill>
            <a:prstDash val="solid"/>
          </a:ln>
        </p:spPr>
      </p:sp>
      <p:sp>
        <p:nvSpPr>
          <p:cNvPr id="18" name="Shape 16"/>
          <p:cNvSpPr/>
          <p:nvPr/>
        </p:nvSpPr>
        <p:spPr>
          <a:xfrm>
            <a:off x="4096512" y="2441448"/>
            <a:ext cx="1984248" cy="530352"/>
          </a:xfrm>
          <a:prstGeom prst="line">
            <a:avLst/>
          </a:prstGeom>
          <a:noFill/>
          <a:ln w="38100">
            <a:solidFill>
              <a:srgbClr val="346A55"/>
            </a:solidFill>
            <a:prstDash val="solid"/>
          </a:ln>
        </p:spPr>
      </p:sp>
      <p:sp>
        <p:nvSpPr>
          <p:cNvPr id="19" name="Shape 17"/>
          <p:cNvSpPr/>
          <p:nvPr/>
        </p:nvSpPr>
        <p:spPr>
          <a:xfrm rot="2400000">
            <a:off x="1828800" y="2679192"/>
            <a:ext cx="175565" cy="365760"/>
          </a:xfrm>
          <a:prstGeom prst="ellipse">
            <a:avLst/>
          </a:prstGeom>
          <a:solidFill>
            <a:srgbClr val="F8F7F2">
              <a:alpha val="60000"/>
            </a:srgbClr>
          </a:solidFill>
          <a:ln w="7620">
            <a:solidFill>
              <a:srgbClr val="A7B7A2"/>
            </a:solidFill>
            <a:prstDash val="solid"/>
          </a:ln>
        </p:spPr>
      </p:sp>
      <p:sp>
        <p:nvSpPr>
          <p:cNvPr id="20" name="Shape 18"/>
          <p:cNvSpPr/>
          <p:nvPr/>
        </p:nvSpPr>
        <p:spPr>
          <a:xfrm rot="2400000">
            <a:off x="2350008" y="2606223"/>
            <a:ext cx="175565" cy="365760"/>
          </a:xfrm>
          <a:prstGeom prst="ellipse">
            <a:avLst/>
          </a:prstGeom>
          <a:solidFill>
            <a:srgbClr val="F8F7F2">
              <a:alpha val="60000"/>
            </a:srgbClr>
          </a:solidFill>
          <a:ln w="7620">
            <a:solidFill>
              <a:srgbClr val="A7B7A2"/>
            </a:solidFill>
            <a:prstDash val="solid"/>
          </a:ln>
        </p:spPr>
      </p:sp>
      <p:sp>
        <p:nvSpPr>
          <p:cNvPr id="21" name="Shape 19"/>
          <p:cNvSpPr/>
          <p:nvPr/>
        </p:nvSpPr>
        <p:spPr>
          <a:xfrm rot="2400000">
            <a:off x="2871216" y="2533254"/>
            <a:ext cx="175565" cy="365760"/>
          </a:xfrm>
          <a:prstGeom prst="ellipse">
            <a:avLst/>
          </a:prstGeom>
          <a:solidFill>
            <a:srgbClr val="F8F7F2">
              <a:alpha val="60000"/>
            </a:srgbClr>
          </a:solidFill>
          <a:ln w="7620">
            <a:solidFill>
              <a:srgbClr val="A7B7A2"/>
            </a:solidFill>
            <a:prstDash val="solid"/>
          </a:ln>
        </p:spPr>
      </p:sp>
      <p:sp>
        <p:nvSpPr>
          <p:cNvPr id="22" name="Shape 20"/>
          <p:cNvSpPr/>
          <p:nvPr/>
        </p:nvSpPr>
        <p:spPr>
          <a:xfrm rot="2400000">
            <a:off x="4434840" y="2531974"/>
            <a:ext cx="175565" cy="365760"/>
          </a:xfrm>
          <a:prstGeom prst="ellipse">
            <a:avLst/>
          </a:prstGeom>
          <a:solidFill>
            <a:srgbClr val="F8F7F2">
              <a:alpha val="60000"/>
            </a:srgbClr>
          </a:solidFill>
          <a:ln w="7620">
            <a:solidFill>
              <a:srgbClr val="A7B7A2"/>
            </a:solidFill>
            <a:prstDash val="solid"/>
          </a:ln>
        </p:spPr>
      </p:sp>
      <p:sp>
        <p:nvSpPr>
          <p:cNvPr id="23" name="Shape 21"/>
          <p:cNvSpPr/>
          <p:nvPr/>
        </p:nvSpPr>
        <p:spPr>
          <a:xfrm rot="2400000">
            <a:off x="4956048" y="2604943"/>
            <a:ext cx="175565" cy="365760"/>
          </a:xfrm>
          <a:prstGeom prst="ellipse">
            <a:avLst/>
          </a:prstGeom>
          <a:solidFill>
            <a:srgbClr val="F8F7F2">
              <a:alpha val="60000"/>
            </a:srgbClr>
          </a:solidFill>
          <a:ln w="7620">
            <a:solidFill>
              <a:srgbClr val="A7B7A2"/>
            </a:solidFill>
            <a:prstDash val="solid"/>
          </a:ln>
        </p:spPr>
      </p:sp>
      <p:sp>
        <p:nvSpPr>
          <p:cNvPr id="24" name="Shape 22"/>
          <p:cNvSpPr/>
          <p:nvPr/>
        </p:nvSpPr>
        <p:spPr>
          <a:xfrm rot="2400000">
            <a:off x="5477256" y="2677912"/>
            <a:ext cx="175565" cy="365760"/>
          </a:xfrm>
          <a:prstGeom prst="ellipse">
            <a:avLst/>
          </a:prstGeom>
          <a:solidFill>
            <a:srgbClr val="F8F7F2">
              <a:alpha val="60000"/>
            </a:srgbClr>
          </a:solidFill>
          <a:ln w="7620">
            <a:solidFill>
              <a:srgbClr val="A7B7A2"/>
            </a:solidFill>
            <a:prstDash val="solid"/>
          </a:ln>
        </p:spPr>
      </p:sp>
      <p:sp>
        <p:nvSpPr>
          <p:cNvPr id="25" name="Shape 23"/>
          <p:cNvSpPr/>
          <p:nvPr/>
        </p:nvSpPr>
        <p:spPr>
          <a:xfrm>
            <a:off x="1234440" y="4041648"/>
            <a:ext cx="1920240" cy="0"/>
          </a:xfrm>
          <a:prstGeom prst="line">
            <a:avLst/>
          </a:prstGeom>
          <a:noFill/>
          <a:ln w="25400">
            <a:solidFill>
              <a:srgbClr val="3E6E9E"/>
            </a:solidFill>
            <a:prstDash val="dash"/>
            <a:headEnd type="none"/>
            <a:tailEnd type="triangle"/>
          </a:ln>
        </p:spPr>
      </p:sp>
      <p:sp>
        <p:nvSpPr>
          <p:cNvPr id="26" name="Shape 24"/>
          <p:cNvSpPr/>
          <p:nvPr/>
        </p:nvSpPr>
        <p:spPr>
          <a:xfrm>
            <a:off x="4315968" y="4041648"/>
            <a:ext cx="1920240" cy="0"/>
          </a:xfrm>
          <a:prstGeom prst="line">
            <a:avLst/>
          </a:prstGeom>
          <a:noFill/>
          <a:ln w="25400">
            <a:solidFill>
              <a:srgbClr val="3E6E9E"/>
            </a:solidFill>
            <a:prstDash val="dash"/>
            <a:tailEnd type="triangle"/>
          </a:ln>
        </p:spPr>
      </p:sp>
      <p:sp>
        <p:nvSpPr>
          <p:cNvPr id="27" name="Shape 25"/>
          <p:cNvSpPr/>
          <p:nvPr/>
        </p:nvSpPr>
        <p:spPr>
          <a:xfrm>
            <a:off x="1234440" y="4700016"/>
            <a:ext cx="1920240" cy="0"/>
          </a:xfrm>
          <a:prstGeom prst="line">
            <a:avLst/>
          </a:prstGeom>
          <a:noFill/>
          <a:ln w="25400">
            <a:solidFill>
              <a:srgbClr val="3E6E9E"/>
            </a:solidFill>
            <a:prstDash val="dash"/>
            <a:headEnd type="none"/>
            <a:tailEnd type="triangle"/>
          </a:ln>
        </p:spPr>
      </p:sp>
      <p:sp>
        <p:nvSpPr>
          <p:cNvPr id="28" name="Shape 26"/>
          <p:cNvSpPr/>
          <p:nvPr/>
        </p:nvSpPr>
        <p:spPr>
          <a:xfrm>
            <a:off x="4315968" y="4700016"/>
            <a:ext cx="1920240" cy="0"/>
          </a:xfrm>
          <a:prstGeom prst="line">
            <a:avLst/>
          </a:prstGeom>
          <a:noFill/>
          <a:ln w="25400">
            <a:solidFill>
              <a:srgbClr val="3E6E9E"/>
            </a:solidFill>
            <a:prstDash val="dash"/>
            <a:tailEnd type="triangle"/>
          </a:ln>
        </p:spPr>
      </p:sp>
      <p:sp>
        <p:nvSpPr>
          <p:cNvPr id="29" name="Text 27"/>
          <p:cNvSpPr/>
          <p:nvPr/>
        </p:nvSpPr>
        <p:spPr>
          <a:xfrm>
            <a:off x="1463040" y="5806440"/>
            <a:ext cx="5303520" cy="228600"/>
          </a:xfrm>
          <a:prstGeom prst="rect">
            <a:avLst/>
          </a:prstGeom>
          <a:noFill/>
          <a:ln/>
        </p:spPr>
        <p:txBody>
          <a:bodyPr wrap="square" lIns="0" tIns="0" rIns="0" bIns="0" rtlCol="0" anchor="ctr"/>
          <a:lstStyle/>
          <a:p>
            <a:pPr algn="ctr" indent="0" marL="0">
              <a:buNone/>
            </a:pPr>
            <a:r>
              <a:rPr lang="en-US" sz="1200" b="1" spc="100" kern="0" dirty="0">
                <a:solidFill>
                  <a:srgbClr val="3E6E9E"/>
                </a:solidFill>
                <a:latin typeface="Noto Sans" pitchFamily="34" charset="0"/>
                <a:ea typeface="Noto Sans" pitchFamily="34" charset="-122"/>
                <a:cs typeface="Noto Sans" pitchFamily="34" charset="-120"/>
              </a:rPr>
              <a:t>CONCEPTUAL AIRFLOW</a:t>
            </a:r>
            <a:endParaRPr lang="en-US" sz="1200" dirty="0"/>
          </a:p>
        </p:txBody>
      </p:sp>
      <p:sp>
        <p:nvSpPr>
          <p:cNvPr id="30" name="Text 28"/>
          <p:cNvSpPr/>
          <p:nvPr/>
        </p:nvSpPr>
        <p:spPr>
          <a:xfrm>
            <a:off x="7315200" y="23317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31" name="Text 29"/>
          <p:cNvSpPr/>
          <p:nvPr/>
        </p:nvSpPr>
        <p:spPr>
          <a:xfrm>
            <a:off x="7882128" y="2331720"/>
            <a:ext cx="359359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SHADE</a:t>
            </a:r>
            <a:endParaRPr lang="en-US" sz="2100" dirty="0"/>
          </a:p>
        </p:txBody>
      </p:sp>
      <p:sp>
        <p:nvSpPr>
          <p:cNvPr id="32" name="Text 30"/>
          <p:cNvSpPr/>
          <p:nvPr/>
        </p:nvSpPr>
        <p:spPr>
          <a:xfrm>
            <a:off x="7882128" y="2807208"/>
            <a:ext cx="359359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Reduce direct solar exposure. [1,2]</a:t>
            </a:r>
            <a:endParaRPr lang="en-US" sz="1700" dirty="0"/>
          </a:p>
        </p:txBody>
      </p:sp>
      <p:sp>
        <p:nvSpPr>
          <p:cNvPr id="33" name="Text 31"/>
          <p:cNvSpPr/>
          <p:nvPr/>
        </p:nvSpPr>
        <p:spPr>
          <a:xfrm>
            <a:off x="7315200" y="361188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34" name="Text 32"/>
          <p:cNvSpPr/>
          <p:nvPr/>
        </p:nvSpPr>
        <p:spPr>
          <a:xfrm>
            <a:off x="7882128" y="3611880"/>
            <a:ext cx="359359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OPEN EDGES</a:t>
            </a:r>
            <a:endParaRPr lang="en-US" sz="2100" dirty="0"/>
          </a:p>
        </p:txBody>
      </p:sp>
      <p:sp>
        <p:nvSpPr>
          <p:cNvPr id="35" name="Text 33"/>
          <p:cNvSpPr/>
          <p:nvPr/>
        </p:nvSpPr>
        <p:spPr>
          <a:xfrm>
            <a:off x="7882128" y="4087368"/>
            <a:ext cx="359359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Retain potential lateral airflow paths.</a:t>
            </a:r>
            <a:endParaRPr lang="en-US" sz="1700" dirty="0"/>
          </a:p>
        </p:txBody>
      </p:sp>
      <p:sp>
        <p:nvSpPr>
          <p:cNvPr id="36" name="Text 34"/>
          <p:cNvSpPr/>
          <p:nvPr/>
        </p:nvSpPr>
        <p:spPr>
          <a:xfrm>
            <a:off x="7315200" y="4864608"/>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37" name="Text 35"/>
          <p:cNvSpPr/>
          <p:nvPr/>
        </p:nvSpPr>
        <p:spPr>
          <a:xfrm>
            <a:off x="7882128" y="4864608"/>
            <a:ext cx="359359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FOLIAGE DENSITY</a:t>
            </a:r>
            <a:endParaRPr lang="en-US" sz="2100" dirty="0"/>
          </a:p>
        </p:txBody>
      </p:sp>
      <p:sp>
        <p:nvSpPr>
          <p:cNvPr id="38" name="Text 36"/>
          <p:cNvSpPr/>
          <p:nvPr/>
        </p:nvSpPr>
        <p:spPr>
          <a:xfrm>
            <a:off x="7882128" y="5340096"/>
            <a:ext cx="359359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More cover may also increase flow resistance.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ANALYSIS METHOD</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Make the assumptions—and the metrics—explicit</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One fixed reference zone; two different shade metrics.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Solar method: NOAA [3]. Reference zone and optical scenarios: project analysis (P2, P5).</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12</a:t>
            </a:r>
            <a:endParaRPr lang="en-US" sz="1000" dirty="0"/>
          </a:p>
        </p:txBody>
      </p:sp>
      <p:sp>
        <p:nvSpPr>
          <p:cNvPr id="15" name="Shape 13"/>
          <p:cNvSpPr/>
          <p:nvPr/>
        </p:nvSpPr>
        <p:spPr>
          <a:xfrm>
            <a:off x="594360" y="2267712"/>
            <a:ext cx="2642616" cy="1234440"/>
          </a:xfrm>
          <a:prstGeom prst="rect">
            <a:avLst>
              <a:gd name="adj" fmla="val 7407"/>
            </a:avLst>
          </a:prstGeom>
          <a:solidFill>
            <a:srgbClr val="EDF1E9"/>
          </a:solidFill>
          <a:ln w="7620">
            <a:solidFill>
              <a:srgbClr val="D9DDD2"/>
            </a:solidFill>
            <a:prstDash val="solid"/>
          </a:ln>
        </p:spPr>
      </p:sp>
      <p:sp>
        <p:nvSpPr>
          <p:cNvPr id="16" name="Text 14"/>
          <p:cNvSpPr/>
          <p:nvPr/>
        </p:nvSpPr>
        <p:spPr>
          <a:xfrm>
            <a:off x="758952" y="2386584"/>
            <a:ext cx="2313432"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30°N</a:t>
            </a:r>
            <a:endParaRPr lang="en-US" sz="2000" dirty="0"/>
          </a:p>
        </p:txBody>
      </p:sp>
      <p:sp>
        <p:nvSpPr>
          <p:cNvPr id="17" name="Text 15"/>
          <p:cNvSpPr/>
          <p:nvPr/>
        </p:nvSpPr>
        <p:spPr>
          <a:xfrm>
            <a:off x="758952" y="2807208"/>
            <a:ext cx="2313432" cy="61264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Illustrative location</a:t>
            </a:r>
            <a:endParaRPr lang="en-US" sz="1600" dirty="0"/>
          </a:p>
        </p:txBody>
      </p:sp>
      <p:sp>
        <p:nvSpPr>
          <p:cNvPr id="18" name="Shape 16"/>
          <p:cNvSpPr/>
          <p:nvPr/>
        </p:nvSpPr>
        <p:spPr>
          <a:xfrm>
            <a:off x="3410712" y="2267712"/>
            <a:ext cx="2642616" cy="1234440"/>
          </a:xfrm>
          <a:prstGeom prst="rect">
            <a:avLst>
              <a:gd name="adj" fmla="val 7407"/>
            </a:avLst>
          </a:prstGeom>
          <a:solidFill>
            <a:srgbClr val="EDF1E9"/>
          </a:solidFill>
          <a:ln w="7620">
            <a:solidFill>
              <a:srgbClr val="D9DDD2"/>
            </a:solidFill>
            <a:prstDash val="solid"/>
          </a:ln>
        </p:spPr>
      </p:sp>
      <p:sp>
        <p:nvSpPr>
          <p:cNvPr id="19" name="Text 17"/>
          <p:cNvSpPr/>
          <p:nvPr/>
        </p:nvSpPr>
        <p:spPr>
          <a:xfrm>
            <a:off x="3575304" y="2386584"/>
            <a:ext cx="2313432"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09:00–15:00</a:t>
            </a:r>
            <a:endParaRPr lang="en-US" sz="2000" dirty="0"/>
          </a:p>
        </p:txBody>
      </p:sp>
      <p:sp>
        <p:nvSpPr>
          <p:cNvPr id="20" name="Text 18"/>
          <p:cNvSpPr/>
          <p:nvPr/>
        </p:nvSpPr>
        <p:spPr>
          <a:xfrm>
            <a:off x="3575304" y="2807208"/>
            <a:ext cx="2313432" cy="61264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True solar time</a:t>
            </a:r>
            <a:endParaRPr lang="en-US" sz="1600" dirty="0"/>
          </a:p>
        </p:txBody>
      </p:sp>
      <p:sp>
        <p:nvSpPr>
          <p:cNvPr id="21" name="Shape 19"/>
          <p:cNvSpPr/>
          <p:nvPr/>
        </p:nvSpPr>
        <p:spPr>
          <a:xfrm>
            <a:off x="6227064" y="2267712"/>
            <a:ext cx="2642616" cy="1234440"/>
          </a:xfrm>
          <a:prstGeom prst="rect">
            <a:avLst>
              <a:gd name="adj" fmla="val 7407"/>
            </a:avLst>
          </a:prstGeom>
          <a:solidFill>
            <a:srgbClr val="EDF1E9"/>
          </a:solidFill>
          <a:ln w="7620">
            <a:solidFill>
              <a:srgbClr val="D9DDD2"/>
            </a:solidFill>
            <a:prstDash val="solid"/>
          </a:ln>
        </p:spPr>
      </p:sp>
      <p:sp>
        <p:nvSpPr>
          <p:cNvPr id="22" name="Text 20"/>
          <p:cNvSpPr/>
          <p:nvPr/>
        </p:nvSpPr>
        <p:spPr>
          <a:xfrm>
            <a:off x="6391656" y="2386584"/>
            <a:ext cx="2313432"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23.23 m²</a:t>
            </a:r>
            <a:endParaRPr lang="en-US" sz="2000" dirty="0"/>
          </a:p>
        </p:txBody>
      </p:sp>
      <p:sp>
        <p:nvSpPr>
          <p:cNvPr id="23" name="Text 21"/>
          <p:cNvSpPr/>
          <p:nvPr/>
        </p:nvSpPr>
        <p:spPr>
          <a:xfrm>
            <a:off x="6391656" y="2807208"/>
            <a:ext cx="2313432" cy="61264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5 × 5 m minus r = 0.75 m</a:t>
            </a:r>
            <a:endParaRPr lang="en-US" sz="1600" dirty="0"/>
          </a:p>
        </p:txBody>
      </p:sp>
      <p:sp>
        <p:nvSpPr>
          <p:cNvPr id="24" name="Shape 22"/>
          <p:cNvSpPr/>
          <p:nvPr/>
        </p:nvSpPr>
        <p:spPr>
          <a:xfrm>
            <a:off x="9043416" y="2267712"/>
            <a:ext cx="2642616" cy="1234440"/>
          </a:xfrm>
          <a:prstGeom prst="rect">
            <a:avLst>
              <a:gd name="adj" fmla="val 7407"/>
            </a:avLst>
          </a:prstGeom>
          <a:solidFill>
            <a:srgbClr val="EDF1E9"/>
          </a:solidFill>
          <a:ln w="7620">
            <a:solidFill>
              <a:srgbClr val="D9DDD2"/>
            </a:solidFill>
            <a:prstDash val="solid"/>
          </a:ln>
        </p:spPr>
      </p:sp>
      <p:sp>
        <p:nvSpPr>
          <p:cNvPr id="25" name="Text 23"/>
          <p:cNvSpPr/>
          <p:nvPr/>
        </p:nvSpPr>
        <p:spPr>
          <a:xfrm>
            <a:off x="9208008" y="2386584"/>
            <a:ext cx="2313432"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ASSUMED FOLIAGE</a:t>
            </a:r>
            <a:endParaRPr lang="en-US" sz="2000" dirty="0"/>
          </a:p>
        </p:txBody>
      </p:sp>
      <p:sp>
        <p:nvSpPr>
          <p:cNvPr id="26" name="Text 24"/>
          <p:cNvSpPr/>
          <p:nvPr/>
        </p:nvSpPr>
        <p:spPr>
          <a:xfrm>
            <a:off x="9208008" y="2807208"/>
            <a:ext cx="2313432" cy="61264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No site obstructions</a:t>
            </a:r>
            <a:endParaRPr lang="en-US" sz="1600" dirty="0"/>
          </a:p>
        </p:txBody>
      </p:sp>
      <p:sp>
        <p:nvSpPr>
          <p:cNvPr id="27" name="Shape 25"/>
          <p:cNvSpPr/>
          <p:nvPr/>
        </p:nvSpPr>
        <p:spPr>
          <a:xfrm>
            <a:off x="594360" y="3986784"/>
            <a:ext cx="5340096" cy="1773936"/>
          </a:xfrm>
          <a:prstGeom prst="rect">
            <a:avLst>
              <a:gd name="adj" fmla="val 5155"/>
            </a:avLst>
          </a:prstGeom>
          <a:solidFill>
            <a:srgbClr val="EDF1E9"/>
          </a:solidFill>
          <a:ln w="7620">
            <a:solidFill>
              <a:srgbClr val="D9DDD2"/>
            </a:solidFill>
            <a:prstDash val="solid"/>
          </a:ln>
        </p:spPr>
      </p:sp>
      <p:sp>
        <p:nvSpPr>
          <p:cNvPr id="28" name="Text 26"/>
          <p:cNvSpPr/>
          <p:nvPr/>
        </p:nvSpPr>
        <p:spPr>
          <a:xfrm>
            <a:off x="795528" y="4187952"/>
            <a:ext cx="4919472" cy="329184"/>
          </a:xfrm>
          <a:prstGeom prst="rect">
            <a:avLst/>
          </a:prstGeom>
          <a:noFill/>
          <a:ln/>
        </p:spPr>
        <p:txBody>
          <a:bodyPr wrap="square" lIns="0" tIns="0" rIns="0" bIns="0" rtlCol="0" anchor="ctr"/>
          <a:lstStyle/>
          <a:p>
            <a:pPr indent="0" marL="0">
              <a:buNone/>
            </a:pPr>
            <a:r>
              <a:rPr lang="en-US" sz="1700" b="1" dirty="0">
                <a:solidFill>
                  <a:srgbClr val="346A55"/>
                </a:solidFill>
                <a:latin typeface="Noto Sans" pitchFamily="34" charset="0"/>
                <a:ea typeface="Noto Sans" pitchFamily="34" charset="-122"/>
                <a:cs typeface="Noto Sans" pitchFamily="34" charset="-120"/>
              </a:rPr>
              <a:t>IDEAL GEOMETRIC OVERLAP</a:t>
            </a:r>
            <a:endParaRPr lang="en-US" sz="1700" dirty="0"/>
          </a:p>
        </p:txBody>
      </p:sp>
      <p:sp>
        <p:nvSpPr>
          <p:cNvPr id="29" name="Text 27"/>
          <p:cNvSpPr/>
          <p:nvPr/>
        </p:nvSpPr>
        <p:spPr>
          <a:xfrm>
            <a:off x="795528" y="4709160"/>
            <a:ext cx="4892040" cy="667512"/>
          </a:xfrm>
          <a:prstGeom prst="rect">
            <a:avLst/>
          </a:prstGeom>
          <a:noFill/>
          <a:ln/>
        </p:spPr>
        <p:txBody>
          <a:bodyPr wrap="square" lIns="0" tIns="0" rIns="0" bIns="0" rtlCol="0" anchor="ctr"/>
          <a:lstStyle/>
          <a:p>
            <a:pPr indent="0" marL="0">
              <a:buNone/>
            </a:pPr>
            <a:r>
              <a:rPr lang="en-US" sz="2100" dirty="0">
                <a:solidFill>
                  <a:srgbClr val="173C51"/>
                </a:solidFill>
                <a:latin typeface="Noto Sans" pitchFamily="34" charset="0"/>
                <a:ea typeface="Noto Sans" pitchFamily="34" charset="-122"/>
                <a:cs typeface="Noto Sans" pitchFamily="34" charset="-120"/>
              </a:rPr>
              <a:t>Continuous-leaf shadow intersecting the reference zone.</a:t>
            </a:r>
            <a:endParaRPr lang="en-US" sz="2100" dirty="0"/>
          </a:p>
        </p:txBody>
      </p:sp>
      <p:sp>
        <p:nvSpPr>
          <p:cNvPr id="30" name="Shape 28"/>
          <p:cNvSpPr/>
          <p:nvPr/>
        </p:nvSpPr>
        <p:spPr>
          <a:xfrm>
            <a:off x="6172200" y="3986784"/>
            <a:ext cx="5340096" cy="1773936"/>
          </a:xfrm>
          <a:prstGeom prst="rect">
            <a:avLst>
              <a:gd name="adj" fmla="val 5155"/>
            </a:avLst>
          </a:prstGeom>
          <a:solidFill>
            <a:srgbClr val="EDF1E9"/>
          </a:solidFill>
          <a:ln w="7620">
            <a:solidFill>
              <a:srgbClr val="D9DDD2"/>
            </a:solidFill>
            <a:prstDash val="solid"/>
          </a:ln>
        </p:spPr>
      </p:sp>
      <p:sp>
        <p:nvSpPr>
          <p:cNvPr id="31" name="Text 29"/>
          <p:cNvSpPr/>
          <p:nvPr/>
        </p:nvSpPr>
        <p:spPr>
          <a:xfrm>
            <a:off x="6373368" y="4187952"/>
            <a:ext cx="4919472" cy="329184"/>
          </a:xfrm>
          <a:prstGeom prst="rect">
            <a:avLst/>
          </a:prstGeom>
          <a:noFill/>
          <a:ln/>
        </p:spPr>
        <p:txBody>
          <a:bodyPr wrap="square" lIns="0" tIns="0" rIns="0" bIns="0" rtlCol="0" anchor="ctr"/>
          <a:lstStyle/>
          <a:p>
            <a:pPr indent="0" marL="0">
              <a:buNone/>
            </a:pPr>
            <a:r>
              <a:rPr lang="en-US" sz="1600" b="1" dirty="0">
                <a:solidFill>
                  <a:srgbClr val="346A55"/>
                </a:solidFill>
                <a:latin typeface="Noto Sans" pitchFamily="34" charset="0"/>
                <a:ea typeface="Noto Sans" pitchFamily="34" charset="-122"/>
                <a:cs typeface="Noto Sans" pitchFamily="34" charset="-120"/>
              </a:rPr>
              <a:t>EQUIVALENT DIRECT-BEAM BLOCKAGE</a:t>
            </a:r>
            <a:endParaRPr lang="en-US" sz="1600" dirty="0"/>
          </a:p>
        </p:txBody>
      </p:sp>
      <p:sp>
        <p:nvSpPr>
          <p:cNvPr id="32" name="Text 30"/>
          <p:cNvSpPr/>
          <p:nvPr/>
        </p:nvSpPr>
        <p:spPr>
          <a:xfrm>
            <a:off x="6373368" y="4709160"/>
            <a:ext cx="4892040" cy="667512"/>
          </a:xfrm>
          <a:prstGeom prst="rect">
            <a:avLst/>
          </a:prstGeom>
          <a:noFill/>
          <a:ln/>
        </p:spPr>
        <p:txBody>
          <a:bodyPr wrap="square" lIns="0" tIns="0" rIns="0" bIns="0" rtlCol="0" anchor="ctr"/>
          <a:lstStyle/>
          <a:p>
            <a:pPr indent="0" marL="0">
              <a:buNone/>
            </a:pPr>
            <a:r>
              <a:rPr lang="en-US" sz="2100" dirty="0">
                <a:solidFill>
                  <a:srgbClr val="173C51"/>
                </a:solidFill>
                <a:latin typeface="Noto Sans" pitchFamily="34" charset="0"/>
                <a:ea typeface="Noto Sans" pitchFamily="34" charset="-122"/>
                <a:cs typeface="Noto Sans" pitchFamily="34" charset="-120"/>
              </a:rPr>
              <a:t>Frame + leaf patches; overlap deducted; τ = 0.15.</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SHADE RESULTS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Noon overlap does not mean all-day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Ideal continuous-leaf overlap within the fixed reference zone.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project geometric projection (P2). Summer solstice; 30°N; assumed leaf envelope and orientation.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13</a:t>
            </a:r>
            <a:endParaRPr lang="en-US" sz="1000" dirty="0"/>
          </a:p>
        </p:txBody>
      </p:sp>
      <p:pic>
        <p:nvPicPr>
          <p:cNvPr id="15" name="Image 0" descr="/workspace/temp/presentation/v1/assets/ideal-shadow-09.png">    </p:cNvPr>
          <p:cNvPicPr>
            <a:picLocks noChangeAspect="1"/>
          </p:cNvPicPr>
          <p:nvPr/>
        </p:nvPicPr>
        <p:blipFill>
          <a:blip r:embed="rId1"/>
          <a:stretch>
            <a:fillRect/>
          </a:stretch>
        </p:blipFill>
        <p:spPr>
          <a:xfrm>
            <a:off x="634365" y="2029968"/>
            <a:ext cx="3595878" cy="2615184"/>
          </a:xfrm>
          <a:prstGeom prst="rect">
            <a:avLst/>
          </a:prstGeom>
        </p:spPr>
      </p:pic>
      <p:sp>
        <p:nvSpPr>
          <p:cNvPr id="16" name="Text 13"/>
          <p:cNvSpPr/>
          <p:nvPr/>
        </p:nvSpPr>
        <p:spPr>
          <a:xfrm>
            <a:off x="621792" y="4681728"/>
            <a:ext cx="3621024" cy="237744"/>
          </a:xfrm>
          <a:prstGeom prst="rect">
            <a:avLst/>
          </a:prstGeom>
          <a:noFill/>
          <a:ln/>
        </p:spPr>
        <p:txBody>
          <a:bodyPr wrap="square" lIns="0" tIns="0" rIns="0" bIns="0" rtlCol="0" anchor="ctr"/>
          <a:lstStyle/>
          <a:p>
            <a:pPr algn="ctr" indent="0" marL="0">
              <a:buNone/>
            </a:pPr>
            <a:r>
              <a:rPr lang="en-US" sz="1300" b="1" dirty="0">
                <a:solidFill>
                  <a:srgbClr val="66736D"/>
                </a:solidFill>
                <a:latin typeface="Noto Sans" pitchFamily="34" charset="0"/>
                <a:ea typeface="Noto Sans" pitchFamily="34" charset="-122"/>
                <a:cs typeface="Noto Sans" pitchFamily="34" charset="-120"/>
              </a:rPr>
              <a:t>09:00 SOLAR TIME</a:t>
            </a:r>
            <a:endParaRPr lang="en-US" sz="1300" dirty="0"/>
          </a:p>
        </p:txBody>
      </p:sp>
      <p:sp>
        <p:nvSpPr>
          <p:cNvPr id="17" name="Text 14"/>
          <p:cNvSpPr/>
          <p:nvPr/>
        </p:nvSpPr>
        <p:spPr>
          <a:xfrm>
            <a:off x="621792" y="5102352"/>
            <a:ext cx="3621024" cy="612648"/>
          </a:xfrm>
          <a:prstGeom prst="rect">
            <a:avLst/>
          </a:prstGeom>
          <a:noFill/>
          <a:ln/>
        </p:spPr>
        <p:txBody>
          <a:bodyPr wrap="square" lIns="0" tIns="0" rIns="0" bIns="0" rtlCol="0" anchor="ctr"/>
          <a:lstStyle/>
          <a:p>
            <a:pPr algn="ctr" indent="0" marL="0">
              <a:buNone/>
            </a:pPr>
            <a:r>
              <a:rPr lang="en-US" sz="3300" b="1" dirty="0">
                <a:solidFill>
                  <a:srgbClr val="173C51"/>
                </a:solidFill>
                <a:latin typeface="Noto Serif" pitchFamily="34" charset="0"/>
                <a:ea typeface="Noto Serif" pitchFamily="34" charset="-122"/>
                <a:cs typeface="Noto Serif" pitchFamily="34" charset="-120"/>
              </a:rPr>
              <a:t>47.2%</a:t>
            </a:r>
            <a:endParaRPr lang="en-US" sz="3300" dirty="0"/>
          </a:p>
        </p:txBody>
      </p:sp>
      <p:pic>
        <p:nvPicPr>
          <p:cNvPr id="18" name="Image 1" descr="/workspace/temp/presentation/v1/assets/ideal-shadow-12.png">    </p:cNvPr>
          <p:cNvPicPr>
            <a:picLocks noChangeAspect="1"/>
          </p:cNvPicPr>
          <p:nvPr/>
        </p:nvPicPr>
        <p:blipFill>
          <a:blip r:embed="rId2"/>
          <a:stretch>
            <a:fillRect/>
          </a:stretch>
        </p:blipFill>
        <p:spPr>
          <a:xfrm>
            <a:off x="4410837" y="2029968"/>
            <a:ext cx="3595878" cy="2615184"/>
          </a:xfrm>
          <a:prstGeom prst="rect">
            <a:avLst/>
          </a:prstGeom>
        </p:spPr>
      </p:pic>
      <p:sp>
        <p:nvSpPr>
          <p:cNvPr id="19" name="Text 15"/>
          <p:cNvSpPr/>
          <p:nvPr/>
        </p:nvSpPr>
        <p:spPr>
          <a:xfrm>
            <a:off x="4398264" y="4681728"/>
            <a:ext cx="3621024" cy="237744"/>
          </a:xfrm>
          <a:prstGeom prst="rect">
            <a:avLst/>
          </a:prstGeom>
          <a:noFill/>
          <a:ln/>
        </p:spPr>
        <p:txBody>
          <a:bodyPr wrap="square" lIns="0" tIns="0" rIns="0" bIns="0" rtlCol="0" anchor="ctr"/>
          <a:lstStyle/>
          <a:p>
            <a:pPr algn="ctr" indent="0" marL="0">
              <a:buNone/>
            </a:pPr>
            <a:r>
              <a:rPr lang="en-US" sz="1300" b="1" dirty="0">
                <a:solidFill>
                  <a:srgbClr val="66736D"/>
                </a:solidFill>
                <a:latin typeface="Noto Sans" pitchFamily="34" charset="0"/>
                <a:ea typeface="Noto Sans" pitchFamily="34" charset="-122"/>
                <a:cs typeface="Noto Sans" pitchFamily="34" charset="-120"/>
              </a:rPr>
              <a:t>12:00 SOLAR TIME</a:t>
            </a:r>
            <a:endParaRPr lang="en-US" sz="1300" dirty="0"/>
          </a:p>
        </p:txBody>
      </p:sp>
      <p:sp>
        <p:nvSpPr>
          <p:cNvPr id="20" name="Text 16"/>
          <p:cNvSpPr/>
          <p:nvPr/>
        </p:nvSpPr>
        <p:spPr>
          <a:xfrm>
            <a:off x="4398264" y="5102352"/>
            <a:ext cx="3621024" cy="612648"/>
          </a:xfrm>
          <a:prstGeom prst="rect">
            <a:avLst/>
          </a:prstGeom>
          <a:noFill/>
          <a:ln/>
        </p:spPr>
        <p:txBody>
          <a:bodyPr wrap="square" lIns="0" tIns="0" rIns="0" bIns="0" rtlCol="0" anchor="ctr"/>
          <a:lstStyle/>
          <a:p>
            <a:pPr algn="ctr" indent="0" marL="0">
              <a:buNone/>
            </a:pPr>
            <a:r>
              <a:rPr lang="en-US" sz="3300" b="1" dirty="0">
                <a:solidFill>
                  <a:srgbClr val="173C51"/>
                </a:solidFill>
                <a:latin typeface="Noto Serif" pitchFamily="34" charset="0"/>
                <a:ea typeface="Noto Serif" pitchFamily="34" charset="-122"/>
                <a:cs typeface="Noto Serif" pitchFamily="34" charset="-120"/>
              </a:rPr>
              <a:t>98.7%</a:t>
            </a:r>
            <a:endParaRPr lang="en-US" sz="3300" dirty="0"/>
          </a:p>
        </p:txBody>
      </p:sp>
      <p:pic>
        <p:nvPicPr>
          <p:cNvPr id="21" name="Image 2" descr="/workspace/temp/presentation/v1/assets/ideal-shadow-15.png">    </p:cNvPr>
          <p:cNvPicPr>
            <a:picLocks noChangeAspect="1"/>
          </p:cNvPicPr>
          <p:nvPr/>
        </p:nvPicPr>
        <p:blipFill>
          <a:blip r:embed="rId3"/>
          <a:stretch>
            <a:fillRect/>
          </a:stretch>
        </p:blipFill>
        <p:spPr>
          <a:xfrm>
            <a:off x="8187309" y="2029968"/>
            <a:ext cx="3595878" cy="2615184"/>
          </a:xfrm>
          <a:prstGeom prst="rect">
            <a:avLst/>
          </a:prstGeom>
        </p:spPr>
      </p:pic>
      <p:sp>
        <p:nvSpPr>
          <p:cNvPr id="22" name="Text 17"/>
          <p:cNvSpPr/>
          <p:nvPr/>
        </p:nvSpPr>
        <p:spPr>
          <a:xfrm>
            <a:off x="8174736" y="4681728"/>
            <a:ext cx="3621024" cy="237744"/>
          </a:xfrm>
          <a:prstGeom prst="rect">
            <a:avLst/>
          </a:prstGeom>
          <a:noFill/>
          <a:ln/>
        </p:spPr>
        <p:txBody>
          <a:bodyPr wrap="square" lIns="0" tIns="0" rIns="0" bIns="0" rtlCol="0" anchor="ctr"/>
          <a:lstStyle/>
          <a:p>
            <a:pPr algn="ctr" indent="0" marL="0">
              <a:buNone/>
            </a:pPr>
            <a:r>
              <a:rPr lang="en-US" sz="1300" b="1" dirty="0">
                <a:solidFill>
                  <a:srgbClr val="66736D"/>
                </a:solidFill>
                <a:latin typeface="Noto Sans" pitchFamily="34" charset="0"/>
                <a:ea typeface="Noto Sans" pitchFamily="34" charset="-122"/>
                <a:cs typeface="Noto Sans" pitchFamily="34" charset="-120"/>
              </a:rPr>
              <a:t>15:00 SOLAR TIME</a:t>
            </a:r>
            <a:endParaRPr lang="en-US" sz="1300" dirty="0"/>
          </a:p>
        </p:txBody>
      </p:sp>
      <p:sp>
        <p:nvSpPr>
          <p:cNvPr id="23" name="Text 18"/>
          <p:cNvSpPr/>
          <p:nvPr/>
        </p:nvSpPr>
        <p:spPr>
          <a:xfrm>
            <a:off x="8174736" y="5102352"/>
            <a:ext cx="3621024" cy="612648"/>
          </a:xfrm>
          <a:prstGeom prst="rect">
            <a:avLst/>
          </a:prstGeom>
          <a:noFill/>
          <a:ln/>
        </p:spPr>
        <p:txBody>
          <a:bodyPr wrap="square" lIns="0" tIns="0" rIns="0" bIns="0" rtlCol="0" anchor="ctr"/>
          <a:lstStyle/>
          <a:p>
            <a:pPr algn="ctr" indent="0" marL="0">
              <a:buNone/>
            </a:pPr>
            <a:r>
              <a:rPr lang="en-US" sz="3300" b="1" dirty="0">
                <a:solidFill>
                  <a:srgbClr val="173C51"/>
                </a:solidFill>
                <a:latin typeface="Noto Serif" pitchFamily="34" charset="0"/>
                <a:ea typeface="Noto Serif" pitchFamily="34" charset="-122"/>
                <a:cs typeface="Noto Serif" pitchFamily="34" charset="-120"/>
              </a:rPr>
              <a:t>47.2%</a:t>
            </a:r>
            <a:endParaRPr lang="en-US" sz="3300" dirty="0"/>
          </a:p>
        </p:txBody>
      </p:sp>
      <p:sp>
        <p:nvSpPr>
          <p:cNvPr id="24" name="Shape 19"/>
          <p:cNvSpPr/>
          <p:nvPr/>
        </p:nvSpPr>
        <p:spPr>
          <a:xfrm>
            <a:off x="3246120" y="5907024"/>
            <a:ext cx="5669280" cy="411480"/>
          </a:xfrm>
          <a:prstGeom prst="rect">
            <a:avLst>
              <a:gd name="adj" fmla="val 22222"/>
            </a:avLst>
          </a:prstGeom>
          <a:solidFill>
            <a:srgbClr val="EDF1E9"/>
          </a:solidFill>
          <a:ln w="7620">
            <a:solidFill>
              <a:srgbClr val="EDF1E9"/>
            </a:solidFill>
            <a:prstDash val="solid"/>
          </a:ln>
        </p:spPr>
      </p:sp>
      <p:sp>
        <p:nvSpPr>
          <p:cNvPr id="25" name="Text 20"/>
          <p:cNvSpPr/>
          <p:nvPr/>
        </p:nvSpPr>
        <p:spPr>
          <a:xfrm>
            <a:off x="3355848" y="5971032"/>
            <a:ext cx="5449824" cy="265176"/>
          </a:xfrm>
          <a:prstGeom prst="rect">
            <a:avLst/>
          </a:prstGeom>
          <a:noFill/>
          <a:ln/>
        </p:spPr>
        <p:txBody>
          <a:bodyPr wrap="square" lIns="0" tIns="0" rIns="0" bIns="0" rtlCol="0" anchor="ctr"/>
          <a:lstStyle/>
          <a:p>
            <a:pPr indent="0" marL="0">
              <a:buNone/>
            </a:pPr>
            <a:r>
              <a:rPr lang="en-US" sz="1400" b="1" dirty="0">
                <a:solidFill>
                  <a:srgbClr val="346A55"/>
                </a:solidFill>
                <a:latin typeface="Noto Sans" pitchFamily="34" charset="0"/>
                <a:ea typeface="Noto Sans" pitchFamily="34" charset="-122"/>
                <a:cs typeface="Noto Sans" pitchFamily="34" charset="-120"/>
              </a:rPr>
              <a:t>09:00–15:00 TIME MEAN: 75.3%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PARAMETER STUDY</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Crown width changes useful shade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Same target and 50% plan cover; wider crowns also require more material and planted area.</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parameter and spatial-cover simulation (P5). Solstice 09–15 mean; τ = 0.15; assumed conditions.</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14</a:t>
            </a:r>
            <a:endParaRPr lang="en-US" sz="1000" dirty="0"/>
          </a:p>
        </p:txBody>
      </p:sp>
      <p:pic>
        <p:nvPicPr>
          <p:cNvPr id="15" name="Image 0" descr="/workspace/temp/presentation/v1/assets/width-small.png">    </p:cNvPr>
          <p:cNvPicPr>
            <a:picLocks noChangeAspect="1"/>
          </p:cNvPicPr>
          <p:nvPr/>
        </p:nvPicPr>
        <p:blipFill>
          <a:blip r:embed="rId1"/>
          <a:stretch>
            <a:fillRect/>
          </a:stretch>
        </p:blipFill>
        <p:spPr>
          <a:xfrm>
            <a:off x="743995" y="1938528"/>
            <a:ext cx="3230313" cy="2148840"/>
          </a:xfrm>
          <a:prstGeom prst="rect">
            <a:avLst/>
          </a:prstGeom>
        </p:spPr>
      </p:pic>
      <p:pic>
        <p:nvPicPr>
          <p:cNvPr id="16" name="Image 1" descr="/workspace/temp/presentation/v1/assets/width-base.png">    </p:cNvPr>
          <p:cNvPicPr>
            <a:picLocks noChangeAspect="1"/>
          </p:cNvPicPr>
          <p:nvPr/>
        </p:nvPicPr>
        <p:blipFill>
          <a:blip r:embed="rId2"/>
          <a:stretch>
            <a:fillRect/>
          </a:stretch>
        </p:blipFill>
        <p:spPr>
          <a:xfrm>
            <a:off x="4511323" y="1938528"/>
            <a:ext cx="3230313" cy="2148840"/>
          </a:xfrm>
          <a:prstGeom prst="rect">
            <a:avLst/>
          </a:prstGeom>
        </p:spPr>
      </p:pic>
      <p:pic>
        <p:nvPicPr>
          <p:cNvPr id="17" name="Image 2" descr="/workspace/temp/presentation/v1/assets/width-large.png">    </p:cNvPr>
          <p:cNvPicPr>
            <a:picLocks noChangeAspect="1"/>
          </p:cNvPicPr>
          <p:nvPr/>
        </p:nvPicPr>
        <p:blipFill>
          <a:blip r:embed="rId3"/>
          <a:stretch>
            <a:fillRect/>
          </a:stretch>
        </p:blipFill>
        <p:spPr>
          <a:xfrm>
            <a:off x="8278651" y="1938528"/>
            <a:ext cx="3230313" cy="2148840"/>
          </a:xfrm>
          <a:prstGeom prst="rect">
            <a:avLst/>
          </a:prstGeom>
        </p:spPr>
      </p:pic>
      <p:graphicFrame>
        <p:nvGraphicFramePr>
          <p:cNvPr id="18" name="Chart 0" descr=""/>
          <p:cNvGraphicFramePr/>
          <p:nvPr/>
        </p:nvGraphicFramePr>
        <p:xfrm>
          <a:off x="1051560" y="4133088"/>
          <a:ext cx="10241280" cy="1993392"/>
        </p:xfrm>
        <a:graphic xmlns:a="http://schemas.openxmlformats.org/drawingml/2006/main">
          <a:graphicData uri="http://schemas.openxmlformats.org/drawingml/2006/chart">
            <c:chart xmlns:c="http://schemas.openxmlformats.org/drawingml/2006/chart" r:id="rId4"/>
          </a:graphicData>
        </a:graphic>
      </p:graphicFrame>
      <p:sp>
        <p:nvSpPr>
          <p:cNvPr id="19" name="Text 13"/>
          <p:cNvSpPr/>
          <p:nvPr/>
        </p:nvSpPr>
        <p:spPr>
          <a:xfrm>
            <a:off x="685800" y="6126480"/>
            <a:ext cx="10698480" cy="182880"/>
          </a:xfrm>
          <a:prstGeom prst="rect">
            <a:avLst/>
          </a:prstGeom>
          <a:noFill/>
          <a:ln/>
        </p:spPr>
        <p:txBody>
          <a:bodyPr wrap="square" lIns="0" tIns="0" rIns="0" bIns="0" rtlCol="0" anchor="ctr"/>
          <a:lstStyle/>
          <a:p>
            <a:pPr algn="ctr" indent="0" marL="0">
              <a:buNone/>
            </a:pPr>
            <a:r>
              <a:rPr lang="en-US" sz="1100" b="1" dirty="0">
                <a:solidFill>
                  <a:srgbClr val="66736D"/>
                </a:solidFill>
                <a:latin typeface="Noto Sans" pitchFamily="34" charset="0"/>
                <a:ea typeface="Noto Sans" pitchFamily="34" charset="-122"/>
                <a:cs typeface="Noto Sans" pitchFamily="34" charset="-120"/>
              </a:rPr>
              <a:t>MEAN EQUIVALENT DIRECT-BEAM BLOCKAGE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PLANT-COVER SCENARIOS</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Foliage development changes blockage</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Fixed structure; cover scenarios have no assigned growth months or years.</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 spatial-cover simulation (P5). Solstice 09–15 mean; frame/leaf overlap deducted; τ = 0.15.</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15</a:t>
            </a:r>
            <a:endParaRPr lang="en-US" sz="1000" dirty="0"/>
          </a:p>
        </p:txBody>
      </p:sp>
      <p:pic>
        <p:nvPicPr>
          <p:cNvPr id="15" name="Image 0" descr="/workspace/temp/presentation/v1/assets/cover-sequence.gif">    </p:cNvPr>
          <p:cNvPicPr>
            <a:picLocks noChangeAspect="1"/>
          </p:cNvPicPr>
          <p:nvPr/>
        </p:nvPicPr>
        <p:blipFill>
          <a:blip r:embed="rId1"/>
          <a:stretch>
            <a:fillRect/>
          </a:stretch>
        </p:blipFill>
        <p:spPr>
          <a:xfrm>
            <a:off x="648943" y="1874520"/>
            <a:ext cx="5651554" cy="4087368"/>
          </a:xfrm>
          <a:prstGeom prst="rect">
            <a:avLst/>
          </a:prstGeom>
        </p:spPr>
      </p:pic>
      <p:sp>
        <p:nvSpPr>
          <p:cNvPr id="16" name="Text 13"/>
          <p:cNvSpPr/>
          <p:nvPr/>
        </p:nvSpPr>
        <p:spPr>
          <a:xfrm>
            <a:off x="594360" y="5916168"/>
            <a:ext cx="5715000" cy="228600"/>
          </a:xfrm>
          <a:prstGeom prst="rect">
            <a:avLst/>
          </a:prstGeom>
          <a:noFill/>
          <a:ln/>
        </p:spPr>
        <p:txBody>
          <a:bodyPr wrap="square" lIns="0" tIns="0" rIns="0" bIns="0" rtlCol="0" anchor="ctr"/>
          <a:lstStyle/>
          <a:p>
            <a:pPr algn="ctr" indent="0" marL="0">
              <a:buNone/>
            </a:pPr>
            <a:r>
              <a:rPr lang="en-US" sz="1100" b="1" dirty="0">
                <a:solidFill>
                  <a:srgbClr val="346A55"/>
                </a:solidFill>
                <a:latin typeface="Noto Sans" pitchFamily="34" charset="0"/>
                <a:ea typeface="Noto Sans" pitchFamily="34" charset="-122"/>
                <a:cs typeface="Noto Sans" pitchFamily="34" charset="-120"/>
              </a:rPr>
              <a:t>VIEW SEQUENCE: 0 → 20 → 50 → 80 → 95% PLAN COVER</a:t>
            </a:r>
            <a:endParaRPr lang="en-US" sz="1100" dirty="0"/>
          </a:p>
        </p:txBody>
      </p:sp>
      <p:graphicFrame>
        <p:nvGraphicFramePr>
          <p:cNvPr id="17" name="Chart 0" descr=""/>
          <p:cNvGraphicFramePr/>
          <p:nvPr/>
        </p:nvGraphicFramePr>
        <p:xfrm>
          <a:off x="6629400" y="2423160"/>
          <a:ext cx="4892040" cy="3246120"/>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p:nvPr/>
        </p:nvSpPr>
        <p:spPr>
          <a:xfrm>
            <a:off x="6903720" y="5897880"/>
            <a:ext cx="4206240" cy="246888"/>
          </a:xfrm>
          <a:prstGeom prst="rect">
            <a:avLst/>
          </a:prstGeom>
          <a:noFill/>
          <a:ln/>
        </p:spPr>
        <p:txBody>
          <a:bodyPr wrap="square" lIns="0" tIns="0" rIns="0" bIns="0" rtlCol="0" anchor="ctr"/>
          <a:lstStyle/>
          <a:p>
            <a:pPr algn="ctr" indent="0" marL="0">
              <a:buNone/>
            </a:pPr>
            <a:r>
              <a:rPr lang="en-US" sz="1100" b="1" dirty="0">
                <a:solidFill>
                  <a:srgbClr val="66736D"/>
                </a:solidFill>
                <a:latin typeface="Noto Sans" pitchFamily="34" charset="0"/>
                <a:ea typeface="Noto Sans" pitchFamily="34" charset="-122"/>
                <a:cs typeface="Noto Sans" pitchFamily="34" charset="-120"/>
              </a:rPr>
              <a:t>MEAN DIRECT-BEAM BLOCKAGE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APPLICATION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Place seating for the occupied hours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Illustrative shade movement—not a real site or a compliance drawing.</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Sources: project design and fixed-50%-cover projection (P4, P5). Proposed comfort validation may follow [4].</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16</a:t>
            </a:r>
            <a:endParaRPr lang="en-US" sz="1000" dirty="0"/>
          </a:p>
        </p:txBody>
      </p:sp>
      <p:pic>
        <p:nvPicPr>
          <p:cNvPr id="15" name="Image 0" descr="/workspace/temp/presentation/v1/assets/shadow-sequence.gif">    </p:cNvPr>
          <p:cNvPicPr>
            <a:picLocks noChangeAspect="1"/>
          </p:cNvPicPr>
          <p:nvPr/>
        </p:nvPicPr>
        <p:blipFill>
          <a:blip r:embed="rId1"/>
          <a:stretch>
            <a:fillRect/>
          </a:stretch>
        </p:blipFill>
        <p:spPr>
          <a:xfrm>
            <a:off x="958291" y="1993392"/>
            <a:ext cx="5581498" cy="3986784"/>
          </a:xfrm>
          <a:prstGeom prst="rect">
            <a:avLst/>
          </a:prstGeom>
        </p:spPr>
      </p:pic>
      <p:sp>
        <p:nvSpPr>
          <p:cNvPr id="16" name="Text 13"/>
          <p:cNvSpPr/>
          <p:nvPr/>
        </p:nvSpPr>
        <p:spPr>
          <a:xfrm>
            <a:off x="685800" y="5998464"/>
            <a:ext cx="6126480" cy="210312"/>
          </a:xfrm>
          <a:prstGeom prst="rect">
            <a:avLst/>
          </a:prstGeom>
          <a:noFill/>
          <a:ln/>
        </p:spPr>
        <p:txBody>
          <a:bodyPr wrap="square" lIns="0" tIns="0" rIns="0" bIns="0" rtlCol="0" anchor="ctr"/>
          <a:lstStyle/>
          <a:p>
            <a:pPr algn="ctr" indent="0" marL="0">
              <a:buNone/>
            </a:pPr>
            <a:r>
              <a:rPr lang="en-US" sz="1100" b="1" dirty="0">
                <a:solidFill>
                  <a:srgbClr val="346A55"/>
                </a:solidFill>
                <a:latin typeface="Noto Sans" pitchFamily="34" charset="0"/>
                <a:ea typeface="Noto Sans" pitchFamily="34" charset="-122"/>
                <a:cs typeface="Noto Sans" pitchFamily="34" charset="-120"/>
              </a:rPr>
              <a:t>FIXED 50% PLAN COVER • SOLAR TIME 09:00 → 15:00</a:t>
            </a:r>
            <a:endParaRPr lang="en-US" sz="1100" dirty="0"/>
          </a:p>
        </p:txBody>
      </p:sp>
      <p:sp>
        <p:nvSpPr>
          <p:cNvPr id="17" name="Text 14"/>
          <p:cNvSpPr/>
          <p:nvPr/>
        </p:nvSpPr>
        <p:spPr>
          <a:xfrm>
            <a:off x="7360920" y="233172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8" name="Text 15"/>
          <p:cNvSpPr/>
          <p:nvPr/>
        </p:nvSpPr>
        <p:spPr>
          <a:xfrm>
            <a:off x="7927848" y="2331720"/>
            <a:ext cx="359359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FOLLOW THE SHADE</a:t>
            </a:r>
            <a:endParaRPr lang="en-US" sz="2100" dirty="0"/>
          </a:p>
        </p:txBody>
      </p:sp>
      <p:sp>
        <p:nvSpPr>
          <p:cNvPr id="19" name="Text 16"/>
          <p:cNvSpPr/>
          <p:nvPr/>
        </p:nvSpPr>
        <p:spPr>
          <a:xfrm>
            <a:off x="7927848" y="2807208"/>
            <a:ext cx="359359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Use occupied-hour footprints, not only noon.</a:t>
            </a:r>
            <a:endParaRPr lang="en-US" sz="1700" dirty="0"/>
          </a:p>
        </p:txBody>
      </p:sp>
      <p:sp>
        <p:nvSpPr>
          <p:cNvPr id="20" name="Text 17"/>
          <p:cNvSpPr/>
          <p:nvPr/>
        </p:nvSpPr>
        <p:spPr>
          <a:xfrm>
            <a:off x="7360920" y="365760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21" name="Text 18"/>
          <p:cNvSpPr/>
          <p:nvPr/>
        </p:nvSpPr>
        <p:spPr>
          <a:xfrm>
            <a:off x="7927848" y="3657600"/>
            <a:ext cx="359359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KEEP ROUTES CLEAR</a:t>
            </a:r>
            <a:endParaRPr lang="en-US" sz="2100" dirty="0"/>
          </a:p>
        </p:txBody>
      </p:sp>
      <p:sp>
        <p:nvSpPr>
          <p:cNvPr id="22" name="Text 19"/>
          <p:cNvSpPr/>
          <p:nvPr/>
        </p:nvSpPr>
        <p:spPr>
          <a:xfrm>
            <a:off x="7927848" y="4133088"/>
            <a:ext cx="359359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Separate stopping places from through movement.</a:t>
            </a:r>
            <a:endParaRPr lang="en-US" sz="1700" dirty="0"/>
          </a:p>
        </p:txBody>
      </p:sp>
      <p:sp>
        <p:nvSpPr>
          <p:cNvPr id="23" name="Text 20"/>
          <p:cNvSpPr/>
          <p:nvPr/>
        </p:nvSpPr>
        <p:spPr>
          <a:xfrm>
            <a:off x="7360920" y="498348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4" name="Text 21"/>
          <p:cNvSpPr/>
          <p:nvPr/>
        </p:nvSpPr>
        <p:spPr>
          <a:xfrm>
            <a:off x="7927848" y="4983480"/>
            <a:ext cx="359359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ALLOW FOR PLANT CARE</a:t>
            </a:r>
            <a:endParaRPr lang="en-US" sz="2100" dirty="0"/>
          </a:p>
        </p:txBody>
      </p:sp>
      <p:sp>
        <p:nvSpPr>
          <p:cNvPr id="25" name="Text 22"/>
          <p:cNvSpPr/>
          <p:nvPr/>
        </p:nvSpPr>
        <p:spPr>
          <a:xfrm>
            <a:off x="7927848" y="5458968"/>
            <a:ext cx="359359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Reserve roots, water and maintenance access.</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CONSTRUCTION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Prefabricate components; manage site complexity</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Proposed assembly logic—not a tested construction programme.</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Sources: project build-up and cost workbook (P3, P4). Labour, curing, transport and lifting assumptions require confirmation.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17</a:t>
            </a:r>
            <a:endParaRPr lang="en-US" sz="1000" dirty="0"/>
          </a:p>
        </p:txBody>
      </p:sp>
      <p:sp>
        <p:nvSpPr>
          <p:cNvPr id="15" name="Shape 13"/>
          <p:cNvSpPr/>
          <p:nvPr/>
        </p:nvSpPr>
        <p:spPr>
          <a:xfrm>
            <a:off x="585216" y="2542032"/>
            <a:ext cx="2039112" cy="2029968"/>
          </a:xfrm>
          <a:prstGeom prst="rect">
            <a:avLst>
              <a:gd name="adj" fmla="val 4505"/>
            </a:avLst>
          </a:prstGeom>
          <a:solidFill>
            <a:srgbClr val="EDF1E9"/>
          </a:solidFill>
          <a:ln w="7620">
            <a:solidFill>
              <a:srgbClr val="D9DDD2"/>
            </a:solidFill>
            <a:prstDash val="solid"/>
          </a:ln>
        </p:spPr>
      </p:sp>
      <p:sp>
        <p:nvSpPr>
          <p:cNvPr id="16" name="Text 14"/>
          <p:cNvSpPr/>
          <p:nvPr/>
        </p:nvSpPr>
        <p:spPr>
          <a:xfrm>
            <a:off x="749808" y="2724912"/>
            <a:ext cx="914400" cy="457200"/>
          </a:xfrm>
          <a:prstGeom prst="rect">
            <a:avLst/>
          </a:prstGeom>
          <a:noFill/>
          <a:ln/>
        </p:spPr>
        <p:txBody>
          <a:bodyPr wrap="square" lIns="0" tIns="0" rIns="0" bIns="0" rtlCol="0" anchor="ctr"/>
          <a:lstStyle/>
          <a:p>
            <a:pPr indent="0" marL="0">
              <a:buNone/>
            </a:pPr>
            <a:r>
              <a:rPr lang="en-US" sz="2900" dirty="0">
                <a:solidFill>
                  <a:srgbClr val="AA7E4A"/>
                </a:solidFill>
                <a:latin typeface="Noto Serif" pitchFamily="34" charset="0"/>
                <a:ea typeface="Noto Serif" pitchFamily="34" charset="-122"/>
                <a:cs typeface="Noto Serif" pitchFamily="34" charset="-120"/>
              </a:rPr>
              <a:t>01</a:t>
            </a:r>
            <a:endParaRPr lang="en-US" sz="2900" dirty="0"/>
          </a:p>
        </p:txBody>
      </p:sp>
      <p:sp>
        <p:nvSpPr>
          <p:cNvPr id="17" name="Text 15"/>
          <p:cNvSpPr/>
          <p:nvPr/>
        </p:nvSpPr>
        <p:spPr>
          <a:xfrm>
            <a:off x="749808" y="3383280"/>
            <a:ext cx="1709928" cy="40233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PREFABRICATE</a:t>
            </a:r>
            <a:endParaRPr lang="en-US" sz="1500" dirty="0"/>
          </a:p>
        </p:txBody>
      </p:sp>
      <p:sp>
        <p:nvSpPr>
          <p:cNvPr id="18" name="Text 16"/>
          <p:cNvSpPr/>
          <p:nvPr/>
        </p:nvSpPr>
        <p:spPr>
          <a:xfrm>
            <a:off x="749808" y="3913632"/>
            <a:ext cx="1709928" cy="4389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Form, treat and number</a:t>
            </a:r>
            <a:endParaRPr lang="en-US" sz="1600" dirty="0"/>
          </a:p>
        </p:txBody>
      </p:sp>
      <p:sp>
        <p:nvSpPr>
          <p:cNvPr id="19" name="Shape 17"/>
          <p:cNvSpPr/>
          <p:nvPr/>
        </p:nvSpPr>
        <p:spPr>
          <a:xfrm>
            <a:off x="2660904" y="3337560"/>
            <a:ext cx="128016" cy="292608"/>
          </a:xfrm>
          <a:prstGeom prst="chevron">
            <a:avLst/>
          </a:prstGeom>
          <a:solidFill>
            <a:srgbClr val="AA7E4A"/>
          </a:solidFill>
          <a:ln w="12700">
            <a:solidFill>
              <a:srgbClr val="AA7E4A">
                <a:alpha val="0"/>
              </a:srgbClr>
            </a:solidFill>
            <a:prstDash val="solid"/>
          </a:ln>
        </p:spPr>
      </p:sp>
      <p:sp>
        <p:nvSpPr>
          <p:cNvPr id="20" name="Shape 18"/>
          <p:cNvSpPr/>
          <p:nvPr/>
        </p:nvSpPr>
        <p:spPr>
          <a:xfrm>
            <a:off x="2834640" y="2542032"/>
            <a:ext cx="2039112" cy="2029968"/>
          </a:xfrm>
          <a:prstGeom prst="rect">
            <a:avLst>
              <a:gd name="adj" fmla="val 4505"/>
            </a:avLst>
          </a:prstGeom>
          <a:solidFill>
            <a:srgbClr val="EDF1E9"/>
          </a:solidFill>
          <a:ln w="7620">
            <a:solidFill>
              <a:srgbClr val="D9DDD2"/>
            </a:solidFill>
            <a:prstDash val="solid"/>
          </a:ln>
        </p:spPr>
      </p:sp>
      <p:sp>
        <p:nvSpPr>
          <p:cNvPr id="21" name="Text 19"/>
          <p:cNvSpPr/>
          <p:nvPr/>
        </p:nvSpPr>
        <p:spPr>
          <a:xfrm>
            <a:off x="2999232" y="2724912"/>
            <a:ext cx="914400" cy="457200"/>
          </a:xfrm>
          <a:prstGeom prst="rect">
            <a:avLst/>
          </a:prstGeom>
          <a:noFill/>
          <a:ln/>
        </p:spPr>
        <p:txBody>
          <a:bodyPr wrap="square" lIns="0" tIns="0" rIns="0" bIns="0" rtlCol="0" anchor="ctr"/>
          <a:lstStyle/>
          <a:p>
            <a:pPr indent="0" marL="0">
              <a:buNone/>
            </a:pPr>
            <a:r>
              <a:rPr lang="en-US" sz="2900" dirty="0">
                <a:solidFill>
                  <a:srgbClr val="AA7E4A"/>
                </a:solidFill>
                <a:latin typeface="Noto Serif" pitchFamily="34" charset="0"/>
                <a:ea typeface="Noto Serif" pitchFamily="34" charset="-122"/>
                <a:cs typeface="Noto Serif" pitchFamily="34" charset="-120"/>
              </a:rPr>
              <a:t>02</a:t>
            </a:r>
            <a:endParaRPr lang="en-US" sz="2900" dirty="0"/>
          </a:p>
        </p:txBody>
      </p:sp>
      <p:sp>
        <p:nvSpPr>
          <p:cNvPr id="22" name="Text 20"/>
          <p:cNvSpPr/>
          <p:nvPr/>
        </p:nvSpPr>
        <p:spPr>
          <a:xfrm>
            <a:off x="2999232" y="3383280"/>
            <a:ext cx="1709928" cy="40233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POSITION BASE</a:t>
            </a:r>
            <a:endParaRPr lang="en-US" sz="1500" dirty="0"/>
          </a:p>
        </p:txBody>
      </p:sp>
      <p:sp>
        <p:nvSpPr>
          <p:cNvPr id="23" name="Text 21"/>
          <p:cNvSpPr/>
          <p:nvPr/>
        </p:nvSpPr>
        <p:spPr>
          <a:xfrm>
            <a:off x="2999232" y="3913632"/>
            <a:ext cx="1709928" cy="4389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Lift and align</a:t>
            </a:r>
            <a:endParaRPr lang="en-US" sz="1600" dirty="0"/>
          </a:p>
        </p:txBody>
      </p:sp>
      <p:sp>
        <p:nvSpPr>
          <p:cNvPr id="24" name="Shape 22"/>
          <p:cNvSpPr/>
          <p:nvPr/>
        </p:nvSpPr>
        <p:spPr>
          <a:xfrm>
            <a:off x="4910328" y="3337560"/>
            <a:ext cx="128016" cy="292608"/>
          </a:xfrm>
          <a:prstGeom prst="chevron">
            <a:avLst/>
          </a:prstGeom>
          <a:solidFill>
            <a:srgbClr val="AA7E4A"/>
          </a:solidFill>
          <a:ln w="12700">
            <a:solidFill>
              <a:srgbClr val="AA7E4A">
                <a:alpha val="0"/>
              </a:srgbClr>
            </a:solidFill>
            <a:prstDash val="solid"/>
          </a:ln>
        </p:spPr>
      </p:sp>
      <p:sp>
        <p:nvSpPr>
          <p:cNvPr id="25" name="Shape 23"/>
          <p:cNvSpPr/>
          <p:nvPr/>
        </p:nvSpPr>
        <p:spPr>
          <a:xfrm>
            <a:off x="5084064" y="2542032"/>
            <a:ext cx="2039112" cy="2029968"/>
          </a:xfrm>
          <a:prstGeom prst="rect">
            <a:avLst>
              <a:gd name="adj" fmla="val 4505"/>
            </a:avLst>
          </a:prstGeom>
          <a:solidFill>
            <a:srgbClr val="EDF1E9"/>
          </a:solidFill>
          <a:ln w="7620">
            <a:solidFill>
              <a:srgbClr val="D9DDD2"/>
            </a:solidFill>
            <a:prstDash val="solid"/>
          </a:ln>
        </p:spPr>
      </p:sp>
      <p:sp>
        <p:nvSpPr>
          <p:cNvPr id="26" name="Text 24"/>
          <p:cNvSpPr/>
          <p:nvPr/>
        </p:nvSpPr>
        <p:spPr>
          <a:xfrm>
            <a:off x="5248656" y="2724912"/>
            <a:ext cx="914400" cy="457200"/>
          </a:xfrm>
          <a:prstGeom prst="rect">
            <a:avLst/>
          </a:prstGeom>
          <a:noFill/>
          <a:ln/>
        </p:spPr>
        <p:txBody>
          <a:bodyPr wrap="square" lIns="0" tIns="0" rIns="0" bIns="0" rtlCol="0" anchor="ctr"/>
          <a:lstStyle/>
          <a:p>
            <a:pPr indent="0" marL="0">
              <a:buNone/>
            </a:pPr>
            <a:r>
              <a:rPr lang="en-US" sz="2900" dirty="0">
                <a:solidFill>
                  <a:srgbClr val="AA7E4A"/>
                </a:solidFill>
                <a:latin typeface="Noto Serif" pitchFamily="34" charset="0"/>
                <a:ea typeface="Noto Serif" pitchFamily="34" charset="-122"/>
                <a:cs typeface="Noto Serif" pitchFamily="34" charset="-120"/>
              </a:rPr>
              <a:t>03</a:t>
            </a:r>
            <a:endParaRPr lang="en-US" sz="2900" dirty="0"/>
          </a:p>
        </p:txBody>
      </p:sp>
      <p:sp>
        <p:nvSpPr>
          <p:cNvPr id="27" name="Text 25"/>
          <p:cNvSpPr/>
          <p:nvPr/>
        </p:nvSpPr>
        <p:spPr>
          <a:xfrm>
            <a:off x="5248656" y="3383280"/>
            <a:ext cx="1709928" cy="40233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ASSEMBLE</a:t>
            </a:r>
            <a:endParaRPr lang="en-US" sz="1500" dirty="0"/>
          </a:p>
        </p:txBody>
      </p:sp>
      <p:sp>
        <p:nvSpPr>
          <p:cNvPr id="28" name="Text 26"/>
          <p:cNvSpPr/>
          <p:nvPr/>
        </p:nvSpPr>
        <p:spPr>
          <a:xfrm>
            <a:off x="5248656" y="3913632"/>
            <a:ext cx="1709928" cy="4389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Support and crown</a:t>
            </a:r>
            <a:endParaRPr lang="en-US" sz="1600" dirty="0"/>
          </a:p>
        </p:txBody>
      </p:sp>
      <p:sp>
        <p:nvSpPr>
          <p:cNvPr id="29" name="Shape 27"/>
          <p:cNvSpPr/>
          <p:nvPr/>
        </p:nvSpPr>
        <p:spPr>
          <a:xfrm>
            <a:off x="7159752" y="3337560"/>
            <a:ext cx="128016" cy="292608"/>
          </a:xfrm>
          <a:prstGeom prst="chevron">
            <a:avLst/>
          </a:prstGeom>
          <a:solidFill>
            <a:srgbClr val="AA7E4A"/>
          </a:solidFill>
          <a:ln w="12700">
            <a:solidFill>
              <a:srgbClr val="AA7E4A">
                <a:alpha val="0"/>
              </a:srgbClr>
            </a:solidFill>
            <a:prstDash val="solid"/>
          </a:ln>
        </p:spPr>
      </p:sp>
      <p:sp>
        <p:nvSpPr>
          <p:cNvPr id="30" name="Shape 28"/>
          <p:cNvSpPr/>
          <p:nvPr/>
        </p:nvSpPr>
        <p:spPr>
          <a:xfrm>
            <a:off x="7333488" y="2542032"/>
            <a:ext cx="2039112" cy="2029968"/>
          </a:xfrm>
          <a:prstGeom prst="rect">
            <a:avLst>
              <a:gd name="adj" fmla="val 4505"/>
            </a:avLst>
          </a:prstGeom>
          <a:solidFill>
            <a:srgbClr val="F2EADD"/>
          </a:solidFill>
          <a:ln w="7620">
            <a:solidFill>
              <a:srgbClr val="D9DDD2"/>
            </a:solidFill>
            <a:prstDash val="solid"/>
          </a:ln>
        </p:spPr>
      </p:sp>
      <p:sp>
        <p:nvSpPr>
          <p:cNvPr id="31" name="Text 29"/>
          <p:cNvSpPr/>
          <p:nvPr/>
        </p:nvSpPr>
        <p:spPr>
          <a:xfrm>
            <a:off x="7498080" y="2724912"/>
            <a:ext cx="914400" cy="457200"/>
          </a:xfrm>
          <a:prstGeom prst="rect">
            <a:avLst/>
          </a:prstGeom>
          <a:noFill/>
          <a:ln/>
        </p:spPr>
        <p:txBody>
          <a:bodyPr wrap="square" lIns="0" tIns="0" rIns="0" bIns="0" rtlCol="0" anchor="ctr"/>
          <a:lstStyle/>
          <a:p>
            <a:pPr indent="0" marL="0">
              <a:buNone/>
            </a:pPr>
            <a:r>
              <a:rPr lang="en-US" sz="2900" dirty="0">
                <a:solidFill>
                  <a:srgbClr val="AA7E4A"/>
                </a:solidFill>
                <a:latin typeface="Noto Serif" pitchFamily="34" charset="0"/>
                <a:ea typeface="Noto Serif" pitchFamily="34" charset="-122"/>
                <a:cs typeface="Noto Serif" pitchFamily="34" charset="-120"/>
              </a:rPr>
              <a:t>04</a:t>
            </a:r>
            <a:endParaRPr lang="en-US" sz="2900" dirty="0"/>
          </a:p>
        </p:txBody>
      </p:sp>
      <p:sp>
        <p:nvSpPr>
          <p:cNvPr id="32" name="Text 30"/>
          <p:cNvSpPr/>
          <p:nvPr/>
        </p:nvSpPr>
        <p:spPr>
          <a:xfrm>
            <a:off x="7498080" y="3383280"/>
            <a:ext cx="1709928" cy="40233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GROUT &amp; CURE</a:t>
            </a:r>
            <a:endParaRPr lang="en-US" sz="1500" dirty="0"/>
          </a:p>
        </p:txBody>
      </p:sp>
      <p:sp>
        <p:nvSpPr>
          <p:cNvPr id="33" name="Text 31"/>
          <p:cNvSpPr/>
          <p:nvPr/>
        </p:nvSpPr>
        <p:spPr>
          <a:xfrm>
            <a:off x="7498080" y="3913632"/>
            <a:ext cx="1709928" cy="4389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Verify node details</a:t>
            </a:r>
            <a:endParaRPr lang="en-US" sz="1600" dirty="0"/>
          </a:p>
        </p:txBody>
      </p:sp>
      <p:sp>
        <p:nvSpPr>
          <p:cNvPr id="34" name="Shape 32"/>
          <p:cNvSpPr/>
          <p:nvPr/>
        </p:nvSpPr>
        <p:spPr>
          <a:xfrm>
            <a:off x="9409176" y="3337560"/>
            <a:ext cx="128016" cy="292608"/>
          </a:xfrm>
          <a:prstGeom prst="chevron">
            <a:avLst/>
          </a:prstGeom>
          <a:solidFill>
            <a:srgbClr val="AA7E4A"/>
          </a:solidFill>
          <a:ln w="12700">
            <a:solidFill>
              <a:srgbClr val="AA7E4A">
                <a:alpha val="0"/>
              </a:srgbClr>
            </a:solidFill>
            <a:prstDash val="solid"/>
          </a:ln>
        </p:spPr>
      </p:sp>
      <p:sp>
        <p:nvSpPr>
          <p:cNvPr id="35" name="Shape 33"/>
          <p:cNvSpPr/>
          <p:nvPr/>
        </p:nvSpPr>
        <p:spPr>
          <a:xfrm>
            <a:off x="9582912" y="2542032"/>
            <a:ext cx="2039112" cy="2029968"/>
          </a:xfrm>
          <a:prstGeom prst="rect">
            <a:avLst>
              <a:gd name="adj" fmla="val 4505"/>
            </a:avLst>
          </a:prstGeom>
          <a:solidFill>
            <a:srgbClr val="EDF1E9"/>
          </a:solidFill>
          <a:ln w="7620">
            <a:solidFill>
              <a:srgbClr val="D9DDD2"/>
            </a:solidFill>
            <a:prstDash val="solid"/>
          </a:ln>
        </p:spPr>
      </p:sp>
      <p:sp>
        <p:nvSpPr>
          <p:cNvPr id="36" name="Text 34"/>
          <p:cNvSpPr/>
          <p:nvPr/>
        </p:nvSpPr>
        <p:spPr>
          <a:xfrm>
            <a:off x="9747504" y="2724912"/>
            <a:ext cx="914400" cy="457200"/>
          </a:xfrm>
          <a:prstGeom prst="rect">
            <a:avLst/>
          </a:prstGeom>
          <a:noFill/>
          <a:ln/>
        </p:spPr>
        <p:txBody>
          <a:bodyPr wrap="square" lIns="0" tIns="0" rIns="0" bIns="0" rtlCol="0" anchor="ctr"/>
          <a:lstStyle/>
          <a:p>
            <a:pPr indent="0" marL="0">
              <a:buNone/>
            </a:pPr>
            <a:r>
              <a:rPr lang="en-US" sz="2900" dirty="0">
                <a:solidFill>
                  <a:srgbClr val="AA7E4A"/>
                </a:solidFill>
                <a:latin typeface="Noto Serif" pitchFamily="34" charset="0"/>
                <a:ea typeface="Noto Serif" pitchFamily="34" charset="-122"/>
                <a:cs typeface="Noto Serif" pitchFamily="34" charset="-120"/>
              </a:rPr>
              <a:t>05</a:t>
            </a:r>
            <a:endParaRPr lang="en-US" sz="2900" dirty="0"/>
          </a:p>
        </p:txBody>
      </p:sp>
      <p:sp>
        <p:nvSpPr>
          <p:cNvPr id="37" name="Text 35"/>
          <p:cNvSpPr/>
          <p:nvPr/>
        </p:nvSpPr>
        <p:spPr>
          <a:xfrm>
            <a:off x="9747504" y="3383280"/>
            <a:ext cx="1709928" cy="402336"/>
          </a:xfrm>
          <a:prstGeom prst="rect">
            <a:avLst/>
          </a:prstGeom>
          <a:noFill/>
          <a:ln/>
        </p:spPr>
        <p:txBody>
          <a:bodyPr wrap="square" lIns="0" tIns="0" rIns="0" bIns="0" rtlCol="0" anchor="ctr"/>
          <a:lstStyle/>
          <a:p>
            <a:pPr indent="0" marL="0">
              <a:buNone/>
            </a:pPr>
            <a:r>
              <a:rPr lang="en-US" sz="1500" b="1" dirty="0">
                <a:solidFill>
                  <a:srgbClr val="346A55"/>
                </a:solidFill>
                <a:latin typeface="Noto Sans" pitchFamily="34" charset="0"/>
                <a:ea typeface="Noto Sans" pitchFamily="34" charset="-122"/>
                <a:cs typeface="Noto Sans" pitchFamily="34" charset="-120"/>
              </a:rPr>
              <a:t>INSPECT &amp; PLANT</a:t>
            </a:r>
            <a:endParaRPr lang="en-US" sz="1500" dirty="0"/>
          </a:p>
        </p:txBody>
      </p:sp>
      <p:sp>
        <p:nvSpPr>
          <p:cNvPr id="38" name="Text 36"/>
          <p:cNvSpPr/>
          <p:nvPr/>
        </p:nvSpPr>
        <p:spPr>
          <a:xfrm>
            <a:off x="9747504" y="3913632"/>
            <a:ext cx="1709928" cy="438912"/>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Check, train and irrigate</a:t>
            </a:r>
            <a:endParaRPr lang="en-US" sz="1600" dirty="0"/>
          </a:p>
        </p:txBody>
      </p:sp>
      <p:sp>
        <p:nvSpPr>
          <p:cNvPr id="39" name="Shape 37"/>
          <p:cNvSpPr/>
          <p:nvPr/>
        </p:nvSpPr>
        <p:spPr>
          <a:xfrm>
            <a:off x="594360" y="5065776"/>
            <a:ext cx="5340096" cy="1005840"/>
          </a:xfrm>
          <a:prstGeom prst="rect">
            <a:avLst>
              <a:gd name="adj" fmla="val 9091"/>
            </a:avLst>
          </a:prstGeom>
          <a:solidFill>
            <a:srgbClr val="EDF1E9"/>
          </a:solidFill>
          <a:ln w="7620">
            <a:solidFill>
              <a:srgbClr val="D9DDD2"/>
            </a:solidFill>
            <a:prstDash val="solid"/>
          </a:ln>
        </p:spPr>
      </p:sp>
      <p:sp>
        <p:nvSpPr>
          <p:cNvPr id="40" name="Text 38"/>
          <p:cNvSpPr/>
          <p:nvPr/>
        </p:nvSpPr>
        <p:spPr>
          <a:xfrm>
            <a:off x="758952" y="5184648"/>
            <a:ext cx="5010912" cy="320040"/>
          </a:xfrm>
          <a:prstGeom prst="rect">
            <a:avLst/>
          </a:prstGeom>
          <a:noFill/>
          <a:ln/>
        </p:spPr>
        <p:txBody>
          <a:bodyPr wrap="square" lIns="0" tIns="0" rIns="0" bIns="0" rtlCol="0" anchor="ctr"/>
          <a:lstStyle/>
          <a:p>
            <a:pPr indent="0" marL="0">
              <a:buNone/>
            </a:pPr>
            <a:r>
              <a:rPr lang="en-US" sz="2000" b="1" dirty="0">
                <a:solidFill>
                  <a:srgbClr val="346A55"/>
                </a:solidFill>
                <a:latin typeface="Noto Sans" pitchFamily="34" charset="0"/>
                <a:ea typeface="Noto Sans" pitchFamily="34" charset="-122"/>
                <a:cs typeface="Noto Sans" pitchFamily="34" charset="-120"/>
              </a:rPr>
              <a:t>14 PERSON-DAYS</a:t>
            </a:r>
            <a:endParaRPr lang="en-US" sz="2000" dirty="0"/>
          </a:p>
        </p:txBody>
      </p:sp>
      <p:sp>
        <p:nvSpPr>
          <p:cNvPr id="41" name="Text 39"/>
          <p:cNvSpPr/>
          <p:nvPr/>
        </p:nvSpPr>
        <p:spPr>
          <a:xfrm>
            <a:off x="758952" y="5605272"/>
            <a:ext cx="5010912" cy="38404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Current labour estimate—not 14 calendar days</a:t>
            </a:r>
            <a:endParaRPr lang="en-US" sz="1600" dirty="0"/>
          </a:p>
        </p:txBody>
      </p:sp>
      <p:sp>
        <p:nvSpPr>
          <p:cNvPr id="42" name="Shape 40"/>
          <p:cNvSpPr/>
          <p:nvPr/>
        </p:nvSpPr>
        <p:spPr>
          <a:xfrm>
            <a:off x="6172200" y="5065776"/>
            <a:ext cx="5340096" cy="1005840"/>
          </a:xfrm>
          <a:prstGeom prst="rect">
            <a:avLst>
              <a:gd name="adj" fmla="val 9091"/>
            </a:avLst>
          </a:prstGeom>
          <a:solidFill>
            <a:srgbClr val="EDF1E9"/>
          </a:solidFill>
          <a:ln w="7620">
            <a:solidFill>
              <a:srgbClr val="D9DDD2"/>
            </a:solidFill>
            <a:prstDash val="solid"/>
          </a:ln>
        </p:spPr>
      </p:sp>
      <p:sp>
        <p:nvSpPr>
          <p:cNvPr id="43" name="Text 41"/>
          <p:cNvSpPr/>
          <p:nvPr/>
        </p:nvSpPr>
        <p:spPr>
          <a:xfrm>
            <a:off x="6336792" y="5184648"/>
            <a:ext cx="5010912" cy="320040"/>
          </a:xfrm>
          <a:prstGeom prst="rect">
            <a:avLst/>
          </a:prstGeom>
          <a:noFill/>
          <a:ln/>
        </p:spPr>
        <p:txBody>
          <a:bodyPr wrap="square" lIns="0" tIns="0" rIns="0" bIns="0" rtlCol="0" anchor="ctr"/>
          <a:lstStyle/>
          <a:p>
            <a:pPr indent="0" marL="0">
              <a:buNone/>
            </a:pPr>
            <a:r>
              <a:rPr lang="en-US" sz="2000" b="1" dirty="0">
                <a:solidFill>
                  <a:srgbClr val="AA7E4A"/>
                </a:solidFill>
                <a:latin typeface="Noto Sans" pitchFamily="34" charset="0"/>
                <a:ea typeface="Noto Sans" pitchFamily="34" charset="-122"/>
                <a:cs typeface="Noto Sans" pitchFamily="34" charset="-120"/>
              </a:rPr>
              <a:t>GROUTED NODES NEED CURING</a:t>
            </a:r>
            <a:endParaRPr lang="en-US" sz="2000" dirty="0"/>
          </a:p>
        </p:txBody>
      </p:sp>
      <p:sp>
        <p:nvSpPr>
          <p:cNvPr id="44" name="Text 42"/>
          <p:cNvSpPr/>
          <p:nvPr/>
        </p:nvSpPr>
        <p:spPr>
          <a:xfrm>
            <a:off x="6336792" y="5605272"/>
            <a:ext cx="5010912" cy="384048"/>
          </a:xfrm>
          <a:prstGeom prst="rect">
            <a:avLst/>
          </a:prstGeom>
          <a:noFill/>
          <a:ln/>
        </p:spPr>
        <p:txBody>
          <a:bodyPr wrap="square" lIns="0" tIns="0" rIns="0" bIns="0" rtlCol="0" anchor="ctr"/>
          <a:lstStyle/>
          <a:p>
            <a:pPr indent="0" marL="0">
              <a:buNone/>
            </a:pPr>
            <a:r>
              <a:rPr lang="en-US" sz="1600" dirty="0">
                <a:solidFill>
                  <a:srgbClr val="34434A"/>
                </a:solidFill>
                <a:latin typeface="Noto Sans" pitchFamily="34" charset="0"/>
                <a:ea typeface="Noto Sans" pitchFamily="34" charset="-122"/>
                <a:cs typeface="Noto Sans" pitchFamily="34" charset="-120"/>
              </a:rPr>
              <a:t>Full dry assembly and lossless reversal are not established.</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CONCLUSION</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Useful shade—with a clear path to validation</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VineWeave Canopy integrates form, planting and a proposed build-up.</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Project synthesis (P1–P5). Scenario evidence supports the concept, not an engineering or measured-comfort certification.</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18</a:t>
            </a:r>
            <a:endParaRPr lang="en-US" sz="1000" dirty="0"/>
          </a:p>
        </p:txBody>
      </p:sp>
      <p:sp>
        <p:nvSpPr>
          <p:cNvPr id="15" name="Text 13"/>
          <p:cNvSpPr/>
          <p:nvPr/>
        </p:nvSpPr>
        <p:spPr>
          <a:xfrm>
            <a:off x="713232" y="2240280"/>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01</a:t>
            </a:r>
            <a:endParaRPr lang="en-US" sz="1800" dirty="0"/>
          </a:p>
        </p:txBody>
      </p:sp>
      <p:sp>
        <p:nvSpPr>
          <p:cNvPr id="16" name="Text 14"/>
          <p:cNvSpPr/>
          <p:nvPr/>
        </p:nvSpPr>
        <p:spPr>
          <a:xfrm>
            <a:off x="1280160" y="2240280"/>
            <a:ext cx="583387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AN INTEGRATED SUPPORT</a:t>
            </a:r>
            <a:endParaRPr lang="en-US" sz="2100" dirty="0"/>
          </a:p>
        </p:txBody>
      </p:sp>
      <p:sp>
        <p:nvSpPr>
          <p:cNvPr id="17" name="Text 15"/>
          <p:cNvSpPr/>
          <p:nvPr/>
        </p:nvSpPr>
        <p:spPr>
          <a:xfrm>
            <a:off x="1280160" y="2715768"/>
            <a:ext cx="583387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Tree-like geometry and climbing vegetation for local shade.</a:t>
            </a:r>
            <a:endParaRPr lang="en-US" sz="1700" dirty="0"/>
          </a:p>
        </p:txBody>
      </p:sp>
      <p:sp>
        <p:nvSpPr>
          <p:cNvPr id="18" name="Text 16"/>
          <p:cNvSpPr/>
          <p:nvPr/>
        </p:nvSpPr>
        <p:spPr>
          <a:xfrm>
            <a:off x="713232" y="3602736"/>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02</a:t>
            </a:r>
            <a:endParaRPr lang="en-US" sz="1800" dirty="0"/>
          </a:p>
        </p:txBody>
      </p:sp>
      <p:sp>
        <p:nvSpPr>
          <p:cNvPr id="19" name="Text 17"/>
          <p:cNvSpPr/>
          <p:nvPr/>
        </p:nvSpPr>
        <p:spPr>
          <a:xfrm>
            <a:off x="1280160" y="3602736"/>
            <a:ext cx="583387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EXPLICIT PERFORMANCE SCENARIOS</a:t>
            </a:r>
            <a:endParaRPr lang="en-US" sz="2100" dirty="0"/>
          </a:p>
        </p:txBody>
      </p:sp>
      <p:sp>
        <p:nvSpPr>
          <p:cNvPr id="20" name="Text 18"/>
          <p:cNvSpPr/>
          <p:nvPr/>
        </p:nvSpPr>
        <p:spPr>
          <a:xfrm>
            <a:off x="1280160" y="4078224"/>
            <a:ext cx="583387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Geometry, cover and sun position jointly shape useful blockage.</a:t>
            </a:r>
            <a:endParaRPr lang="en-US" sz="1700" dirty="0"/>
          </a:p>
        </p:txBody>
      </p:sp>
      <p:sp>
        <p:nvSpPr>
          <p:cNvPr id="21" name="Text 19"/>
          <p:cNvSpPr/>
          <p:nvPr/>
        </p:nvSpPr>
        <p:spPr>
          <a:xfrm>
            <a:off x="713232" y="4965192"/>
            <a:ext cx="420624" cy="384048"/>
          </a:xfrm>
          <a:prstGeom prst="rect">
            <a:avLst/>
          </a:prstGeom>
          <a:noFill/>
          <a:ln/>
        </p:spPr>
        <p:txBody>
          <a:bodyPr wrap="square" lIns="0" tIns="0" rIns="0" bIns="0" rtlCol="0" anchor="ctr"/>
          <a:lstStyle/>
          <a:p>
            <a:pPr indent="0" marL="0">
              <a:buNone/>
            </a:pPr>
            <a:r>
              <a:rPr lang="en-US" sz="1800" b="1" dirty="0">
                <a:solidFill>
                  <a:srgbClr val="AA7E4A"/>
                </a:solidFill>
                <a:latin typeface="Noto Sans" pitchFamily="34" charset="0"/>
                <a:ea typeface="Noto Sans" pitchFamily="34" charset="-122"/>
                <a:cs typeface="Noto Sans" pitchFamily="34" charset="-120"/>
              </a:rPr>
              <a:t>03</a:t>
            </a:r>
            <a:endParaRPr lang="en-US" sz="1800" dirty="0"/>
          </a:p>
        </p:txBody>
      </p:sp>
      <p:sp>
        <p:nvSpPr>
          <p:cNvPr id="22" name="Text 20"/>
          <p:cNvSpPr/>
          <p:nvPr/>
        </p:nvSpPr>
        <p:spPr>
          <a:xfrm>
            <a:off x="1280160" y="4965192"/>
            <a:ext cx="5833872" cy="384048"/>
          </a:xfrm>
          <a:prstGeom prst="rect">
            <a:avLst/>
          </a:prstGeom>
          <a:noFill/>
          <a:ln/>
        </p:spPr>
        <p:txBody>
          <a:bodyPr wrap="square" lIns="0" tIns="0" rIns="0" bIns="0" rtlCol="0" anchor="ctr"/>
          <a:lstStyle/>
          <a:p>
            <a:pPr indent="0" marL="0">
              <a:buNone/>
            </a:pPr>
            <a:r>
              <a:rPr lang="en-US" sz="2100" b="1" dirty="0">
                <a:solidFill>
                  <a:srgbClr val="173C51"/>
                </a:solidFill>
                <a:latin typeface="Noto Sans" pitchFamily="34" charset="0"/>
                <a:ea typeface="Noto Sans" pitchFamily="34" charset="-122"/>
                <a:cs typeface="Noto Sans" pitchFamily="34" charset="-120"/>
              </a:rPr>
              <a:t>A DEFINED NEXT STEP</a:t>
            </a:r>
            <a:endParaRPr lang="en-US" sz="2100" dirty="0"/>
          </a:p>
        </p:txBody>
      </p:sp>
      <p:sp>
        <p:nvSpPr>
          <p:cNvPr id="23" name="Text 21"/>
          <p:cNvSpPr/>
          <p:nvPr/>
        </p:nvSpPr>
        <p:spPr>
          <a:xfrm>
            <a:off x="1280160" y="5440680"/>
            <a:ext cx="5833872" cy="594360"/>
          </a:xfrm>
          <a:prstGeom prst="rect">
            <a:avLst/>
          </a:prstGeom>
          <a:noFill/>
          <a:ln/>
        </p:spPr>
        <p:txBody>
          <a:bodyPr wrap="square" lIns="0" tIns="0" rIns="0" bIns="0" rtlCol="0" anchor="ctr"/>
          <a:lstStyle/>
          <a:p>
            <a:pPr indent="0" marL="0">
              <a:buNone/>
            </a:pPr>
            <a:r>
              <a:rPr lang="en-US" sz="1700" dirty="0">
                <a:solidFill>
                  <a:srgbClr val="34434A"/>
                </a:solidFill>
                <a:latin typeface="Noto Sans" pitchFamily="34" charset="0"/>
                <a:ea typeface="Noto Sans" pitchFamily="34" charset="-122"/>
                <a:cs typeface="Noto Sans" pitchFamily="34" charset="-120"/>
              </a:rPr>
              <a:t>Confirm products, joints and site conditions; then validate outcomes.</a:t>
            </a:r>
            <a:endParaRPr lang="en-US" sz="1700" dirty="0"/>
          </a:p>
        </p:txBody>
      </p:sp>
      <p:pic>
        <p:nvPicPr>
          <p:cNvPr id="24" name="Image 0" descr="/workspace/temp/presentation/v1/assets/model-axon.png">    </p:cNvPr>
          <p:cNvPicPr>
            <a:picLocks noChangeAspect="1"/>
          </p:cNvPicPr>
          <p:nvPr/>
        </p:nvPicPr>
        <p:blipFill>
          <a:blip r:embed="rId1"/>
          <a:stretch>
            <a:fillRect/>
          </a:stretch>
        </p:blipFill>
        <p:spPr>
          <a:xfrm>
            <a:off x="7315200" y="2350385"/>
            <a:ext cx="4297680" cy="310820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7F2"/>
        </a:solidFill>
      </p:bgPr>
    </p:bg>
    <p:spTree>
      <p:nvGrpSpPr>
        <p:cNvPr id="1" name=""/>
        <p:cNvGrpSpPr/>
        <p:nvPr/>
      </p:nvGrpSpPr>
      <p:grpSpPr>
        <a:xfrm>
          <a:off x="0" y="0"/>
          <a:ext cx="0" cy="0"/>
          <a:chOff x="0" y="0"/>
          <a:chExt cx="0" cy="0"/>
        </a:xfrm>
      </p:grpSpPr>
      <p:sp>
        <p:nvSpPr>
          <p:cNvPr id="2" name="Shape 0"/>
          <p:cNvSpPr/>
          <p:nvPr/>
        </p:nvSpPr>
        <p:spPr>
          <a:xfrm>
            <a:off x="11622024" y="36576"/>
            <a:ext cx="155448" cy="256032"/>
          </a:xfrm>
          <a:prstGeom prst="line">
            <a:avLst/>
          </a:prstGeom>
          <a:noFill/>
          <a:ln w="10160">
            <a:solidFill>
              <a:srgbClr val="A7B7A2"/>
            </a:solidFill>
            <a:prstDash val="solid"/>
          </a:ln>
        </p:spPr>
      </p:sp>
      <p:sp>
        <p:nvSpPr>
          <p:cNvPr id="3" name="Shape 1"/>
          <p:cNvSpPr/>
          <p:nvPr/>
        </p:nvSpPr>
        <p:spPr>
          <a:xfrm>
            <a:off x="11777472" y="292608"/>
            <a:ext cx="-73152" cy="301752"/>
          </a:xfrm>
          <a:prstGeom prst="line">
            <a:avLst/>
          </a:prstGeom>
          <a:noFill/>
          <a:ln w="10160">
            <a:solidFill>
              <a:srgbClr val="A7B7A2"/>
            </a:solidFill>
            <a:prstDash val="solid"/>
          </a:ln>
        </p:spPr>
      </p:sp>
      <p:sp>
        <p:nvSpPr>
          <p:cNvPr id="4" name="Shape 2"/>
          <p:cNvSpPr/>
          <p:nvPr/>
        </p:nvSpPr>
        <p:spPr>
          <a:xfrm rot="19500000">
            <a:off x="11576304" y="91440"/>
            <a:ext cx="87782" cy="182880"/>
          </a:xfrm>
          <a:prstGeom prst="ellipse">
            <a:avLst/>
          </a:prstGeom>
          <a:solidFill>
            <a:srgbClr val="F8F7F2">
              <a:alpha val="60000"/>
            </a:srgbClr>
          </a:solidFill>
          <a:ln w="7620">
            <a:solidFill>
              <a:srgbClr val="A7B7A2"/>
            </a:solidFill>
            <a:prstDash val="solid"/>
          </a:ln>
        </p:spPr>
      </p:sp>
      <p:sp>
        <p:nvSpPr>
          <p:cNvPr id="5" name="Shape 3"/>
          <p:cNvSpPr/>
          <p:nvPr/>
        </p:nvSpPr>
        <p:spPr>
          <a:xfrm rot="2400000">
            <a:off x="11731752" y="256032"/>
            <a:ext cx="87782" cy="182880"/>
          </a:xfrm>
          <a:prstGeom prst="ellipse">
            <a:avLst/>
          </a:prstGeom>
          <a:solidFill>
            <a:srgbClr val="F8F7F2">
              <a:alpha val="60000"/>
            </a:srgbClr>
          </a:solidFill>
          <a:ln w="7620">
            <a:solidFill>
              <a:srgbClr val="A7B7A2"/>
            </a:solidFill>
            <a:prstDash val="solid"/>
          </a:ln>
        </p:spPr>
      </p:sp>
      <p:sp>
        <p:nvSpPr>
          <p:cNvPr id="6" name="Shape 4"/>
          <p:cNvSpPr/>
          <p:nvPr/>
        </p:nvSpPr>
        <p:spPr>
          <a:xfrm rot="19500000">
            <a:off x="11612880" y="429768"/>
            <a:ext cx="82296" cy="171450"/>
          </a:xfrm>
          <a:prstGeom prst="ellipse">
            <a:avLst/>
          </a:prstGeom>
          <a:solidFill>
            <a:srgbClr val="F8F7F2">
              <a:alpha val="60000"/>
            </a:srgbClr>
          </a:solidFill>
          <a:ln w="7620">
            <a:solidFill>
              <a:srgbClr val="A7B7A2"/>
            </a:solidFill>
            <a:prstDash val="solid"/>
          </a:ln>
        </p:spPr>
      </p:sp>
      <p:sp>
        <p:nvSpPr>
          <p:cNvPr id="7" name="Text 5"/>
          <p:cNvSpPr/>
          <p:nvPr/>
        </p:nvSpPr>
        <p:spPr>
          <a:xfrm>
            <a:off x="530352" y="237744"/>
            <a:ext cx="3657600" cy="228600"/>
          </a:xfrm>
          <a:prstGeom prst="rect">
            <a:avLst/>
          </a:prstGeom>
          <a:noFill/>
          <a:ln/>
        </p:spPr>
        <p:txBody>
          <a:bodyPr wrap="square" lIns="0" tIns="0" rIns="0" bIns="0" rtlCol="0" anchor="ctr"/>
          <a:lstStyle/>
          <a:p>
            <a:pPr indent="0" marL="0">
              <a:buNone/>
            </a:pPr>
            <a:r>
              <a:rPr lang="en-US" sz="1100" b="1" spc="180" kern="0" dirty="0">
                <a:solidFill>
                  <a:srgbClr val="346A55"/>
                </a:solidFill>
                <a:latin typeface="Noto Sans" pitchFamily="34" charset="0"/>
                <a:ea typeface="Noto Sans" pitchFamily="34" charset="-122"/>
                <a:cs typeface="Noto Sans" pitchFamily="34" charset="-120"/>
              </a:rPr>
              <a:t>GREEN BUILDING</a:t>
            </a:r>
            <a:endParaRPr lang="en-US" sz="1100" dirty="0"/>
          </a:p>
        </p:txBody>
      </p:sp>
      <p:sp>
        <p:nvSpPr>
          <p:cNvPr id="8" name="Text 6"/>
          <p:cNvSpPr/>
          <p:nvPr/>
        </p:nvSpPr>
        <p:spPr>
          <a:xfrm>
            <a:off x="7315200" y="237744"/>
            <a:ext cx="3977640" cy="228600"/>
          </a:xfrm>
          <a:prstGeom prst="rect">
            <a:avLst/>
          </a:prstGeom>
          <a:noFill/>
          <a:ln/>
        </p:spPr>
        <p:txBody>
          <a:bodyPr wrap="square" lIns="0" tIns="0" rIns="0" bIns="0" rtlCol="0" anchor="ctr"/>
          <a:lstStyle/>
          <a:p>
            <a:pPr algn="r" indent="0" marL="0">
              <a:buNone/>
            </a:pPr>
            <a:r>
              <a:rPr lang="en-US" sz="1000" spc="100" kern="0" dirty="0">
                <a:solidFill>
                  <a:srgbClr val="66736D"/>
                </a:solidFill>
                <a:latin typeface="Noto Sans" pitchFamily="34" charset="0"/>
                <a:ea typeface="Noto Sans" pitchFamily="34" charset="-122"/>
                <a:cs typeface="Noto Sans" pitchFamily="34" charset="-120"/>
              </a:rPr>
              <a:t>REFERENCE / Q&amp;A</a:t>
            </a:r>
            <a:endParaRPr lang="en-US" sz="1000" dirty="0"/>
          </a:p>
        </p:txBody>
      </p:sp>
      <p:sp>
        <p:nvSpPr>
          <p:cNvPr id="9" name="Shape 7"/>
          <p:cNvSpPr/>
          <p:nvPr/>
        </p:nvSpPr>
        <p:spPr>
          <a:xfrm>
            <a:off x="530352" y="694944"/>
            <a:ext cx="11100816" cy="0"/>
          </a:xfrm>
          <a:prstGeom prst="line">
            <a:avLst/>
          </a:prstGeom>
          <a:noFill/>
          <a:ln w="8890">
            <a:solidFill>
              <a:srgbClr val="AA7E4A"/>
            </a:solidFill>
            <a:prstDash val="solid"/>
          </a:ln>
        </p:spPr>
      </p:sp>
      <p:sp>
        <p:nvSpPr>
          <p:cNvPr id="10" name="Text 8"/>
          <p:cNvSpPr/>
          <p:nvPr/>
        </p:nvSpPr>
        <p:spPr>
          <a:xfrm>
            <a:off x="530352" y="859536"/>
            <a:ext cx="10972800" cy="585216"/>
          </a:xfrm>
          <a:prstGeom prst="rect">
            <a:avLst/>
          </a:prstGeom>
          <a:noFill/>
          <a:ln/>
        </p:spPr>
        <p:txBody>
          <a:bodyPr wrap="square" lIns="0" tIns="0" rIns="0" bIns="0" rtlCol="0" anchor="ctr"/>
          <a:lstStyle/>
          <a:p>
            <a:pPr indent="0" marL="0">
              <a:buNone/>
            </a:pPr>
            <a:r>
              <a:rPr lang="en-US" sz="2900" b="1" dirty="0">
                <a:solidFill>
                  <a:srgbClr val="173C51"/>
                </a:solidFill>
                <a:latin typeface="Noto Serif" pitchFamily="34" charset="0"/>
                <a:ea typeface="Noto Serif" pitchFamily="34" charset="-122"/>
                <a:cs typeface="Noto Serif" pitchFamily="34" charset="-120"/>
              </a:rPr>
              <a:t>Sources and evidence boundaries</a:t>
            </a:r>
            <a:endParaRPr lang="en-US" sz="2900" dirty="0"/>
          </a:p>
        </p:txBody>
      </p:sp>
      <p:sp>
        <p:nvSpPr>
          <p:cNvPr id="11" name="Text 9"/>
          <p:cNvSpPr/>
          <p:nvPr/>
        </p:nvSpPr>
        <p:spPr>
          <a:xfrm>
            <a:off x="557784" y="1481328"/>
            <a:ext cx="10927080" cy="393192"/>
          </a:xfrm>
          <a:prstGeom prst="rect">
            <a:avLst/>
          </a:prstGeom>
          <a:noFill/>
          <a:ln/>
        </p:spPr>
        <p:txBody>
          <a:bodyPr wrap="square" lIns="0" tIns="0" rIns="0" bIns="0" rtlCol="0" anchor="ctr"/>
          <a:lstStyle/>
          <a:p>
            <a:pPr indent="0" marL="0">
              <a:buNone/>
            </a:pPr>
            <a:r>
              <a:rPr lang="en-US" sz="1500" dirty="0">
                <a:solidFill>
                  <a:srgbClr val="66736D"/>
                </a:solidFill>
                <a:latin typeface="Noto Sans" pitchFamily="34" charset="0"/>
                <a:ea typeface="Noto Sans" pitchFamily="34" charset="-122"/>
                <a:cs typeface="Noto Sans" pitchFamily="34" charset="-120"/>
              </a:rPr>
              <a:t>Published-source leads and supplied project records are distinguished.</a:t>
            </a:r>
            <a:endParaRPr lang="en-US" sz="1500" dirty="0"/>
          </a:p>
        </p:txBody>
      </p:sp>
      <p:sp>
        <p:nvSpPr>
          <p:cNvPr id="12" name="Shape 10"/>
          <p:cNvSpPr/>
          <p:nvPr/>
        </p:nvSpPr>
        <p:spPr>
          <a:xfrm>
            <a:off x="530352" y="6437376"/>
            <a:ext cx="11100816" cy="0"/>
          </a:xfrm>
          <a:prstGeom prst="line">
            <a:avLst/>
          </a:prstGeom>
          <a:noFill/>
          <a:ln w="7620">
            <a:solidFill>
              <a:srgbClr val="D9DDD2"/>
            </a:solidFill>
            <a:prstDash val="solid"/>
          </a:ln>
        </p:spPr>
      </p:sp>
      <p:sp>
        <p:nvSpPr>
          <p:cNvPr id="13" name="Text 11"/>
          <p:cNvSpPr/>
          <p:nvPr/>
        </p:nvSpPr>
        <p:spPr>
          <a:xfrm>
            <a:off x="548640" y="6510528"/>
            <a:ext cx="10561320" cy="192024"/>
          </a:xfrm>
          <a:prstGeom prst="rect">
            <a:avLst/>
          </a:prstGeom>
          <a:noFill/>
          <a:ln/>
        </p:spPr>
        <p:txBody>
          <a:bodyPr wrap="square" lIns="0" tIns="0" rIns="0" bIns="0" rtlCol="0" anchor="ctr"/>
          <a:lstStyle/>
          <a:p>
            <a:pPr indent="0" marL="0">
              <a:buNone/>
            </a:pPr>
            <a:r>
              <a:rPr lang="en-US" sz="1060" dirty="0">
                <a:solidFill>
                  <a:srgbClr val="66736D"/>
                </a:solidFill>
                <a:latin typeface="Noto Sans" pitchFamily="34" charset="0"/>
                <a:ea typeface="Noto Sans" pitchFamily="34" charset="-122"/>
                <a:cs typeface="Noto Sans" pitchFamily="34" charset="-120"/>
              </a:rPr>
              <a:t>Literature details were supplied with the project; original-source verification remains pending.</a:t>
            </a:r>
            <a:endParaRPr lang="en-US" sz="1060" dirty="0"/>
          </a:p>
        </p:txBody>
      </p:sp>
      <p:sp>
        <p:nvSpPr>
          <p:cNvPr id="14" name="Text 12"/>
          <p:cNvSpPr/>
          <p:nvPr/>
        </p:nvSpPr>
        <p:spPr>
          <a:xfrm>
            <a:off x="11155680" y="6501384"/>
            <a:ext cx="438912" cy="201168"/>
          </a:xfrm>
          <a:prstGeom prst="rect">
            <a:avLst/>
          </a:prstGeom>
          <a:noFill/>
          <a:ln/>
        </p:spPr>
        <p:txBody>
          <a:bodyPr wrap="square" lIns="0" tIns="0" rIns="0" bIns="0" rtlCol="0" anchor="ctr"/>
          <a:lstStyle/>
          <a:p>
            <a:pPr algn="r" indent="0" marL="0">
              <a:buNone/>
            </a:pPr>
            <a:r>
              <a:rPr lang="en-US" sz="1000" b="1" dirty="0">
                <a:solidFill>
                  <a:srgbClr val="346A55"/>
                </a:solidFill>
                <a:latin typeface="Noto Sans" pitchFamily="34" charset="0"/>
                <a:ea typeface="Noto Sans" pitchFamily="34" charset="-122"/>
                <a:cs typeface="Noto Sans" pitchFamily="34" charset="-120"/>
              </a:rPr>
              <a:t>19</a:t>
            </a:r>
            <a:endParaRPr lang="en-US" sz="1000" dirty="0"/>
          </a:p>
        </p:txBody>
      </p:sp>
      <p:sp>
        <p:nvSpPr>
          <p:cNvPr id="15" name="Text 13"/>
          <p:cNvSpPr/>
          <p:nvPr/>
        </p:nvSpPr>
        <p:spPr>
          <a:xfrm>
            <a:off x="594360" y="2084832"/>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[1] OUTDOOR SHADE &amp; COMFORT</a:t>
            </a:r>
            <a:endParaRPr lang="en-US" sz="1300" dirty="0"/>
          </a:p>
        </p:txBody>
      </p:sp>
      <p:sp>
        <p:nvSpPr>
          <p:cNvPr id="16" name="Text 14"/>
          <p:cNvSpPr/>
          <p:nvPr/>
        </p:nvSpPr>
        <p:spPr>
          <a:xfrm>
            <a:off x="594360" y="2496312"/>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Watanabe et al. (2014). Evaluation of outdoor thermal comfort in sunlight, building shade, and pergola shade during summer in a humid subtropical region. Building and Environment, 82, 556–565.</a:t>
            </a:r>
            <a:endParaRPr lang="en-US" sz="1350" dirty="0"/>
          </a:p>
        </p:txBody>
      </p:sp>
      <p:sp>
        <p:nvSpPr>
          <p:cNvPr id="17" name="Text 15"/>
          <p:cNvSpPr/>
          <p:nvPr/>
        </p:nvSpPr>
        <p:spPr>
          <a:xfrm>
            <a:off x="6217920" y="2084832"/>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[2] GREENING MECHANISMS</a:t>
            </a:r>
            <a:endParaRPr lang="en-US" sz="1300" dirty="0"/>
          </a:p>
        </p:txBody>
      </p:sp>
      <p:sp>
        <p:nvSpPr>
          <p:cNvPr id="18" name="Text 16"/>
          <p:cNvSpPr/>
          <p:nvPr/>
        </p:nvSpPr>
        <p:spPr>
          <a:xfrm>
            <a:off x="6217920" y="2496312"/>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Hoelscher et al. (2016). Quantifying cooling effects of facade greening: Shading, transpiration and insulation. Energy and Buildings, 114, 283–290.</a:t>
            </a:r>
            <a:endParaRPr lang="en-US" sz="1350" dirty="0"/>
          </a:p>
        </p:txBody>
      </p:sp>
      <p:sp>
        <p:nvSpPr>
          <p:cNvPr id="19" name="Text 17"/>
          <p:cNvSpPr/>
          <p:nvPr/>
        </p:nvSpPr>
        <p:spPr>
          <a:xfrm>
            <a:off x="594360" y="3566160"/>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[3] SOLAR GEOMETRY</a:t>
            </a:r>
            <a:endParaRPr lang="en-US" sz="1300" dirty="0"/>
          </a:p>
        </p:txBody>
      </p:sp>
      <p:sp>
        <p:nvSpPr>
          <p:cNvPr id="20" name="Text 18"/>
          <p:cNvSpPr/>
          <p:nvPr/>
        </p:nvSpPr>
        <p:spPr>
          <a:xfrm>
            <a:off x="594360" y="3977640"/>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NOAA Global Monitoring Division. General Solar Position Calculations.</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gml.noaa.gov/grad/solcalc/solareqns.PDF</a:t>
            </a:r>
            <a:endParaRPr lang="en-US" sz="1350" dirty="0"/>
          </a:p>
        </p:txBody>
      </p:sp>
      <p:sp>
        <p:nvSpPr>
          <p:cNvPr id="21" name="Text 19"/>
          <p:cNvSpPr/>
          <p:nvPr/>
        </p:nvSpPr>
        <p:spPr>
          <a:xfrm>
            <a:off x="6217920" y="3566160"/>
            <a:ext cx="534924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[4] COMFORT METHOD</a:t>
            </a:r>
            <a:endParaRPr lang="en-US" sz="1300" dirty="0"/>
          </a:p>
        </p:txBody>
      </p:sp>
      <p:sp>
        <p:nvSpPr>
          <p:cNvPr id="22" name="Text 20"/>
          <p:cNvSpPr/>
          <p:nvPr/>
        </p:nvSpPr>
        <p:spPr>
          <a:xfrm>
            <a:off x="6217920" y="3977640"/>
            <a:ext cx="5349240" cy="960120"/>
          </a:xfrm>
          <a:prstGeom prst="rect">
            <a:avLst/>
          </a:prstGeom>
          <a:noFill/>
          <a:ln/>
        </p:spPr>
        <p:txBody>
          <a:bodyPr wrap="square" lIns="0" tIns="0" rIns="0" bIns="0" rtlCol="0" anchor="ctr"/>
          <a:lstStyle/>
          <a:p>
            <a:pPr indent="0" marL="0">
              <a:buNone/>
            </a:pPr>
            <a:r>
              <a:rPr lang="en-US" sz="1350" dirty="0">
                <a:solidFill>
                  <a:srgbClr val="34434A"/>
                </a:solidFill>
                <a:latin typeface="Noto Sans" pitchFamily="34" charset="0"/>
                <a:ea typeface="Noto Sans" pitchFamily="34" charset="-122"/>
                <a:cs typeface="Noto Sans" pitchFamily="34" charset="-120"/>
              </a:rPr>
              <a:t>UTCI Calculator / COST Action 730.</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www.utci.org/utci_calc.php</a:t>
            </a:r>
            <a:endParaRPr lang="en-US" sz="1350" dirty="0"/>
          </a:p>
          <a:p>
            <a:pPr indent="0" marL="0">
              <a:buNone/>
            </a:pPr>
            <a:r>
              <a:rPr lang="en-US" sz="1350" dirty="0">
                <a:solidFill>
                  <a:srgbClr val="34434A"/>
                </a:solidFill>
                <a:latin typeface="Noto Sans" pitchFamily="34" charset="0"/>
                <a:ea typeface="Noto Sans" pitchFamily="34" charset="-122"/>
                <a:cs typeface="Noto Sans" pitchFamily="34" charset="-120"/>
              </a:rPr>
              <a:t>Method reference only; no project UTCI result is claimed.</a:t>
            </a:r>
            <a:endParaRPr lang="en-US" sz="1350" dirty="0"/>
          </a:p>
        </p:txBody>
      </p:sp>
      <p:sp>
        <p:nvSpPr>
          <p:cNvPr id="23" name="Shape 21"/>
          <p:cNvSpPr/>
          <p:nvPr/>
        </p:nvSpPr>
        <p:spPr>
          <a:xfrm>
            <a:off x="594360" y="5120640"/>
            <a:ext cx="10927080" cy="0"/>
          </a:xfrm>
          <a:prstGeom prst="line">
            <a:avLst/>
          </a:prstGeom>
          <a:noFill/>
          <a:ln w="8890">
            <a:solidFill>
              <a:srgbClr val="D9DDD2"/>
            </a:solidFill>
            <a:prstDash val="solid"/>
          </a:ln>
        </p:spPr>
      </p:sp>
      <p:sp>
        <p:nvSpPr>
          <p:cNvPr id="24" name="Text 22"/>
          <p:cNvSpPr/>
          <p:nvPr/>
        </p:nvSpPr>
        <p:spPr>
          <a:xfrm>
            <a:off x="594360" y="5285232"/>
            <a:ext cx="2103120" cy="274320"/>
          </a:xfrm>
          <a:prstGeom prst="rect">
            <a:avLst/>
          </a:prstGeom>
          <a:noFill/>
          <a:ln/>
        </p:spPr>
        <p:txBody>
          <a:bodyPr wrap="square" lIns="0" tIns="0" rIns="0" bIns="0" rtlCol="0" anchor="ctr"/>
          <a:lstStyle/>
          <a:p>
            <a:pPr indent="0" marL="0">
              <a:buNone/>
            </a:pPr>
            <a:r>
              <a:rPr lang="en-US" sz="1300" b="1" dirty="0">
                <a:solidFill>
                  <a:srgbClr val="346A55"/>
                </a:solidFill>
                <a:latin typeface="Noto Sans" pitchFamily="34" charset="0"/>
                <a:ea typeface="Noto Sans" pitchFamily="34" charset="-122"/>
                <a:cs typeface="Noto Sans" pitchFamily="34" charset="-120"/>
              </a:rPr>
              <a:t>PROJECT RECORDS</a:t>
            </a:r>
            <a:endParaRPr lang="en-US" sz="1300" dirty="0"/>
          </a:p>
        </p:txBody>
      </p:sp>
      <p:sp>
        <p:nvSpPr>
          <p:cNvPr id="25" name="Text 23"/>
          <p:cNvSpPr/>
          <p:nvPr/>
        </p:nvSpPr>
        <p:spPr>
          <a:xfrm>
            <a:off x="2743200" y="5257800"/>
            <a:ext cx="8686800" cy="640080"/>
          </a:xfrm>
          <a:prstGeom prst="rect">
            <a:avLst/>
          </a:prstGeom>
          <a:noFill/>
          <a:ln/>
        </p:spPr>
        <p:txBody>
          <a:bodyPr wrap="square" lIns="0" tIns="0" rIns="0" bIns="0" rtlCol="0" anchor="ctr"/>
          <a:lstStyle/>
          <a:p>
            <a:pPr indent="0" marL="0">
              <a:buNone/>
            </a:pPr>
            <a:r>
              <a:rPr lang="en-US" sz="1400" dirty="0">
                <a:solidFill>
                  <a:srgbClr val="34434A"/>
                </a:solidFill>
                <a:latin typeface="Noto Sans" pitchFamily="34" charset="0"/>
                <a:ea typeface="Noto Sans" pitchFamily="34" charset="-122"/>
                <a:cs typeface="Noto Sans" pitchFamily="34" charset="-120"/>
              </a:rPr>
              <a:t>P1 Model &amp; take-off  •  P2 Ideal shade analysis  •  P3 Cost-Analysis.xlsx</a:t>
            </a:r>
            <a:endParaRPr lang="en-US" sz="1400" dirty="0"/>
          </a:p>
          <a:p>
            <a:pPr indent="0" marL="0">
              <a:buNone/>
            </a:pPr>
            <a:r>
              <a:rPr lang="en-US" sz="1400" dirty="0">
                <a:solidFill>
                  <a:srgbClr val="34434A"/>
                </a:solidFill>
                <a:latin typeface="Noto Sans" pitchFamily="34" charset="0"/>
                <a:ea typeface="Noto Sans" pitchFamily="34" charset="-122"/>
                <a:cs typeface="Noto Sans" pitchFamily="34" charset="-120"/>
              </a:rPr>
              <a:t>P4 Proposed design &amp; build-up  •  P5 Parameter and spatial-cover simulation</a:t>
            </a:r>
            <a:endParaRPr lang="en-US" sz="1400" dirty="0"/>
          </a:p>
        </p:txBody>
      </p:sp>
      <p:sp>
        <p:nvSpPr>
          <p:cNvPr id="26" name="Text 24"/>
          <p:cNvSpPr/>
          <p:nvPr/>
        </p:nvSpPr>
        <p:spPr>
          <a:xfrm>
            <a:off x="594360" y="6035040"/>
            <a:ext cx="10972800" cy="256032"/>
          </a:xfrm>
          <a:prstGeom prst="rect">
            <a:avLst/>
          </a:prstGeom>
          <a:noFill/>
          <a:ln/>
        </p:spPr>
        <p:txBody>
          <a:bodyPr wrap="square" lIns="0" tIns="0" rIns="0" bIns="0" rtlCol="0" anchor="ctr"/>
          <a:lstStyle/>
          <a:p>
            <a:pPr indent="0" marL="0">
              <a:buNone/>
            </a:pPr>
            <a:r>
              <a:rPr lang="en-US" sz="1250" dirty="0">
                <a:solidFill>
                  <a:srgbClr val="66736D"/>
                </a:solidFill>
                <a:latin typeface="Noto Sans" pitchFamily="34" charset="0"/>
                <a:ea typeface="Noto Sans" pitchFamily="34" charset="-122"/>
                <a:cs typeface="Noto Sans" pitchFamily="34" charset="-120"/>
              </a:rPr>
              <a:t>Unverified product factors, growth duration, actual joint restraint and field thermal response remain open.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erif"/>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VineWeave Canopy</dc:title>
  <dc:subject>green building — VineWeave Canopy</dc:subject>
  <dc:creator>Group 12</dc:creator>
  <cp:lastModifiedBy>Group 12</cp:lastModifiedBy>
  <cp:revision>1</cp:revision>
  <dcterms:created xsi:type="dcterms:W3CDTF">2026-10-25T08:08:25Z</dcterms:created>
  <dcterms:modified xsi:type="dcterms:W3CDTF">2026-10-25T08:08:25Z</dcterms:modified>
</cp:coreProperties>
</file>
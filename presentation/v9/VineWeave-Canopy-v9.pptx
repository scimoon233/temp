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Deflection / mm</c:v>
                </c:pt>
              </c:strCache>
            </c:strRef>
          </c:tx>
          <c:spPr>
            <a:solidFill>
              <a:srgbClr val="B57042"/>
            </a:solidFill>
            <a:effectLst/>
          </c:spPr>
          <c:invertIfNegative val="0"/>
          <c:dLbls>
            <c:numFmt formatCode="0.00&quot; mm&quot;"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B57042"/>
              </a:solidFill>
              <a:effectLst/>
            </c:spPr>
          </c:dPt>
          <c:dPt>
            <c:idx val="1"/>
            <c:invertIfNegative val="0"/>
            <c:bubble3D val="0"/>
            <c:spPr>
              <a:solidFill>
                <a:srgbClr val="A7B7A2"/>
              </a:solidFill>
              <a:effectLst/>
            </c:spPr>
          </c:dPt>
          <c:dPt>
            <c:idx val="2"/>
            <c:invertIfNegative val="0"/>
            <c:bubble3D val="0"/>
            <c:spPr>
              <a:solidFill>
                <a:srgbClr val="346A55"/>
              </a:solidFill>
              <a:effectLst/>
            </c:spPr>
          </c:dPt>
          <c:cat>
            <c:multiLvlStrRef>
              <c:f>Sheet1!$A$2:$A$4</c:f>
              <c:multiLvlStrCache>
                <c:ptCount val="3"/>
                <c:lvl>
                  <c:pt idx="0">
                    <c:v>Simply supported</c:v>
                  </c:pt>
                  <c:pt idx="1">
                    <c:v>Adopted L/200 target</c:v>
                  </c:pt>
                  <c:pt idx="2">
                    <c:v>Ideal fixed ends</c:v>
                  </c:pt>
                </c:lvl>
              </c:multiLvlStrCache>
            </c:multiLvlStrRef>
          </c:cat>
          <c:val>
            <c:numRef>
              <c:f>Sheet1!$B$2:$B$4</c:f>
              <c:numCache>
                <c:formatCode>General</c:formatCode>
                <c:ptCount val="3"/>
                <c:pt idx="0">
                  <c:v>100.533387276407</c:v>
                </c:pt>
                <c:pt idx="1">
                  <c:v>33.25</c:v>
                </c:pt>
                <c:pt idx="2">
                  <c:v>20.1066774552815</c:v>
                </c:pt>
              </c:numCache>
            </c:numRef>
          </c:val>
        </c:ser>
        <c:dLbls>
          <c:numFmt formatCode="0.00&quot; mm&quot;"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35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CNY</c:v>
                </c:pt>
              </c:strCache>
            </c:strRef>
          </c:tx>
          <c:spPr>
            <a:solidFill>
              <a:srgbClr val="346A55"/>
            </a:solidFill>
            <a:effectLst/>
          </c:spPr>
          <c:invertIfNegative val="0"/>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dPt>
            <c:idx val="3"/>
            <c:invertIfNegative val="0"/>
            <c:bubble3D val="0"/>
            <c:spPr>
              <a:solidFill>
                <a:srgbClr val="346A55"/>
              </a:solidFill>
              <a:effectLst/>
            </c:spPr>
          </c:dPt>
          <c:dPt>
            <c:idx val="4"/>
            <c:invertIfNegative val="0"/>
            <c:bubble3D val="0"/>
            <c:spPr>
              <a:solidFill>
                <a:srgbClr val="A7B7A2"/>
              </a:solidFill>
              <a:effectLst/>
            </c:spPr>
          </c:dPt>
          <c:dPt>
            <c:idx val="5"/>
            <c:invertIfNegative val="0"/>
            <c:bubble3D val="0"/>
            <c:spPr>
              <a:solidFill>
                <a:srgbClr val="AA7E4A"/>
              </a:solidFill>
              <a:effectLst/>
            </c:spPr>
          </c:dPt>
          <c:dPt>
            <c:idx val="6"/>
            <c:invertIfNegative val="0"/>
            <c:bubble3D val="0"/>
            <c:spPr>
              <a:solidFill>
                <a:srgbClr val="346A55"/>
              </a:solidFill>
              <a:effectLst/>
            </c:spPr>
          </c:dPt>
          <c:cat>
            <c:multiLvlStrRef>
              <c:f>Sheet1!$A$2:$A$8</c:f>
              <c:multiLvlStrCache>
                <c:ptCount val="7"/>
                <c:lvl>
                  <c:pt idx="0">
                    <c:v>Materials</c:v>
                  </c:pt>
                  <c:pt idx="1">
                    <c:v>Installation</c:v>
                  </c:pt>
                  <c:pt idx="2">
                    <c:v>Other</c:v>
                  </c:pt>
                  <c:pt idx="3">
                    <c:v>Fabrication</c:v>
                  </c:pt>
                  <c:pt idx="4">
                    <c:v>Maintenance</c:v>
                  </c:pt>
                  <c:pt idx="5">
                    <c:v>Planting</c:v>
                  </c:pt>
                  <c:pt idx="6">
                    <c:v>Transport</c:v>
                  </c:pt>
                </c:lvl>
              </c:multiLvlStrCache>
            </c:multiLvlStrRef>
          </c:cat>
          <c:val>
            <c:numRef>
              <c:f>Sheet1!$B$2:$B$8</c:f>
              <c:numCache>
                <c:formatCode>General</c:formatCode>
                <c:ptCount val="7"/>
                <c:pt idx="0">
                  <c:v>30549.3022975</c:v>
                </c:pt>
                <c:pt idx="1">
                  <c:v>6050</c:v>
                </c:pt>
                <c:pt idx="2">
                  <c:v>5679.6828674</c:v>
                </c:pt>
                <c:pt idx="3">
                  <c:v>5241.733545</c:v>
                </c:pt>
                <c:pt idx="4">
                  <c:v>2300</c:v>
                </c:pt>
                <c:pt idx="5">
                  <c:v>1165</c:v>
                </c:pt>
                <c:pt idx="6">
                  <c:v>690</c:v>
                </c:pt>
              </c:numCache>
            </c:numRef>
          </c:val>
        </c:ser>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12700" cap="flat">
              <a:solidFill>
                <a:srgbClr val="D9DDD2"/>
              </a:solidFill>
              <a:prstDash val="solid"/>
              <a:round/>
            </a:ln>
          </c:spPr>
        </c:majorGridlines>
        <c:numFmt formatCode="0,&quot;k&quot;"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kgCO₂e</c:v>
                </c:pt>
              </c:strCache>
            </c:strRef>
          </c:tx>
          <c:spPr>
            <a:solidFill>
              <a:schemeClr val="accent1"/>
            </a:solidFill>
            <a:ln w="9525" cap="flat">
              <a:solidFill>
                <a:srgbClr val="F9F9F9"/>
              </a:solidFill>
              <a:prstDash val="solid"/>
              <a:round/>
            </a:ln>
            <a:effectLst/>
          </c:spPr>
          <c:dPt>
            <c:idx val="0"/>
            <c:bubble3D val="0"/>
            <c:spPr>
              <a:solidFill>
                <a:srgbClr val="346A55"/>
              </a:solidFill>
              <a:effectLst/>
            </c:spPr>
          </c:dPt>
          <c:dPt>
            <c:idx val="1"/>
            <c:bubble3D val="0"/>
            <c:spPr>
              <a:solidFill>
                <a:srgbClr val="A7B7A2"/>
              </a:solidFill>
              <a:effectLst/>
            </c:spPr>
          </c:dPt>
          <c:dPt>
            <c:idx val="2"/>
            <c:bubble3D val="0"/>
            <c:spPr>
              <a:solidFill>
                <a:srgbClr val="AA7E4A"/>
              </a:solidFill>
              <a:effectLst/>
            </c:spPr>
          </c:dPt>
          <c:dLbls>
            <c:dLbl>
              <c:idx val="0"/>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1"/>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2"/>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Primary members</c:v>
                </c:pt>
                <c:pt idx="1">
                  <c:v>Counterweight</c:v>
                </c:pt>
                <c:pt idx="2">
                  <c:v>Other components</c:v>
                </c:pt>
              </c:strCache>
            </c:strRef>
          </c:cat>
          <c:val>
            <c:numRef>
              <c:f>Sheet1!$B$2:$B$4</c:f>
              <c:numCache>
                <c:ptCount val="3"/>
                <c:pt idx="0">
                  <c:v>1581.19629365</c:v>
                </c:pt>
                <c:pt idx="1">
                  <c:v>1088.64</c:v>
                </c:pt>
                <c:pt idx="2">
                  <c:v>150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Solstice</c:v>
                </c:pt>
              </c:strCache>
            </c:strRef>
          </c:tx>
          <c:spPr>
            <a:solidFill>
              <a:srgbClr val="346A55"/>
            </a:solidFill>
            <a:ln w="22860" cap="flat">
              <a:solidFill>
                <a:srgbClr val="346A55"/>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Sheet1!$B$2:$B$26</c:f>
              <c:numCache>
                <c:formatCode>General</c:formatCode>
                <c:ptCount val="25"/>
                <c:pt idx="0">
                  <c:v>47.155661526250725</c:v>
                </c:pt>
                <c:pt idx="1">
                  <c:v>50.95515412268991</c:v>
                </c:pt>
                <c:pt idx="2">
                  <c:v>55.07011631579294</c:v>
                </c:pt>
                <c:pt idx="3">
                  <c:v>60.039564767330674</c:v>
                </c:pt>
                <c:pt idx="4">
                  <c:v>65.50654278454971</c:v>
                </c:pt>
                <c:pt idx="5">
                  <c:v>70.7723802048107</c:v>
                </c:pt>
                <c:pt idx="6">
                  <c:v>75.79576381742402</c:v>
                </c:pt>
                <c:pt idx="7">
                  <c:v>81.01882159676518</c:v>
                </c:pt>
                <c:pt idx="8">
                  <c:v>86.38341216660314</c:v>
                </c:pt>
                <c:pt idx="9">
                  <c:v>91.72295924019801</c:v>
                </c:pt>
                <c:pt idx="10">
                  <c:v>95.76669431441525</c:v>
                </c:pt>
                <c:pt idx="11">
                  <c:v>97.95178473599358</c:v>
                </c:pt>
                <c:pt idx="12">
                  <c:v>98.72481459764712</c:v>
                </c:pt>
                <c:pt idx="13">
                  <c:v>97.95178473599354</c:v>
                </c:pt>
                <c:pt idx="14">
                  <c:v>95.76669431441523</c:v>
                </c:pt>
                <c:pt idx="15">
                  <c:v>91.72295924019798</c:v>
                </c:pt>
                <c:pt idx="16">
                  <c:v>86.38341216660315</c:v>
                </c:pt>
                <c:pt idx="17">
                  <c:v>81.01882159676518</c:v>
                </c:pt>
                <c:pt idx="18">
                  <c:v>75.79576381742399</c:v>
                </c:pt>
                <c:pt idx="19">
                  <c:v>70.7723802048107</c:v>
                </c:pt>
                <c:pt idx="20">
                  <c:v>65.50654278454974</c:v>
                </c:pt>
                <c:pt idx="21">
                  <c:v>60.039564767330546</c:v>
                </c:pt>
                <c:pt idx="22">
                  <c:v>55.07011631579296</c:v>
                </c:pt>
                <c:pt idx="23">
                  <c:v>50.95515412269004</c:v>
                </c:pt>
                <c:pt idx="24">
                  <c:v>47.155661526250775</c:v>
                </c:pt>
              </c:numCache>
            </c:numRef>
          </c:val>
          <c:smooth val="0"/>
        </c:ser>
        <c:ser>
          <c:idx val="1"/>
          <c:order val="1"/>
          <c:tx>
            <c:strRef>
              <c:f>Sheet1!$C$1</c:f>
              <c:strCache>
                <c:ptCount val="1"/>
                <c:pt idx="0">
                  <c:v>Equinox</c:v>
                </c:pt>
              </c:strCache>
            </c:strRef>
          </c:tx>
          <c:spPr>
            <a:solidFill>
              <a:srgbClr val="3E6E9E"/>
            </a:solidFill>
            <a:ln w="22860" cap="flat">
              <a:solidFill>
                <a:srgbClr val="3E6E9E"/>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E6E9E"/>
              </a:solidFill>
              <a:ln w="9525" cap="flat">
                <a:solidFill>
                  <a:srgbClr val="3E6E9E"/>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Sheet1!$C$2:$C$26</c:f>
              <c:numCache>
                <c:formatCode>General</c:formatCode>
                <c:ptCount val="25"/>
                <c:pt idx="0">
                  <c:v>21.806368574443294</c:v>
                </c:pt>
                <c:pt idx="1">
                  <c:v>29.687120625398375</c:v>
                </c:pt>
                <c:pt idx="2">
                  <c:v>35.13483151321812</c:v>
                </c:pt>
                <c:pt idx="3">
                  <c:v>38.232603296876206</c:v>
                </c:pt>
                <c:pt idx="4">
                  <c:v>40.84379456356151</c:v>
                </c:pt>
                <c:pt idx="5">
                  <c:v>44.42122578139083</c:v>
                </c:pt>
                <c:pt idx="6">
                  <c:v>49.75245498148766</c:v>
                </c:pt>
                <c:pt idx="7">
                  <c:v>54.723445258224686</c:v>
                </c:pt>
                <c:pt idx="8">
                  <c:v>59.36744916873808</c:v>
                </c:pt>
                <c:pt idx="9">
                  <c:v>63.71937827724124</c:v>
                </c:pt>
                <c:pt idx="10">
                  <c:v>67.5361638686349</c:v>
                </c:pt>
                <c:pt idx="11">
                  <c:v>69.0650903902777</c:v>
                </c:pt>
                <c:pt idx="12">
                  <c:v>69.55856994686033</c:v>
                </c:pt>
                <c:pt idx="13">
                  <c:v>69.06509039027779</c:v>
                </c:pt>
                <c:pt idx="14">
                  <c:v>67.53616386863492</c:v>
                </c:pt>
                <c:pt idx="15">
                  <c:v>63.71937827724119</c:v>
                </c:pt>
                <c:pt idx="16">
                  <c:v>59.367449168738254</c:v>
                </c:pt>
                <c:pt idx="17">
                  <c:v>54.72344525822474</c:v>
                </c:pt>
                <c:pt idx="18">
                  <c:v>49.75245498148764</c:v>
                </c:pt>
                <c:pt idx="19">
                  <c:v>44.421225781390774</c:v>
                </c:pt>
                <c:pt idx="20">
                  <c:v>40.84379456356133</c:v>
                </c:pt>
                <c:pt idx="21">
                  <c:v>38.23260329687617</c:v>
                </c:pt>
                <c:pt idx="22">
                  <c:v>35.13483151321814</c:v>
                </c:pt>
                <c:pt idx="23">
                  <c:v>29.68712062539837</c:v>
                </c:pt>
                <c:pt idx="24">
                  <c:v>21.806368574443294</c:v>
                </c:pt>
              </c:numCache>
            </c:numRef>
          </c:val>
          <c:smooth val="0"/>
        </c:ser>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950" b="0" i="0" u="none" strike="noStrike">
                <a:solidFill>
                  <a:srgbClr val="000000"/>
                </a:solidFill>
                <a:latin typeface="Noto Sans"/>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950" b="0" i="0" u="none" strike="noStrike">
                <a:solidFill>
                  <a:srgbClr val="000000"/>
                </a:solidFill>
                <a:latin typeface="Noto Sans"/>
              </a:defRPr>
            </a:pPr>
            <a:endParaRPr lang="en-US"/>
          </a:p>
        </c:txPr>
        <c:crossAx val="2094734554"/>
        <c:crosses val="autoZero"/>
        <c:crossBetween val="between"/>
        <c:majorUnit val="50"/>
      </c:valAx>
      <c:spPr>
        <a:no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09–15 mean blockage (%)</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Sheet1!$A$2:$A$6</c:f>
              <c:multiLvlStrCache>
                <c:ptCount val="5"/>
                <c:lvl>
                  <c:pt idx="0">
                    <c:v>0%</c:v>
                  </c:pt>
                  <c:pt idx="1">
                    <c:v>20%</c:v>
                  </c:pt>
                  <c:pt idx="2">
                    <c:v>50%</c:v>
                  </c:pt>
                  <c:pt idx="3">
                    <c:v>80%</c:v>
                  </c:pt>
                  <c:pt idx="4">
                    <c:v>95%</c:v>
                  </c:pt>
                </c:lvl>
              </c:multiLvlStrCache>
            </c:multiLvlStrRef>
          </c:cat>
          <c:val>
            <c:numRef>
              <c:f>Sheet1!$B$2:$B$6</c:f>
              <c:numCache>
                <c:formatCode>General</c:formatCode>
                <c:ptCount val="5"/>
                <c:pt idx="0">
                  <c:v>40.21868884193895</c:v>
                </c:pt>
                <c:pt idx="1">
                  <c:v>48.63711463942608</c:v>
                </c:pt>
                <c:pt idx="2">
                  <c:v>60.19719328472306</c:v>
                </c:pt>
                <c:pt idx="3">
                  <c:v>67.91126834429677</c:v>
                </c:pt>
                <c:pt idx="4">
                  <c:v>70.6954503684305</c:v>
                </c:pt>
              </c:numCache>
            </c:numRef>
          </c:val>
          <c:smooth val="0"/>
        </c:ser>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200" b="0" i="0" u="none" strike="noStrike">
                <a:solidFill>
                  <a:srgbClr val="000000"/>
                </a:solidFill>
                <a:latin typeface="Noto Sa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Introduce the project before the team credits.
SPOKEN SCRIPT
VineWeave Canopy combines climbing plants with a tree-like support to provide pedestrian shade. Our group connects parametric geometry, material and construction choices, and shading analysis. The names below identify our responsibilities. We will explain both the design decisions and the evidence supporting them.
TRANSITION
First, the final geometry and its drawing definitions.
Q&amp;A
Where are the full roles? The cover retains the core allocation; the planning document records the complete supplied descriptions.
SOURCE BASIS (not spoken)
User-supplied team-allocation screenshot; project title approved in conversation.
P1: final Rhino model and project modelling reports.
Cover roles follow the supplied five-person allocation; no dates or school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Final dimensions need explicit definitions and readable technical views.
SPOKEN SCRIPT
The final geometry has an overall height of about three point four eight metres and a plan extent of six point two two by six point six six metres. Its approximate maximum horizontal exterior span is six point nine one metres. For these curved supports, inclination is defined by the endpoint chord above horizontal. The accompanying drawing sheets explain that definition and the measured range.
TRANSITION
Next, link those features to environmental potential.
Q&amp;A
Is 6.91 metres a circular diameter? No. It is the maximum pair distance in the projected exterior mesh, not a foliage diameter or net usable width.
SOURCE BASIS (not spoken)
P1: original project report §03 actual canopy geometry.
Supplement 数据/00_结构参数与Rhino检查.json; original final-model mesh/centre-lines.
research/supplemental-geometric-check.json: geometry derived from the supplied baseline mesh and support curves.
Dimensions ≈6.22×6.66×3.48m; maximum projected span ≈6.91m; support endpoint-chord angles ≈45.9–50.7°. Model-derived descriptors, not measured site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Follow the sunlight, air and plant-water arrows; only shade is quantified here.
SPOKEN SCRIPT
The crown and foliage intercept direct sun before it reaches people and the ground. The solar arrows identify the pathway quantified in our optical scenarios. Blue arrows show potential air paths through open sides, not a simulated wind improvement. The dashed plant-water arrows indicate possible evapotranspiration, which depends on healthy plants and water. Denser foliage can also resist airflow.
TRANSITION
Material assignment follows the structural roles.
Q&amp;A
Do these arrows show simulated temperature or wind? No. They explain physical mechanisms; the project quantifies shade, not cooling degrees or wind speed.
SOURCE BASIS (not spoken)
Original analysis report §02 支架—植物—降温作用逻辑, table 遮阴/辐射/蒸腾/空气流动.
Original report: 没有把遮阴率换算为确定温降; no measured temperature/wind/Tmrt/UTCI results.
Source: 植物遮阴减少人体和地面直接太阳暴露; 叶片水分蒸发涉及潜热交换，收益受供水、气孔和天气影响; 开敞侧界保留侧向通道. Arrows explain reported mechanisms, not simulated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quantity schedule links a clear material role to a specific part of the model.
SPOKEN SCRIPT
The take-off gives twelve ground-reaching supports and forty-seven crown members, with a total centre-line length of two hundred and eighty-eight point six six metres. We propose an eighty-by-four millimetre steel tube for supports and solid engineered bamboo for the crown. This is a material strategy, not proof that either zone is safe.
TRANSITION
The screening table shows the inputs; the next decision is how to use them.
Q&amp;A
Does the exterior model contain the final wall thickness? No. The pipe exterior and proposed material section must be distinguished.
SOURCE BASIS (not spoken)
Cost-Analysis.xlsx / 材料比选!A17:G18; 几何与用量 section B.
Cost-Analysis.xlsx / 规格与连接!A4:E5; 模块化建造分析!A3.
Source split: 47 crown members, 219.28m, solid Ø80 bamboo; 12 ground-reaching steel Ø80×4 supports, 69.38m. Support text: 受压为主兼受风弯; crown text: 挠度在铰接下不满足L/200.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Material screening includes mechanical and practical conditions, not only carbon.
SPOKEN SCRIPT
These are preliminary screening inputs. Each cost column assumes the same full member length; it is not the adopted unit budget. Steel offers much greater nominal bending capacity. Engineered bamboo is proposed for the crown, but stiffness, treatment and product-specific evidence are essential. Raw bamboo’s low reference cost does not remove its variability and maintenance issues.
TRANSITION
These inputs motivate a hybrid strategy, with conditions attached.
Q&amp;A
Are these all verified design values? No. They are workbook screening inputs, and the bamboo identity and properties must be confirmed consistently.
SOURCE BASIS (not spoken)
Cost-Analysis.xlsx / 材料比选!A6:O13, selected rows 6,7,11,12,13.
Cost-Analysis.xlsx / 选型决策矩阵!A32:B34.
Five displayed rows retain workbook inputs. Cost assumes all 288.66m use that row’s material; it is not the final hybrid unit cost. Durability and environmental scoring are workbook judgements, not verified product lifetimes.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material strategy follows structural roles and keeps feasibility conditions explicit.
SPOKEN SCRIPT
The workbook combines screening with a structural feasibility gate. Steel is assigned to supports under compression and wind bending. Bamboo is adopted for the crown using cost and carbon inputs, but the deflection sheet requires node rotational-stiffness verification. The lower cards summarise the five material criteria. Member-input savings do not establish a lower total unit cost.
TRANSITION
The next check shows why crown stiffness makes the joints important.
Q&amp;A
Does the material screen establish a lower total unit cost? No. It compares equal-length member inputs. The separate unit budget includes nodes, installation and care. Low conductivity also does not establish a measured temperature benefit.
SOURCE BASIS (not spoken)
Cost-Analysis.xlsx / 材料比选!A17:G18, A23:H24.
Cost-Analysis.xlsx / 挠度校核!A21:G23 and A46:B46.
Cost-Analysis.xlsx / 选型决策矩阵!A2:B2 and A28:B34; 规格与连接!A4:E5; 模块化建造分析!A3.
Workbook assigns steel to compression/wind-bending support role; tabulated EI steel145.2049 vs bamboo20.1062kN·m². Decision matrix requires feasibility gates in addition to scores. Row46 explicitly says 必须由结构同学出刚接节点详图并验算转动刚度 and the ≥3×simple-support assumption must hold. Five criteria follow the supplied rubric/workbook; no new performance result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adopted target is numerically between two ideal beam results; node verification is explicitly required by the workbook.
SPOKEN SCRIPT
The same six point six five metre bamboo-member calculation gives one hundred point five millimetres with simple supports and twenty point one with ideal fixed ends. The adopted target is thirty-three point two five millimetres, shown between them. This makes rotational restraint a design requirement to investigate. The proposed node does not prove that restraint, and the member check does not verify the whole frame.
TRANSITION
The proposed node also has a significant budget allowance.
Q&amp;A
What must be verified next? Product stiffness, node moment–rotation behaviour, load transfer and the whole frame under relevant loads. The supplied workbook explicitly requires a node detail and rotational-stiffness verification.
SOURCE BASIS (not spoken)
Cost-Analysis.xlsx / 挠度校核!B6:B16, A21:G23, A31:J32, A46:B46.
Cost-Analysis.xlsx / 模块化建造分析!A3.
Cost-Analysis.xlsx / 挠度校核!B6:D6 and 爬藤植物选择!F5; presentation p10 now links this load input.
Same simplified 6.65m solidØ80 bamboo member; E10GPa, wet foliage18kg/m² inputs; deflections100.5333873/20.1066775mm. Adopted6650/200=33.25mm; ratios3.02356 and0.60471. Node plate/sleeve/grout/adhesive/bolts are proposed in source, not verified restraint.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budget makes the node trade-off visible.
SPOKEN SCRIPT
The preliminary total is approximately fifty-one thousand six hundred and seventy-six yuan. Materials are fifty-nine percent of this total; the other categories include fabrication, installation and care. Within materials, twelve proposed nodes account for twelve thousand yuan, more than the primary steel members. The component table is only part of the overall cost, not an additional total.
TRANSITION
Next, the carbon and maintenance picture.
Q&amp;A
Are the node prices confirmed? No. They are the most uncertain allowance and need a defined detail and supplier quotation.
SOURCE BASIS (not spoken)
Cost-Analysis.xlsx / 造价明细, seven category totals and materials detail.
Seven-category sum 51,675.7187099CNY; materials30,549.3022975CNY; 12 nodes×1,000CNY=12,000CNY. All displayed prices remain estimates; component rows are included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estimate helps identify contributors and care responsibilities.
SPOKEN SCRIPT
The primary members and counterweight dominate the current carbon estimate. The counterweight contributes about thirty-nine percent, so foundation decisions also matter. We show the adopted estimate rather than claiming a verified life-cycle result. Outdoor performance also needs coating care, bamboo treatment and connection inspection. Product factors and the allowance for actual node materials still require checking.
TRANSITION
Plant choice adds another set of requirements.
Q&amp;A
Is stored biological carbon deducted? No. It is not credited in this estimate, and factor boundaries are not yet fully aligned.
SOURCE BASIS (not spoken)
Cost-Analysis.xlsx / 材料比选 carbon summary, adopted hybrid row.
Cost-Analysis.xlsx / 模块化建造分析 and original report maintenance/interface proposals.
Adopted estimate: members1581.19629365 + base1088.64 + other150 =2819.83629365kgCO₂e; base38.61%. Factor boundaries not verified; no biogenic credit. Maintenance text follows protection/inspection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Trace the adopted 18 kg/m² to the workbook, while keeping the range provisional.
SPOKEN SCRIPT
The workbook selects two Boston ivy plants and one Rangoon creeper. Its screening considers seasonal leaf loss and attachment to the rods. Boston ivy uses tendrils with adhesive pads; Rangoon creeper twines; trumpet creeper has aerial roots. The first two have workbook wet-mass ranges of ten to eighteen kilograms per square metre. The beam calculation adopts eighteen, explicitly taking the upper end of the Boston ivy range. These are unverified reference inputs, not measured loads. The alternative range reaches twenty-five, so substitution requires a load review.
TRANSITION
Next, the optical method used to evaluate shade.
Q&amp;A
Where does 18 kg/m² come from? Cost-Analysis.xlsx, 挠度校核 B6/D6, cites the upper end of the Boston ivy 10–18 range in 爬藤植物选择 F5. The source publication and area basis still need checking. No LAI/leaf-thickness calculation is supplied. Local climate, attachment, roots and care also require confirmation.
SOURCE BASIS (not spoken)
Cost-Analysis.xlsx / 爬藤植物选择!B5:F7; A2:B2; A14:B15.
Cost-Analysis.xlsx / 挠度校核!B6:D6.
Original analysis report §07: check local climate, climbing method, root space, leaf mass, wind and maintenance.
The workbook assigns Parthenocissus tricuspidata 10–18kg/m² and adhesive tendrils, Combretum indicum 10–18kg/m² and twining, Campsis grandiflora 15–25kg/m² and aerial roots. Its plant-screen row2 labels wet mass a reference order requiring source checking. Deflection B6=18 and D6 explicitly cite the Boston ivy upper bound, not a measured mixed canopy. The seasonal-leaf-loss line is screening intent, not a verified claim about local Rangoon creeper winter behaviour. Alternative substitution requires reviewing the changed upper range. Source mix2+1, substrate1.2m³ and drip/care remain. No growth-time estimate, LAI-based mass derivation or cold-tolerance threshold is introduced.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Identify the metric and time window before interpreting any percentage.
SPOKEN SCRIPT
The first metric measures ideal leaf-envelope shadow on the target. The second includes frame shadows, assumed leaf patches, their overlap and transmittance. We use the first for the daily and solar-season result, and the second for parameter and coverage comparisons. The target is shared, but the percentages are not interchangeable. Neither is a temperature reduction.
TRANSITION
First, read the ideal daily result across the full time window.
Q&amp;A
What is the second formula? Aeq = Abare + (1 − τ)(Aleaf − Aoverlap), then divide by the target area. It is equivalent direct-beam blockage under the stated optical assumptions, not total solar-energy attenuation.
SOURCE BASIS (not spoken)
Original project report and 分析参数与汇总.json: ideal continuous-leaf projection.
Supplement D_Structure_and_Plant_Cover_Simulation.docx, §01–02; 数据/模拟参数与汇总.json.
Supplement formula Aeq=Abare+(1−tau)(Aleaf−Aoverlap), tau=.15 assumed; same5×5m target excludingr.75m. Ideal leaf-envelope overlap and equivalent direct-beam blockage have different definitions; neither is temperature or total solar attenuation.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Read the animated footprint and the whole time window, not only the noon peak.
SPOKEN SCRIPT
The animation follows the existing solstice samples from nine to fifteen solar time. Overlap is about forty-seven percent at nine and fifteen, and almost ninety-nine percent at noon. The curve retains the full sequence and the equinox solar case, with time means of about seventy-five and fifty percent. The noon peak cannot stand for the whole use period: morning and afternoon exposure must be checked when placing seating. The equinox comparison changes solar conditions, not plant leaf cover.
TRANSITION
We then change one geometric control at a time.
Q&amp;A
Does the GIF add a new simulation? No. It animates the same ideal leaf-envelope projection at the existing 25 solar times. Its overlap values were checked against the unchanged solstice curve.
SOURCE BASIS (not spoken)
Original 04_图表与计算数据/01_原参数_C_D_典型时刻遮阴.csv and 02_原参数_C_D_15分钟遮阴曲线.csv, final-model rows.
Original report §结论与依据; §07 application and §08 evaluation.
Same supplied projection functions and baseline envelope; Ideal-Animation-Check.json cross-checks all 25 frames against the unchanged source curve.
09/12/15 solstice overlap47.2/98.7/47.2%; 09–15 means75.3% solstice and49.8% equinox. Source advises seating by use time and reporting weakest periods; noon peak cannot describe the whole window. Animation varies solar time only in 15-minute steps. Pale green shows projected leaf envelope; dark green is its intersection with the same target. The moving time dot is illustrative playback, not observed footage.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crown-width result is part of a broader seven-model parameter study.
SPOKEN SCRIPT
Seven cases change expansion, upper-height control or corner factor one at a time. At fifty percent cover, expansion changes mean blockage from fifty-two point three to sixty-six point one percent. The table retains the other results. The source report cautions that a larger crown at equal cover needs more planted area. These shade comparisons do not hold inputs equal or establish an optimum.
TRANSITION
Next, keep the structure fixed and change foliage.
Q&amp;A
Does the height control shift the whole model by 0.4 metres? No. It is smoothly weighted; actual maximum heights must be read from the geometry records.
SOURCE BASIS (not spoken)
Supplement 数据/02_参数与生长覆盖_汇总.csv: Solstice, cover=.5, seven cases.
Supplement 数据/00_结构参数与Rhino检查.json and report §01–02.
Expansion52.2795–66.1435%; height57.7692–62.6491%; corner59.0899–61.7752% (rounded). Largest tested max–min spread is expansion; this does not compare sensitivities per unit change. Source: a larger crown at equal cover percentage also requires more planted area; equal percentage does not imply equal material or plant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package tests both cover quantity and where that cover is placed.
SPOKEN SCRIPT
The curve separates plan cover from mean direct-beam blockage. Bare members already provide shade at zero leaf cover. From eighty to ninety-five percent cover, mean blockage increases by only two point eight percentage points in these scenarios. Separately, at the same fifty percent cover, the three layouts give noon blockage from sixty-two point six to seventy-seven point five percent. The supplied report therefore asks us to consider leaf location and occupied-hour seating, not coverage alone.
TRANSITION
We connect that moving footprint to public use.
Q&amp;A
Why is 95% cover not 95% blockage? Target intersection, frame overlap, leaf placement and transmittance all affect the metric.
SOURCE BASIS (not spoken)
Supplement 数据/02_参数与生长覆盖_汇总.csv: baseline Solstice cover0/.2/.5/.8/.95.
Supplement 数据/05_相同50覆盖_分布敏感性.csv: cover=.5, solar time12.
Supplement report §02: compare seat locations during occupied hours; same-cover spatial placement matters.
Mean blockage40.2187/48.6371/60.1972/67.9113/70.6955%;80→95 cover gives70.69545−67.91127=2.78418percentage points≈2.8pp. Noon patterns inner_spreading/dispersed/outer_first give77.4671/71.3662/62.6164%. These are distinct comparisons, not growth-time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practical layout must use the real occupied area, not only a reference square.
SPOKEN SCRIPT
The animation holds cover fixed while the sun moves. Seating should be checked during occupied hours, with room for circulation, the counterweight, roots and maintenance. The next verification step is a real-site assessment with simultaneous shaded and unshaded environmental observations. The current analysis does not establish net usable shaded floor area or a measured comfort improvement.
TRANSITION
The last design link is construction organisation.
Q&amp;A
Are sensors a new project module here? No. This is the existing validation proposal, not a new monitoring-system design.
SOURCE BASIS (not spoken)
Original report §07 application scenarios and §08 evaluation/validation.
Supplement report §02; fixed-cover daytime-shadow GIF and related CSV.
Source: compare seating during occupied hours; allow root/water/maintenance/circulation; measure shaded/unshaded environmental variables. No actual-street or measured-comfort result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assembly work is more specific than a generic prefabrication claim.
SPOKEN SCRIPT
The proposal divides the system into crown members, supports, connections, base and planting. Numbering and preassembly help site organisation. However, the heavy counterweight governs lifting, and the sleeve-and-grout node requires curing and checks. The fourteen-person-day allowance is labour, not a calendar programme. A fully dry, losslessly reversible system should not be claimed.
TRANSITION
Finally, our delivered work and its next checks.
Q&amp;A
Is the node a finished construction detail? No. Its geometry, stiffness, fabrication and quality controls need to be resolved together.
SOURCE BASIS (not spoken)
Cost-Analysis.xlsx / 模块化建造分析!A3:H10 and labour/assembly sections.
Cost-Analysis.xlsx / 造价明细 labour and counterweight entries.
Source modules: crown/supports/nodes/base/planting; grouting requires curing and changes reversibility. Base9072kg and labour14person-days are source estimates, not certified foundation or calendar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contribution is a connected body of design work with a clear evidence boundary.
SPOKEN SCRIPT
The group delivers a parametric form and take-off, a proposed material and build-up strategy, and reproducible shade scenarios. The supplement adds seven parameter models, five cover states and seventeen hundred and fifty time-step results. These outputs make the design decisions traceable. Product data, joint behaviour, plant suitability and real-site performance are the next checks. Thank you.
TRANSITION
We welcome your questions.
Q&amp;A
What can be stated most confidently? The defined project geometry and the calculated shade scenarios under their explicit assumptions.
SOURCE BASIS (not spoken)
P1 supplied Rhino/GH model; P3 workbook; P2/P5 analysis reports and datasets.
Supplement 数据/01_参数与生长覆盖_时段结果.csv and native-model checks.
Work summary traces three supplied streams; seven parameter cases, five cover states and1750main result rows. Remaining checks reflect explicitly assumed inputs and unverified nodes/site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Source labels let the audience distinguish literature, project calculations and proposals.
SPOKEN SCRIPT
This is a reference and question page, not part of the planned spoken sequence. It identifies the literature leads and project evidence. Specific product parameters and standards still require original-source checks.
TRANSITION
Return to the relevant result slide during questions.
Q&amp;A
Why are some data preliminary? The supplied package contains assumptions and estimates that have not all been traced to product-specific or primary evidence.
SOURCE BASIS (not spoken)
Original analysis report bibliography entries for Watanabe etal2014, Hoelscher etal2016, NOAA and UTCI.
User-provided project files P1–P5.
Bibliographic leads were supplied by the project; original-source checks remain pending. No DOI or new literature conclusion is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2-1.gif"/><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4-1.gif"/><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603504" y="283464"/>
            <a:ext cx="3657600" cy="246888"/>
          </a:xfrm>
          <a:prstGeom prst="rect">
            <a:avLst/>
          </a:prstGeom>
          <a:noFill/>
          <a:ln/>
        </p:spPr>
        <p:txBody>
          <a:bodyPr wrap="square" lIns="0" tIns="0" rIns="0" bIns="0" rtlCol="0" anchor="ctr"/>
          <a:lstStyle/>
          <a:p>
            <a:pPr indent="0" marL="0">
              <a:buNone/>
            </a:pPr>
            <a:r>
              <a:rPr lang="en-US" sz="1200" b="1" spc="170" kern="0" dirty="0">
                <a:solidFill>
                  <a:srgbClr val="346A55"/>
                </a:solidFill>
                <a:latin typeface="Noto Sans" pitchFamily="34" charset="0"/>
                <a:ea typeface="Noto Sans" pitchFamily="34" charset="-122"/>
                <a:cs typeface="Noto Sans" pitchFamily="34" charset="-120"/>
              </a:rPr>
              <a:t>GREEN BUILDING</a:t>
            </a:r>
            <a:endParaRPr lang="en-US" sz="1200" dirty="0"/>
          </a:p>
        </p:txBody>
      </p:sp>
      <p:sp>
        <p:nvSpPr>
          <p:cNvPr id="8" name="Text 6"/>
          <p:cNvSpPr/>
          <p:nvPr/>
        </p:nvSpPr>
        <p:spPr>
          <a:xfrm>
            <a:off x="9372600" y="283464"/>
            <a:ext cx="1920240" cy="228600"/>
          </a:xfrm>
          <a:prstGeom prst="rect">
            <a:avLst/>
          </a:prstGeom>
          <a:noFill/>
          <a:ln/>
        </p:spPr>
        <p:txBody>
          <a:bodyPr wrap="square" lIns="0" tIns="0" rIns="0" bIns="0" rtlCol="0" anchor="ctr"/>
          <a:lstStyle/>
          <a:p>
            <a:pPr algn="r" indent="0" marL="0">
              <a:buNone/>
            </a:pPr>
            <a:r>
              <a:rPr lang="en-US" sz="1100" spc="100" kern="0" dirty="0">
                <a:solidFill>
                  <a:srgbClr val="66736D"/>
                </a:solidFill>
                <a:latin typeface="Noto Sans" pitchFamily="34" charset="0"/>
                <a:ea typeface="Noto Sans" pitchFamily="34" charset="-122"/>
                <a:cs typeface="Noto Sans" pitchFamily="34" charset="-120"/>
              </a:rPr>
              <a:t>GROUP 12</a:t>
            </a:r>
            <a:endParaRPr lang="en-US" sz="1100" dirty="0"/>
          </a:p>
        </p:txBody>
      </p:sp>
      <p:sp>
        <p:nvSpPr>
          <p:cNvPr id="9" name="Shape 7"/>
          <p:cNvSpPr/>
          <p:nvPr/>
        </p:nvSpPr>
        <p:spPr>
          <a:xfrm>
            <a:off x="603504" y="758952"/>
            <a:ext cx="10972800" cy="0"/>
          </a:xfrm>
          <a:prstGeom prst="line">
            <a:avLst/>
          </a:prstGeom>
          <a:noFill/>
          <a:ln w="10160">
            <a:solidFill>
              <a:srgbClr val="AA7E4A"/>
            </a:solidFill>
            <a:prstDash val="solid"/>
          </a:ln>
        </p:spPr>
      </p:sp>
      <p:sp>
        <p:nvSpPr>
          <p:cNvPr id="10" name="Text 8"/>
          <p:cNvSpPr/>
          <p:nvPr/>
        </p:nvSpPr>
        <p:spPr>
          <a:xfrm>
            <a:off x="621792" y="1417320"/>
            <a:ext cx="6583680" cy="1691640"/>
          </a:xfrm>
          <a:prstGeom prst="rect">
            <a:avLst/>
          </a:prstGeom>
          <a:noFill/>
          <a:ln/>
        </p:spPr>
        <p:txBody>
          <a:bodyPr wrap="square" lIns="0" tIns="0" rIns="0" bIns="0" rtlCol="0" anchor="ctr"/>
          <a:lstStyle/>
          <a:p>
            <a:pPr indent="0" marL="0">
              <a:buNone/>
            </a:pPr>
            <a:r>
              <a:rPr lang="en-US" sz="4900" b="1" dirty="0">
                <a:solidFill>
                  <a:srgbClr val="173C51"/>
                </a:solidFill>
                <a:latin typeface="Noto Serif" pitchFamily="34" charset="0"/>
                <a:ea typeface="Noto Serif" pitchFamily="34" charset="-122"/>
                <a:cs typeface="Noto Serif" pitchFamily="34" charset="-120"/>
              </a:rPr>
              <a:t>VineWeave</a:t>
            </a:r>
            <a:endParaRPr lang="en-US" sz="4900" dirty="0"/>
          </a:p>
          <a:p>
            <a:pPr indent="0" marL="0">
              <a:buNone/>
            </a:pPr>
            <a:r>
              <a:rPr lang="en-US" sz="4900" b="1" dirty="0">
                <a:solidFill>
                  <a:srgbClr val="173C51"/>
                </a:solidFill>
                <a:latin typeface="Noto Serif" pitchFamily="34" charset="0"/>
                <a:ea typeface="Noto Serif" pitchFamily="34" charset="-122"/>
                <a:cs typeface="Noto Serif" pitchFamily="34" charset="-120"/>
              </a:rPr>
              <a:t>Canopy</a:t>
            </a:r>
            <a:endParaRPr lang="en-US" sz="4900" dirty="0"/>
          </a:p>
        </p:txBody>
      </p:sp>
      <p:sp>
        <p:nvSpPr>
          <p:cNvPr id="11" name="Text 9"/>
          <p:cNvSpPr/>
          <p:nvPr/>
        </p:nvSpPr>
        <p:spPr>
          <a:xfrm>
            <a:off x="667512" y="3337560"/>
            <a:ext cx="6080760" cy="822960"/>
          </a:xfrm>
          <a:prstGeom prst="rect">
            <a:avLst/>
          </a:prstGeom>
          <a:noFill/>
          <a:ln/>
        </p:spPr>
        <p:txBody>
          <a:bodyPr wrap="square" lIns="0" tIns="0" rIns="0" bIns="0" rtlCol="0" anchor="ctr"/>
          <a:lstStyle/>
          <a:p>
            <a:pPr indent="0" marL="0">
              <a:buNone/>
            </a:pPr>
            <a:r>
              <a:rPr lang="en-US" sz="2300" dirty="0">
                <a:solidFill>
                  <a:srgbClr val="34434A"/>
                </a:solidFill>
                <a:latin typeface="Noto Sans" pitchFamily="34" charset="0"/>
                <a:ea typeface="Noto Sans" pitchFamily="34" charset="-122"/>
                <a:cs typeface="Noto Sans" pitchFamily="34" charset="-120"/>
              </a:rPr>
              <a:t>A tree-like climbing-plant support</a:t>
            </a:r>
            <a:endParaRPr lang="en-US" sz="2300" dirty="0"/>
          </a:p>
          <a:p>
            <a:pPr indent="0" marL="0">
              <a:buNone/>
            </a:pPr>
            <a:r>
              <a:rPr lang="en-US" sz="2300" dirty="0">
                <a:solidFill>
                  <a:srgbClr val="34434A"/>
                </a:solidFill>
                <a:latin typeface="Noto Sans" pitchFamily="34" charset="0"/>
                <a:ea typeface="Noto Sans" pitchFamily="34" charset="-122"/>
                <a:cs typeface="Noto Sans" pitchFamily="34" charset="-120"/>
              </a:rPr>
              <a:t>for pedestrian shade</a:t>
            </a:r>
            <a:endParaRPr lang="en-US" sz="2300" dirty="0"/>
          </a:p>
        </p:txBody>
      </p:sp>
      <p:sp>
        <p:nvSpPr>
          <p:cNvPr id="12" name="Text 10"/>
          <p:cNvSpPr/>
          <p:nvPr/>
        </p:nvSpPr>
        <p:spPr>
          <a:xfrm>
            <a:off x="685800" y="4489704"/>
            <a:ext cx="5760720" cy="320040"/>
          </a:xfrm>
          <a:prstGeom prst="rect">
            <a:avLst/>
          </a:prstGeom>
          <a:noFill/>
          <a:ln/>
        </p:spPr>
        <p:txBody>
          <a:bodyPr wrap="square" lIns="0" tIns="0" rIns="0" bIns="0" rtlCol="0" anchor="ctr"/>
          <a:lstStyle/>
          <a:p>
            <a:pPr indent="0" marL="0">
              <a:buNone/>
            </a:pPr>
            <a:r>
              <a:rPr lang="en-US" sz="1400" dirty="0">
                <a:solidFill>
                  <a:srgbClr val="346A55"/>
                </a:solidFill>
                <a:latin typeface="Noto Sans" pitchFamily="34" charset="0"/>
                <a:ea typeface="Noto Sans" pitchFamily="34" charset="-122"/>
                <a:cs typeface="Noto Sans" pitchFamily="34" charset="-120"/>
              </a:rPr>
              <a:t>Parametric design  ·  Planting  ·  Shade performance</a:t>
            </a:r>
            <a:endParaRPr lang="en-US" sz="1400" dirty="0"/>
          </a:p>
        </p:txBody>
      </p:sp>
      <p:pic>
        <p:nvPicPr>
          <p:cNvPr id="13" name="Image 0" descr="/workspace/temp/presentation/v9/assets/model-axon.png">    </p:cNvPr>
          <p:cNvPicPr>
            <a:picLocks noChangeAspect="1"/>
          </p:cNvPicPr>
          <p:nvPr/>
        </p:nvPicPr>
        <p:blipFill>
          <a:blip r:embed="rId1"/>
          <a:stretch>
            <a:fillRect/>
          </a:stretch>
        </p:blipFill>
        <p:spPr>
          <a:xfrm>
            <a:off x="6784848" y="1495172"/>
            <a:ext cx="4791456" cy="3465320"/>
          </a:xfrm>
          <a:prstGeom prst="rect">
            <a:avLst/>
          </a:prstGeom>
        </p:spPr>
      </p:pic>
      <p:sp>
        <p:nvSpPr>
          <p:cNvPr id="14" name="Shape 11"/>
          <p:cNvSpPr/>
          <p:nvPr/>
        </p:nvSpPr>
        <p:spPr>
          <a:xfrm>
            <a:off x="612648" y="5239512"/>
            <a:ext cx="10963656" cy="0"/>
          </a:xfrm>
          <a:prstGeom prst="line">
            <a:avLst/>
          </a:prstGeom>
          <a:noFill/>
          <a:ln w="10160">
            <a:solidFill>
              <a:srgbClr val="D9DDD2"/>
            </a:solidFill>
            <a:prstDash val="solid"/>
          </a:ln>
        </p:spPr>
      </p:sp>
      <p:sp>
        <p:nvSpPr>
          <p:cNvPr id="15" name="Text 12"/>
          <p:cNvSpPr/>
          <p:nvPr/>
        </p:nvSpPr>
        <p:spPr>
          <a:xfrm>
            <a:off x="667512" y="5385816"/>
            <a:ext cx="4572000" cy="201168"/>
          </a:xfrm>
          <a:prstGeom prst="rect">
            <a:avLst/>
          </a:prstGeom>
          <a:noFill/>
          <a:ln/>
        </p:spPr>
        <p:txBody>
          <a:bodyPr wrap="square" lIns="0" tIns="0" rIns="0" bIns="0" rtlCol="0" anchor="ctr"/>
          <a:lstStyle/>
          <a:p>
            <a:pPr indent="0" marL="0">
              <a:buNone/>
            </a:pPr>
            <a:r>
              <a:rPr lang="en-US" sz="1050" b="1" spc="100" kern="0" dirty="0">
                <a:solidFill>
                  <a:srgbClr val="66736D"/>
                </a:solidFill>
                <a:latin typeface="Noto Sans" pitchFamily="34" charset="0"/>
                <a:ea typeface="Noto Sans" pitchFamily="34" charset="-122"/>
                <a:cs typeface="Noto Sans" pitchFamily="34" charset="-120"/>
              </a:rPr>
              <a:t>TEAM &amp; RESPONSIBILITIES</a:t>
            </a:r>
            <a:endParaRPr lang="en-US" sz="1050" dirty="0"/>
          </a:p>
        </p:txBody>
      </p:sp>
      <p:sp>
        <p:nvSpPr>
          <p:cNvPr id="16" name="Text 13"/>
          <p:cNvSpPr/>
          <p:nvPr/>
        </p:nvSpPr>
        <p:spPr>
          <a:xfrm>
            <a:off x="685800"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臧唯羽</a:t>
            </a:r>
            <a:endParaRPr lang="en-US" sz="1700" dirty="0"/>
          </a:p>
        </p:txBody>
      </p:sp>
      <p:sp>
        <p:nvSpPr>
          <p:cNvPr id="17" name="Text 14"/>
          <p:cNvSpPr/>
          <p:nvPr/>
        </p:nvSpPr>
        <p:spPr>
          <a:xfrm>
            <a:off x="685800"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Form &amp; parametric</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modelling</a:t>
            </a:r>
            <a:endParaRPr lang="en-US" sz="1250" dirty="0"/>
          </a:p>
        </p:txBody>
      </p:sp>
      <p:sp>
        <p:nvSpPr>
          <p:cNvPr id="18" name="Text 15"/>
          <p:cNvSpPr/>
          <p:nvPr/>
        </p:nvSpPr>
        <p:spPr>
          <a:xfrm>
            <a:off x="2953512"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林新淇</a:t>
            </a:r>
            <a:endParaRPr lang="en-US" sz="1700" dirty="0"/>
          </a:p>
        </p:txBody>
      </p:sp>
      <p:sp>
        <p:nvSpPr>
          <p:cNvPr id="19" name="Text 16"/>
          <p:cNvSpPr/>
          <p:nvPr/>
        </p:nvSpPr>
        <p:spPr>
          <a:xfrm>
            <a:off x="2953512"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Materials &amp;</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construction</a:t>
            </a:r>
            <a:endParaRPr lang="en-US" sz="1250" dirty="0"/>
          </a:p>
        </p:txBody>
      </p:sp>
      <p:sp>
        <p:nvSpPr>
          <p:cNvPr id="20" name="Text 17"/>
          <p:cNvSpPr/>
          <p:nvPr/>
        </p:nvSpPr>
        <p:spPr>
          <a:xfrm>
            <a:off x="5221224"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虞寒哲</a:t>
            </a:r>
            <a:endParaRPr lang="en-US" sz="1700" dirty="0"/>
          </a:p>
        </p:txBody>
      </p:sp>
      <p:sp>
        <p:nvSpPr>
          <p:cNvPr id="21" name="Text 18"/>
          <p:cNvSpPr/>
          <p:nvPr/>
        </p:nvSpPr>
        <p:spPr>
          <a:xfrm>
            <a:off x="5221224"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Shade performance</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application</a:t>
            </a:r>
            <a:endParaRPr lang="en-US" sz="1250" dirty="0"/>
          </a:p>
        </p:txBody>
      </p:sp>
      <p:sp>
        <p:nvSpPr>
          <p:cNvPr id="22" name="Text 19"/>
          <p:cNvSpPr/>
          <p:nvPr/>
        </p:nvSpPr>
        <p:spPr>
          <a:xfrm>
            <a:off x="7488936"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徐世程</a:t>
            </a:r>
            <a:endParaRPr lang="en-US" sz="1700" dirty="0"/>
          </a:p>
        </p:txBody>
      </p:sp>
      <p:sp>
        <p:nvSpPr>
          <p:cNvPr id="23" name="Text 20"/>
          <p:cNvSpPr/>
          <p:nvPr/>
        </p:nvSpPr>
        <p:spPr>
          <a:xfrm>
            <a:off x="7488936"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PPT production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integration</a:t>
            </a:r>
            <a:endParaRPr lang="en-US" sz="1250" dirty="0"/>
          </a:p>
        </p:txBody>
      </p:sp>
      <p:sp>
        <p:nvSpPr>
          <p:cNvPr id="24" name="Text 21"/>
          <p:cNvSpPr/>
          <p:nvPr/>
        </p:nvSpPr>
        <p:spPr>
          <a:xfrm>
            <a:off x="9756648"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陈淼</a:t>
            </a:r>
            <a:endParaRPr lang="en-US" sz="1700" dirty="0"/>
          </a:p>
        </p:txBody>
      </p:sp>
      <p:sp>
        <p:nvSpPr>
          <p:cNvPr id="25" name="Text 22"/>
          <p:cNvSpPr/>
          <p:nvPr/>
        </p:nvSpPr>
        <p:spPr>
          <a:xfrm>
            <a:off x="9756648"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English presentation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Q&amp;A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&amp; DRAWINGS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Define the final geometry—and how it is measured</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Dimensioned plan/elevation views; a final parameter schedule, separate from sensitivity settings.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Model records P1 and supplemental geometric check. Centre-line views; exterior dimensions rounded. Drawing sheets accompany the PPT.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02</a:t>
            </a:r>
            <a:endParaRPr lang="en-US" sz="1000" dirty="0"/>
          </a:p>
        </p:txBody>
      </p:sp>
      <p:pic>
        <p:nvPicPr>
          <p:cNvPr id="15" name="Image 0" descr="/workspace/temp/presentation/v9/assets/technical-plan.png">    </p:cNvPr>
          <p:cNvPicPr>
            <a:picLocks noChangeAspect="1"/>
          </p:cNvPicPr>
          <p:nvPr/>
        </p:nvPicPr>
        <p:blipFill>
          <a:blip r:embed="rId1"/>
          <a:stretch>
            <a:fillRect/>
          </a:stretch>
        </p:blipFill>
        <p:spPr>
          <a:xfrm>
            <a:off x="667512" y="2240280"/>
            <a:ext cx="2962656" cy="2962656"/>
          </a:xfrm>
          <a:prstGeom prst="rect">
            <a:avLst/>
          </a:prstGeom>
        </p:spPr>
      </p:pic>
      <p:sp>
        <p:nvSpPr>
          <p:cNvPr id="16" name="Shape 13"/>
          <p:cNvSpPr/>
          <p:nvPr/>
        </p:nvSpPr>
        <p:spPr>
          <a:xfrm>
            <a:off x="1078331" y="4933780"/>
            <a:ext cx="2141017" cy="0"/>
          </a:xfrm>
          <a:prstGeom prst="line">
            <a:avLst/>
          </a:prstGeom>
          <a:noFill/>
          <a:ln w="11430">
            <a:solidFill>
              <a:srgbClr val="AA7E4A"/>
            </a:solidFill>
            <a:prstDash val="solid"/>
          </a:ln>
        </p:spPr>
      </p:sp>
      <p:sp>
        <p:nvSpPr>
          <p:cNvPr id="17" name="Shape 14"/>
          <p:cNvSpPr/>
          <p:nvPr/>
        </p:nvSpPr>
        <p:spPr>
          <a:xfrm>
            <a:off x="1078331" y="4888060"/>
            <a:ext cx="0" cy="91440"/>
          </a:xfrm>
          <a:prstGeom prst="line">
            <a:avLst/>
          </a:prstGeom>
          <a:noFill/>
          <a:ln w="10160">
            <a:solidFill>
              <a:srgbClr val="AA7E4A"/>
            </a:solidFill>
            <a:prstDash val="solid"/>
          </a:ln>
        </p:spPr>
      </p:sp>
      <p:sp>
        <p:nvSpPr>
          <p:cNvPr id="18" name="Shape 15"/>
          <p:cNvSpPr/>
          <p:nvPr/>
        </p:nvSpPr>
        <p:spPr>
          <a:xfrm>
            <a:off x="3219349" y="4888060"/>
            <a:ext cx="0" cy="91440"/>
          </a:xfrm>
          <a:prstGeom prst="line">
            <a:avLst/>
          </a:prstGeom>
          <a:noFill/>
          <a:ln w="10160">
            <a:solidFill>
              <a:srgbClr val="AA7E4A"/>
            </a:solidFill>
            <a:prstDash val="solid"/>
          </a:ln>
        </p:spPr>
      </p:sp>
      <p:sp>
        <p:nvSpPr>
          <p:cNvPr id="19" name="Text 16"/>
          <p:cNvSpPr/>
          <p:nvPr/>
        </p:nvSpPr>
        <p:spPr>
          <a:xfrm>
            <a:off x="1508760" y="4988644"/>
            <a:ext cx="1280160" cy="210312"/>
          </a:xfrm>
          <a:prstGeom prst="rect">
            <a:avLst/>
          </a:prstGeom>
          <a:noFill/>
          <a:ln/>
        </p:spPr>
        <p:txBody>
          <a:bodyPr wrap="square" lIns="0" tIns="0" rIns="0" bIns="0" rtlCol="0" anchor="ctr"/>
          <a:lstStyle/>
          <a:p>
            <a:pPr algn="ctr" indent="0" marL="0">
              <a:buNone/>
            </a:pPr>
            <a:r>
              <a:rPr lang="en-US" sz="1200" dirty="0">
                <a:solidFill>
                  <a:srgbClr val="173C51"/>
                </a:solidFill>
                <a:latin typeface="Noto Sans" pitchFamily="34" charset="0"/>
                <a:ea typeface="Noto Sans" pitchFamily="34" charset="-122"/>
                <a:cs typeface="Noto Sans" pitchFamily="34" charset="-120"/>
              </a:rPr>
              <a:t>6.22 m</a:t>
            </a:r>
            <a:endParaRPr lang="en-US" sz="1200" dirty="0"/>
          </a:p>
        </p:txBody>
      </p:sp>
      <p:sp>
        <p:nvSpPr>
          <p:cNvPr id="20" name="Shape 17"/>
          <p:cNvSpPr/>
          <p:nvPr/>
        </p:nvSpPr>
        <p:spPr>
          <a:xfrm>
            <a:off x="950868" y="4806317"/>
            <a:ext cx="0" cy="-2294481"/>
          </a:xfrm>
          <a:prstGeom prst="line">
            <a:avLst/>
          </a:prstGeom>
          <a:noFill/>
          <a:ln w="11430">
            <a:solidFill>
              <a:srgbClr val="AA7E4A"/>
            </a:solidFill>
            <a:prstDash val="solid"/>
          </a:ln>
        </p:spPr>
      </p:sp>
      <p:sp>
        <p:nvSpPr>
          <p:cNvPr id="21" name="Shape 18"/>
          <p:cNvSpPr/>
          <p:nvPr/>
        </p:nvSpPr>
        <p:spPr>
          <a:xfrm>
            <a:off x="905148" y="4806317"/>
            <a:ext cx="91440" cy="0"/>
          </a:xfrm>
          <a:prstGeom prst="line">
            <a:avLst/>
          </a:prstGeom>
          <a:noFill/>
          <a:ln w="10160">
            <a:solidFill>
              <a:srgbClr val="AA7E4A"/>
            </a:solidFill>
            <a:prstDash val="solid"/>
          </a:ln>
        </p:spPr>
      </p:sp>
      <p:sp>
        <p:nvSpPr>
          <p:cNvPr id="22" name="Shape 19"/>
          <p:cNvSpPr/>
          <p:nvPr/>
        </p:nvSpPr>
        <p:spPr>
          <a:xfrm>
            <a:off x="905148" y="2511835"/>
            <a:ext cx="91440" cy="0"/>
          </a:xfrm>
          <a:prstGeom prst="line">
            <a:avLst/>
          </a:prstGeom>
          <a:noFill/>
          <a:ln w="10160">
            <a:solidFill>
              <a:srgbClr val="AA7E4A"/>
            </a:solidFill>
            <a:prstDash val="solid"/>
          </a:ln>
        </p:spPr>
      </p:sp>
      <p:sp>
        <p:nvSpPr>
          <p:cNvPr id="23" name="Text 20"/>
          <p:cNvSpPr/>
          <p:nvPr/>
        </p:nvSpPr>
        <p:spPr>
          <a:xfrm>
            <a:off x="594252" y="31835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6.66 m</a:t>
            </a:r>
            <a:endParaRPr lang="en-US" sz="1200" dirty="0"/>
          </a:p>
        </p:txBody>
      </p:sp>
      <p:sp>
        <p:nvSpPr>
          <p:cNvPr id="24" name="Text 21"/>
          <p:cNvSpPr/>
          <p:nvPr/>
        </p:nvSpPr>
        <p:spPr>
          <a:xfrm>
            <a:off x="1243584" y="5504688"/>
            <a:ext cx="1645920"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PLAN</a:t>
            </a:r>
            <a:endParaRPr lang="en-US" sz="1200" dirty="0"/>
          </a:p>
        </p:txBody>
      </p:sp>
      <p:pic>
        <p:nvPicPr>
          <p:cNvPr id="25" name="Image 1" descr="/workspace/temp/presentation/v9/assets/technical-elevation.png">    </p:cNvPr>
          <p:cNvPicPr>
            <a:picLocks noChangeAspect="1"/>
          </p:cNvPicPr>
          <p:nvPr/>
        </p:nvPicPr>
        <p:blipFill>
          <a:blip r:embed="rId2"/>
          <a:stretch>
            <a:fillRect/>
          </a:stretch>
        </p:blipFill>
        <p:spPr>
          <a:xfrm>
            <a:off x="3730752" y="2852503"/>
            <a:ext cx="2542032" cy="1537043"/>
          </a:xfrm>
          <a:prstGeom prst="rect">
            <a:avLst/>
          </a:prstGeom>
        </p:spPr>
      </p:pic>
      <p:sp>
        <p:nvSpPr>
          <p:cNvPr id="26" name="Shape 22"/>
          <p:cNvSpPr/>
          <p:nvPr/>
        </p:nvSpPr>
        <p:spPr>
          <a:xfrm>
            <a:off x="6026701" y="4212194"/>
            <a:ext cx="0" cy="-1028636"/>
          </a:xfrm>
          <a:prstGeom prst="line">
            <a:avLst/>
          </a:prstGeom>
          <a:noFill/>
          <a:ln w="11430">
            <a:solidFill>
              <a:srgbClr val="AA7E4A"/>
            </a:solidFill>
            <a:prstDash val="solid"/>
          </a:ln>
        </p:spPr>
      </p:sp>
      <p:sp>
        <p:nvSpPr>
          <p:cNvPr id="27" name="Shape 23"/>
          <p:cNvSpPr/>
          <p:nvPr/>
        </p:nvSpPr>
        <p:spPr>
          <a:xfrm>
            <a:off x="5980981" y="4212194"/>
            <a:ext cx="91440" cy="0"/>
          </a:xfrm>
          <a:prstGeom prst="line">
            <a:avLst/>
          </a:prstGeom>
          <a:noFill/>
          <a:ln w="10160">
            <a:solidFill>
              <a:srgbClr val="AA7E4A"/>
            </a:solidFill>
            <a:prstDash val="solid"/>
          </a:ln>
        </p:spPr>
      </p:sp>
      <p:sp>
        <p:nvSpPr>
          <p:cNvPr id="28" name="Shape 24"/>
          <p:cNvSpPr/>
          <p:nvPr/>
        </p:nvSpPr>
        <p:spPr>
          <a:xfrm>
            <a:off x="5980981" y="3183558"/>
            <a:ext cx="91440" cy="0"/>
          </a:xfrm>
          <a:prstGeom prst="line">
            <a:avLst/>
          </a:prstGeom>
          <a:noFill/>
          <a:ln w="10160">
            <a:solidFill>
              <a:srgbClr val="AA7E4A"/>
            </a:solidFill>
            <a:prstDash val="solid"/>
          </a:ln>
        </p:spPr>
      </p:sp>
      <p:sp>
        <p:nvSpPr>
          <p:cNvPr id="29" name="Text 25"/>
          <p:cNvSpPr/>
          <p:nvPr/>
        </p:nvSpPr>
        <p:spPr>
          <a:xfrm>
            <a:off x="5670085" y="32223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3.48 m</a:t>
            </a:r>
            <a:endParaRPr lang="en-US" sz="1200" dirty="0"/>
          </a:p>
        </p:txBody>
      </p:sp>
      <p:sp>
        <p:nvSpPr>
          <p:cNvPr id="30" name="Text 26"/>
          <p:cNvSpPr/>
          <p:nvPr/>
        </p:nvSpPr>
        <p:spPr>
          <a:xfrm>
            <a:off x="3931920" y="4837176"/>
            <a:ext cx="1938528"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ELEVATION</a:t>
            </a:r>
            <a:endParaRPr lang="en-US" sz="1200" dirty="0"/>
          </a:p>
        </p:txBody>
      </p:sp>
      <p:sp>
        <p:nvSpPr>
          <p:cNvPr id="31" name="Text 27"/>
          <p:cNvSpPr/>
          <p:nvPr/>
        </p:nvSpPr>
        <p:spPr>
          <a:xfrm>
            <a:off x="3712464" y="5440680"/>
            <a:ext cx="2606040" cy="585216"/>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Curved support inclination is defined by its endpoint chord, not a local tangent.</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20256" y="2221992"/>
          <a:ext cx="4928616" cy="914400"/>
        </p:xfrm>
        <a:graphic>
          <a:graphicData uri="http://schemas.openxmlformats.org/drawingml/2006/table">
            <a:tbl>
              <a:tblPr/>
              <a:tblGrid>
                <a:gridCol w="2331720"/>
                <a:gridCol w="2596896"/>
              </a:tblGrid>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FINAL PARAMETER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VALUE / DEFINITION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Overall height</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≈3.48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Plan extents</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≈6.22 × 6.66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Maximum horizontal span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≈6.91 m, exterior mesh</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Support inclination*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45.9–50.7° to horizontal</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Member exterior diameter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80 mm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Corner / expansion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0.85 / 1.08</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33" name="Text 28"/>
          <p:cNvSpPr/>
          <p:nvPr/>
        </p:nvSpPr>
        <p:spPr>
          <a:xfrm>
            <a:off x="6665976" y="5852160"/>
            <a:ext cx="4800600" cy="356616"/>
          </a:xfrm>
          <a:prstGeom prst="rect">
            <a:avLst/>
          </a:prstGeom>
          <a:noFill/>
          <a:ln/>
        </p:spPr>
        <p:txBody>
          <a:bodyPr wrap="square" lIns="0" tIns="0" rIns="0" bIns="0" rtlCol="0" anchor="ctr"/>
          <a:lstStyle/>
          <a:p>
            <a:pPr indent="0" marL="0">
              <a:buNone/>
            </a:pPr>
            <a:r>
              <a:rPr lang="en-US" sz="1150" dirty="0">
                <a:solidFill>
                  <a:srgbClr val="66736D"/>
                </a:solidFill>
                <a:latin typeface="Noto Sans" pitchFamily="34" charset="0"/>
                <a:ea typeface="Noto Sans" pitchFamily="34" charset="-122"/>
                <a:cs typeface="Noto Sans" pitchFamily="34" charset="-120"/>
              </a:rPr>
              <a:t>*Angle of each ground-reaching centre-line endpoint chord. Not a uniform member slope.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FORM &amp; COOLING LOGIC</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How the canopy can improve pedestrian comfort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physical pathways, with the strength of evidence shown next to each.</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 project P2/P5. Greening mechanisms: [1,2]. Arrows are conceptual; no temperature or airflow field is simulated.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03</a:t>
            </a:r>
            <a:endParaRPr lang="en-US" sz="1000" dirty="0"/>
          </a:p>
        </p:txBody>
      </p:sp>
      <p:pic>
        <p:nvPicPr>
          <p:cNvPr id="15" name="Image 0" descr="/workspace/temp/presentation/v9/assets/cover-80.png">    </p:cNvPr>
          <p:cNvPicPr>
            <a:picLocks noChangeAspect="1"/>
          </p:cNvPicPr>
          <p:nvPr/>
        </p:nvPicPr>
        <p:blipFill>
          <a:blip r:embed="rId1"/>
          <a:stretch>
            <a:fillRect/>
          </a:stretch>
        </p:blipFill>
        <p:spPr>
          <a:xfrm>
            <a:off x="3967184" y="2148840"/>
            <a:ext cx="4172288" cy="3017520"/>
          </a:xfrm>
          <a:prstGeom prst="rect">
            <a:avLst/>
          </a:prstGeom>
        </p:spPr>
      </p:pic>
      <p:sp>
        <p:nvSpPr>
          <p:cNvPr id="16" name="Shape 13"/>
          <p:cNvSpPr/>
          <p:nvPr/>
        </p:nvSpPr>
        <p:spPr>
          <a:xfrm>
            <a:off x="950976" y="2423160"/>
            <a:ext cx="512064" cy="512064"/>
          </a:xfrm>
          <a:prstGeom prst="ellipse">
            <a:avLst/>
          </a:prstGeom>
          <a:solidFill>
            <a:srgbClr val="E3B45D"/>
          </a:solidFill>
          <a:ln w="12700">
            <a:solidFill>
              <a:srgbClr val="E3B45D"/>
            </a:solidFill>
            <a:prstDash val="solid"/>
          </a:ln>
        </p:spPr>
      </p:sp>
      <p:sp>
        <p:nvSpPr>
          <p:cNvPr id="17" name="Shape 14"/>
          <p:cNvSpPr/>
          <p:nvPr/>
        </p:nvSpPr>
        <p:spPr>
          <a:xfrm>
            <a:off x="1627632" y="2651760"/>
            <a:ext cx="1901952" cy="731520"/>
          </a:xfrm>
          <a:prstGeom prst="line">
            <a:avLst/>
          </a:prstGeom>
          <a:noFill/>
          <a:ln w="26670">
            <a:solidFill>
              <a:srgbClr val="D3A14B"/>
            </a:solidFill>
            <a:prstDash val="solid"/>
            <a:headEnd type="none"/>
            <a:tailEnd type="triangle"/>
          </a:ln>
        </p:spPr>
      </p:sp>
      <p:sp>
        <p:nvSpPr>
          <p:cNvPr id="18" name="Shape 15"/>
          <p:cNvSpPr/>
          <p:nvPr/>
        </p:nvSpPr>
        <p:spPr>
          <a:xfrm>
            <a:off x="2039112" y="2651760"/>
            <a:ext cx="1901952" cy="731520"/>
          </a:xfrm>
          <a:prstGeom prst="line">
            <a:avLst/>
          </a:prstGeom>
          <a:noFill/>
          <a:ln w="26670">
            <a:solidFill>
              <a:srgbClr val="D3A14B"/>
            </a:solidFill>
            <a:prstDash val="solid"/>
            <a:headEnd type="none"/>
            <a:tailEnd type="triangle"/>
          </a:ln>
        </p:spPr>
      </p:sp>
      <p:sp>
        <p:nvSpPr>
          <p:cNvPr id="19" name="Shape 16"/>
          <p:cNvSpPr/>
          <p:nvPr/>
        </p:nvSpPr>
        <p:spPr>
          <a:xfrm>
            <a:off x="2450592" y="2651760"/>
            <a:ext cx="1901952" cy="731520"/>
          </a:xfrm>
          <a:prstGeom prst="line">
            <a:avLst/>
          </a:prstGeom>
          <a:noFill/>
          <a:ln w="26670">
            <a:solidFill>
              <a:srgbClr val="D3A14B"/>
            </a:solidFill>
            <a:prstDash val="solid"/>
            <a:headEnd type="none"/>
            <a:tailEnd type="triangle"/>
          </a:ln>
        </p:spPr>
      </p:sp>
      <p:sp>
        <p:nvSpPr>
          <p:cNvPr id="20" name="Shape 17"/>
          <p:cNvSpPr/>
          <p:nvPr/>
        </p:nvSpPr>
        <p:spPr>
          <a:xfrm>
            <a:off x="4069080" y="4946904"/>
            <a:ext cx="2971800" cy="192024"/>
          </a:xfrm>
          <a:prstGeom prst="rect">
            <a:avLst>
              <a:gd name="adj" fmla="val 47619"/>
            </a:avLst>
          </a:prstGeom>
          <a:solidFill>
            <a:srgbClr val="D8E4CC"/>
          </a:solidFill>
          <a:ln w="7620">
            <a:solidFill>
              <a:srgbClr val="D8E4CC"/>
            </a:solidFill>
            <a:prstDash val="solid"/>
          </a:ln>
        </p:spPr>
      </p:sp>
      <p:sp>
        <p:nvSpPr>
          <p:cNvPr id="21" name="Shape 18"/>
          <p:cNvSpPr/>
          <p:nvPr/>
        </p:nvSpPr>
        <p:spPr>
          <a:xfrm>
            <a:off x="5257800" y="4005072"/>
            <a:ext cx="137160" cy="137160"/>
          </a:xfrm>
          <a:prstGeom prst="ellipse">
            <a:avLst/>
          </a:prstGeom>
          <a:solidFill>
            <a:srgbClr val="173C51"/>
          </a:solidFill>
          <a:ln w="12700">
            <a:solidFill>
              <a:srgbClr val="173C51"/>
            </a:solidFill>
            <a:prstDash val="solid"/>
          </a:ln>
        </p:spPr>
      </p:sp>
      <p:sp>
        <p:nvSpPr>
          <p:cNvPr id="22" name="Shape 19"/>
          <p:cNvSpPr/>
          <p:nvPr/>
        </p:nvSpPr>
        <p:spPr>
          <a:xfrm>
            <a:off x="5326380" y="4169664"/>
            <a:ext cx="0" cy="356616"/>
          </a:xfrm>
          <a:prstGeom prst="line">
            <a:avLst/>
          </a:prstGeom>
          <a:noFill/>
          <a:ln w="25400">
            <a:solidFill>
              <a:srgbClr val="173C51"/>
            </a:solidFill>
            <a:prstDash val="solid"/>
          </a:ln>
        </p:spPr>
      </p:sp>
      <p:sp>
        <p:nvSpPr>
          <p:cNvPr id="23" name="Shape 20"/>
          <p:cNvSpPr/>
          <p:nvPr/>
        </p:nvSpPr>
        <p:spPr>
          <a:xfrm>
            <a:off x="5326380" y="4288536"/>
            <a:ext cx="-178308" cy="146304"/>
          </a:xfrm>
          <a:prstGeom prst="line">
            <a:avLst/>
          </a:prstGeom>
          <a:noFill/>
          <a:ln w="21590">
            <a:solidFill>
              <a:srgbClr val="173C51"/>
            </a:solidFill>
            <a:prstDash val="solid"/>
          </a:ln>
        </p:spPr>
      </p:sp>
      <p:sp>
        <p:nvSpPr>
          <p:cNvPr id="24" name="Shape 21"/>
          <p:cNvSpPr/>
          <p:nvPr/>
        </p:nvSpPr>
        <p:spPr>
          <a:xfrm>
            <a:off x="5326380" y="4288536"/>
            <a:ext cx="178308" cy="146304"/>
          </a:xfrm>
          <a:prstGeom prst="line">
            <a:avLst/>
          </a:prstGeom>
          <a:noFill/>
          <a:ln w="21590">
            <a:solidFill>
              <a:srgbClr val="173C51"/>
            </a:solidFill>
            <a:prstDash val="solid"/>
          </a:ln>
        </p:spPr>
      </p:sp>
      <p:sp>
        <p:nvSpPr>
          <p:cNvPr id="25" name="Shape 22"/>
          <p:cNvSpPr/>
          <p:nvPr/>
        </p:nvSpPr>
        <p:spPr>
          <a:xfrm>
            <a:off x="5326380" y="4526280"/>
            <a:ext cx="-150876" cy="228600"/>
          </a:xfrm>
          <a:prstGeom prst="line">
            <a:avLst/>
          </a:prstGeom>
          <a:noFill/>
          <a:ln w="21590">
            <a:solidFill>
              <a:srgbClr val="173C51"/>
            </a:solidFill>
            <a:prstDash val="solid"/>
          </a:ln>
        </p:spPr>
      </p:sp>
      <p:sp>
        <p:nvSpPr>
          <p:cNvPr id="26" name="Shape 23"/>
          <p:cNvSpPr/>
          <p:nvPr/>
        </p:nvSpPr>
        <p:spPr>
          <a:xfrm>
            <a:off x="5326380" y="4526280"/>
            <a:ext cx="150876" cy="228600"/>
          </a:xfrm>
          <a:prstGeom prst="line">
            <a:avLst/>
          </a:prstGeom>
          <a:noFill/>
          <a:ln w="21590">
            <a:solidFill>
              <a:srgbClr val="173C51"/>
            </a:solidFill>
            <a:prstDash val="solid"/>
          </a:ln>
        </p:spPr>
      </p:sp>
      <p:sp>
        <p:nvSpPr>
          <p:cNvPr id="27" name="Shape 24"/>
          <p:cNvSpPr/>
          <p:nvPr/>
        </p:nvSpPr>
        <p:spPr>
          <a:xfrm>
            <a:off x="2331720" y="4480560"/>
            <a:ext cx="2377440" cy="0"/>
          </a:xfrm>
          <a:prstGeom prst="line">
            <a:avLst/>
          </a:prstGeom>
          <a:noFill/>
          <a:ln w="25400">
            <a:solidFill>
              <a:srgbClr val="3E6E9E"/>
            </a:solidFill>
            <a:prstDash val="solid"/>
            <a:headEnd type="none"/>
            <a:tailEnd type="triangle"/>
          </a:ln>
        </p:spPr>
      </p:sp>
      <p:sp>
        <p:nvSpPr>
          <p:cNvPr id="28" name="Shape 25"/>
          <p:cNvSpPr/>
          <p:nvPr/>
        </p:nvSpPr>
        <p:spPr>
          <a:xfrm>
            <a:off x="2331720" y="4754880"/>
            <a:ext cx="2377440" cy="0"/>
          </a:xfrm>
          <a:prstGeom prst="line">
            <a:avLst/>
          </a:prstGeom>
          <a:noFill/>
          <a:ln w="25400">
            <a:solidFill>
              <a:srgbClr val="3E6E9E"/>
            </a:solidFill>
            <a:prstDash val="solid"/>
            <a:headEnd type="none"/>
            <a:tailEnd type="triangle"/>
          </a:ln>
        </p:spPr>
      </p:sp>
      <p:sp>
        <p:nvSpPr>
          <p:cNvPr id="29" name="Shape 26"/>
          <p:cNvSpPr/>
          <p:nvPr/>
        </p:nvSpPr>
        <p:spPr>
          <a:xfrm>
            <a:off x="6601968" y="2999232"/>
            <a:ext cx="73152" cy="-612648"/>
          </a:xfrm>
          <a:prstGeom prst="line">
            <a:avLst/>
          </a:prstGeom>
          <a:noFill/>
          <a:ln w="19050">
            <a:solidFill>
              <a:srgbClr val="346A55"/>
            </a:solidFill>
            <a:prstDash val="dash"/>
            <a:tailEnd type="triangle"/>
          </a:ln>
        </p:spPr>
      </p:sp>
      <p:sp>
        <p:nvSpPr>
          <p:cNvPr id="30" name="Shape 27"/>
          <p:cNvSpPr/>
          <p:nvPr/>
        </p:nvSpPr>
        <p:spPr>
          <a:xfrm>
            <a:off x="6940296" y="2999232"/>
            <a:ext cx="73152" cy="-612648"/>
          </a:xfrm>
          <a:prstGeom prst="line">
            <a:avLst/>
          </a:prstGeom>
          <a:noFill/>
          <a:ln w="19050">
            <a:solidFill>
              <a:srgbClr val="346A55"/>
            </a:solidFill>
            <a:prstDash val="dash"/>
            <a:tailEnd type="triangle"/>
          </a:ln>
        </p:spPr>
      </p:sp>
      <p:sp>
        <p:nvSpPr>
          <p:cNvPr id="31" name="Shape 28"/>
          <p:cNvSpPr/>
          <p:nvPr/>
        </p:nvSpPr>
        <p:spPr>
          <a:xfrm>
            <a:off x="7278624" y="2999232"/>
            <a:ext cx="73152" cy="-612648"/>
          </a:xfrm>
          <a:prstGeom prst="line">
            <a:avLst/>
          </a:prstGeom>
          <a:noFill/>
          <a:ln w="19050">
            <a:solidFill>
              <a:srgbClr val="346A55"/>
            </a:solidFill>
            <a:prstDash val="dash"/>
            <a:tailEnd type="triangle"/>
          </a:ln>
        </p:spPr>
      </p:sp>
      <p:sp>
        <p:nvSpPr>
          <p:cNvPr id="32" name="Shape 29"/>
          <p:cNvSpPr/>
          <p:nvPr/>
        </p:nvSpPr>
        <p:spPr>
          <a:xfrm>
            <a:off x="658368" y="5404104"/>
            <a:ext cx="3657600" cy="832104"/>
          </a:xfrm>
          <a:prstGeom prst="rect">
            <a:avLst>
              <a:gd name="adj" fmla="val 10989"/>
            </a:avLst>
          </a:prstGeom>
          <a:solidFill>
            <a:srgbClr val="EDF1E9"/>
          </a:solidFill>
          <a:ln w="7620">
            <a:solidFill>
              <a:srgbClr val="D9DDD2"/>
            </a:solidFill>
            <a:prstDash val="solid"/>
          </a:ln>
        </p:spPr>
      </p:sp>
      <p:sp>
        <p:nvSpPr>
          <p:cNvPr id="33" name="Text 30"/>
          <p:cNvSpPr/>
          <p:nvPr/>
        </p:nvSpPr>
        <p:spPr>
          <a:xfrm>
            <a:off x="804672" y="5522976"/>
            <a:ext cx="3364992" cy="246888"/>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01  SHADE → LOWER EXPOSURE</a:t>
            </a:r>
            <a:endParaRPr lang="en-US" sz="1500" dirty="0"/>
          </a:p>
        </p:txBody>
      </p:sp>
      <p:sp>
        <p:nvSpPr>
          <p:cNvPr id="34" name="Text 31"/>
          <p:cNvSpPr/>
          <p:nvPr/>
        </p:nvSpPr>
        <p:spPr>
          <a:xfrm>
            <a:off x="804672" y="5879592"/>
            <a:ext cx="3364992" cy="219456"/>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Direct sun on people and ground</a:t>
            </a:r>
            <a:endParaRPr lang="en-US" sz="1350" dirty="0"/>
          </a:p>
        </p:txBody>
      </p:sp>
      <p:sp>
        <p:nvSpPr>
          <p:cNvPr id="35" name="Shape 32"/>
          <p:cNvSpPr/>
          <p:nvPr/>
        </p:nvSpPr>
        <p:spPr>
          <a:xfrm>
            <a:off x="8174736" y="3611880"/>
            <a:ext cx="3319272" cy="1517904"/>
          </a:xfrm>
          <a:prstGeom prst="rect">
            <a:avLst>
              <a:gd name="adj" fmla="val 6024"/>
            </a:avLst>
          </a:prstGeom>
          <a:solidFill>
            <a:srgbClr val="EDF1E9"/>
          </a:solidFill>
          <a:ln w="7620">
            <a:solidFill>
              <a:srgbClr val="D9DDD2"/>
            </a:solidFill>
            <a:prstDash val="solid"/>
          </a:ln>
        </p:spPr>
      </p:sp>
      <p:sp>
        <p:nvSpPr>
          <p:cNvPr id="36" name="Text 33"/>
          <p:cNvSpPr/>
          <p:nvPr/>
        </p:nvSpPr>
        <p:spPr>
          <a:xfrm>
            <a:off x="8339328" y="3730752"/>
            <a:ext cx="2990088" cy="320040"/>
          </a:xfrm>
          <a:prstGeom prst="rect">
            <a:avLst/>
          </a:prstGeom>
          <a:noFill/>
          <a:ln/>
        </p:spPr>
        <p:txBody>
          <a:bodyPr wrap="square" lIns="0" tIns="0" rIns="0" bIns="0" rtlCol="0" anchor="ctr"/>
          <a:lstStyle/>
          <a:p>
            <a:pPr indent="0" marL="0">
              <a:buNone/>
            </a:pPr>
            <a:r>
              <a:rPr lang="en-US" sz="2000" b="1" dirty="0">
                <a:solidFill>
                  <a:srgbClr val="3E6E9E"/>
                </a:solidFill>
                <a:latin typeface="Noto Sans" pitchFamily="34" charset="0"/>
                <a:ea typeface="Noto Sans" pitchFamily="34" charset="-122"/>
                <a:cs typeface="Noto Sans" pitchFamily="34" charset="-120"/>
              </a:rPr>
              <a:t>02  AIRFLOW</a:t>
            </a:r>
            <a:endParaRPr lang="en-US" sz="2000" dirty="0"/>
          </a:p>
        </p:txBody>
      </p:sp>
      <p:sp>
        <p:nvSpPr>
          <p:cNvPr id="37" name="Text 34"/>
          <p:cNvSpPr/>
          <p:nvPr/>
        </p:nvSpPr>
        <p:spPr>
          <a:xfrm>
            <a:off x="8339328" y="4151376"/>
            <a:ext cx="2990088" cy="8961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Open sides retain possible air paths.</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Dense foliage can also add resistance.</a:t>
            </a:r>
            <a:endParaRPr lang="en-US" sz="1600" dirty="0"/>
          </a:p>
        </p:txBody>
      </p:sp>
      <p:sp>
        <p:nvSpPr>
          <p:cNvPr id="38" name="Shape 35"/>
          <p:cNvSpPr/>
          <p:nvPr/>
        </p:nvSpPr>
        <p:spPr>
          <a:xfrm>
            <a:off x="8174736" y="2011680"/>
            <a:ext cx="3319272" cy="1417320"/>
          </a:xfrm>
          <a:prstGeom prst="rect">
            <a:avLst>
              <a:gd name="adj" fmla="val 6452"/>
            </a:avLst>
          </a:prstGeom>
          <a:solidFill>
            <a:srgbClr val="EDF1E9"/>
          </a:solidFill>
          <a:ln w="7620">
            <a:solidFill>
              <a:srgbClr val="D9DDD2"/>
            </a:solidFill>
            <a:prstDash val="solid"/>
          </a:ln>
        </p:spPr>
      </p:sp>
      <p:sp>
        <p:nvSpPr>
          <p:cNvPr id="39" name="Text 36"/>
          <p:cNvSpPr/>
          <p:nvPr/>
        </p:nvSpPr>
        <p:spPr>
          <a:xfrm>
            <a:off x="8339328" y="2130552"/>
            <a:ext cx="299008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03  PLANT WATER</a:t>
            </a:r>
            <a:endParaRPr lang="en-US" sz="2000" dirty="0"/>
          </a:p>
        </p:txBody>
      </p:sp>
      <p:sp>
        <p:nvSpPr>
          <p:cNvPr id="40" name="Text 37"/>
          <p:cNvSpPr/>
          <p:nvPr/>
        </p:nvSpPr>
        <p:spPr>
          <a:xfrm>
            <a:off x="8339328" y="2551176"/>
            <a:ext cx="2990088"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Evapotranspiration may exchange latent heat; it needs healthy, watered plants.</a:t>
            </a:r>
            <a:endParaRPr lang="en-US" sz="1600" dirty="0"/>
          </a:p>
        </p:txBody>
      </p:sp>
      <p:sp>
        <p:nvSpPr>
          <p:cNvPr id="41" name="Text 38"/>
          <p:cNvSpPr/>
          <p:nvPr/>
        </p:nvSpPr>
        <p:spPr>
          <a:xfrm>
            <a:off x="731520" y="2048256"/>
            <a:ext cx="2468880" cy="265176"/>
          </a:xfrm>
          <a:prstGeom prst="rect">
            <a:avLst/>
          </a:prstGeom>
          <a:noFill/>
          <a:ln/>
        </p:spPr>
        <p:txBody>
          <a:bodyPr wrap="square" lIns="0" tIns="0" rIns="0" bIns="0" rtlCol="0" anchor="ctr"/>
          <a:lstStyle/>
          <a:p>
            <a:pPr indent="0" marL="0">
              <a:buNone/>
            </a:pPr>
            <a:r>
              <a:rPr lang="en-US" sz="1700" b="1" dirty="0">
                <a:solidFill>
                  <a:srgbClr val="AA7E4A"/>
                </a:solidFill>
                <a:latin typeface="Noto Sans" pitchFamily="34" charset="0"/>
                <a:ea typeface="Noto Sans" pitchFamily="34" charset="-122"/>
                <a:cs typeface="Noto Sans" pitchFamily="34" charset="-120"/>
              </a:rPr>
              <a:t>01  DIRECT SUN</a:t>
            </a:r>
            <a:endParaRPr lang="en-US" sz="1700" dirty="0"/>
          </a:p>
        </p:txBody>
      </p:sp>
      <p:sp>
        <p:nvSpPr>
          <p:cNvPr id="42" name="Text 39"/>
          <p:cNvSpPr/>
          <p:nvPr/>
        </p:nvSpPr>
        <p:spPr>
          <a:xfrm>
            <a:off x="950976" y="3337560"/>
            <a:ext cx="2286000" cy="27432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MODELLED</a:t>
            </a:r>
            <a:endParaRPr lang="en-US" sz="1400" dirty="0"/>
          </a:p>
        </p:txBody>
      </p:sp>
      <p:sp>
        <p:nvSpPr>
          <p:cNvPr id="43" name="Text 40"/>
          <p:cNvSpPr/>
          <p:nvPr/>
        </p:nvSpPr>
        <p:spPr>
          <a:xfrm>
            <a:off x="768096" y="3694176"/>
            <a:ext cx="2423160" cy="539496"/>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 leaf location</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change useful shade.</a:t>
            </a:r>
            <a:endParaRPr lang="en-US" sz="1600" dirty="0"/>
          </a:p>
        </p:txBody>
      </p:sp>
      <p:sp>
        <p:nvSpPr>
          <p:cNvPr id="44" name="Text 41"/>
          <p:cNvSpPr/>
          <p:nvPr/>
        </p:nvSpPr>
        <p:spPr>
          <a:xfrm>
            <a:off x="4608576" y="5605272"/>
            <a:ext cx="6711696" cy="274320"/>
          </a:xfrm>
          <a:prstGeom prst="rect">
            <a:avLst/>
          </a:prstGeom>
          <a:noFill/>
          <a:ln/>
        </p:spPr>
        <p:txBody>
          <a:bodyPr wrap="square" lIns="0" tIns="0" rIns="0" bIns="0" rtlCol="0" anchor="ctr"/>
          <a:lstStyle/>
          <a:p>
            <a:pPr algn="ctr" indent="0" marL="0">
              <a:buNone/>
            </a:pPr>
            <a:r>
              <a:rPr lang="en-US" sz="1500" b="1" dirty="0">
                <a:solidFill>
                  <a:srgbClr val="66736D"/>
                </a:solidFill>
                <a:latin typeface="Noto Sans" pitchFamily="34" charset="0"/>
                <a:ea typeface="Noto Sans" pitchFamily="34" charset="-122"/>
                <a:cs typeface="Noto Sans" pitchFamily="34" charset="-120"/>
              </a:rPr>
              <a:t>02 / 03: QUALITATIVE MECHANISMS</a:t>
            </a:r>
            <a:endParaRPr lang="en-US" sz="1500" dirty="0"/>
          </a:p>
        </p:txBody>
      </p:sp>
      <p:sp>
        <p:nvSpPr>
          <p:cNvPr id="45" name="Text 42"/>
          <p:cNvSpPr/>
          <p:nvPr/>
        </p:nvSpPr>
        <p:spPr>
          <a:xfrm>
            <a:off x="4608576" y="5961888"/>
            <a:ext cx="6711696" cy="246888"/>
          </a:xfrm>
          <a:prstGeom prst="rect">
            <a:avLst/>
          </a:prstGeom>
          <a:noFill/>
          <a:ln/>
        </p:spPr>
        <p:txBody>
          <a:bodyPr wrap="square" lIns="0" tIns="0" rIns="0" bIns="0" rtlCol="0" anchor="ctr"/>
          <a:lstStyle/>
          <a:p>
            <a:pPr algn="ctr" indent="0" marL="0">
              <a:buNone/>
            </a:pPr>
            <a:r>
              <a:rPr lang="en-US" sz="1500" b="1" dirty="0">
                <a:solidFill>
                  <a:srgbClr val="173C51"/>
                </a:solidFill>
                <a:latin typeface="Noto Sans" pitchFamily="34" charset="0"/>
                <a:ea typeface="Noto Sans" pitchFamily="34" charset="-122"/>
                <a:cs typeface="Noto Sans" pitchFamily="34" charset="-120"/>
              </a:rPr>
              <a:t>Shade % does not equal cooling °C.</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Assign materials to the roles they must perform</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Steel at the ground-reaching supports; proposed engineered bamboo across the crown.</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take-off and proposed member schedule (P1, P3). Sections and material mass remain preliminary specifications.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04</a:t>
            </a:r>
            <a:endParaRPr lang="en-US" sz="1000" dirty="0"/>
          </a:p>
        </p:txBody>
      </p:sp>
      <p:pic>
        <p:nvPicPr>
          <p:cNvPr id="15" name="Image 0" descr="/workspace/temp/presentation/v9/assets/material-zones.png">    </p:cNvPr>
          <p:cNvPicPr>
            <a:picLocks noChangeAspect="1"/>
          </p:cNvPicPr>
          <p:nvPr/>
        </p:nvPicPr>
        <p:blipFill>
          <a:blip r:embed="rId1"/>
          <a:stretch>
            <a:fillRect/>
          </a:stretch>
        </p:blipFill>
        <p:spPr>
          <a:xfrm>
            <a:off x="566201" y="2029968"/>
            <a:ext cx="5442135" cy="393192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336792" y="2322576"/>
          <a:ext cx="5230368" cy="914400"/>
        </p:xfrm>
        <a:graphic>
          <a:graphicData uri="http://schemas.openxmlformats.org/drawingml/2006/table">
            <a:tbl>
              <a:tblPr/>
              <a:tblGrid>
                <a:gridCol w="1865376"/>
                <a:gridCol w="2148840"/>
                <a:gridCol w="1216152"/>
              </a:tblGrid>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ZONE</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PROPOSED SECTION</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LENGTH</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12 steel supports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Q355B tube</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Ø80 × 4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69.38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47 bamboo crown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Engineered bamboo</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solid Ø80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219.28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TOTAL</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59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288.66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7" name="Text 13"/>
          <p:cNvSpPr/>
          <p:nvPr/>
        </p:nvSpPr>
        <p:spPr>
          <a:xfrm>
            <a:off x="6419088" y="5477256"/>
            <a:ext cx="4983480" cy="640080"/>
          </a:xfrm>
          <a:prstGeom prst="rect">
            <a:avLst/>
          </a:prstGeom>
          <a:noFill/>
          <a:ln/>
        </p:spPr>
        <p:txBody>
          <a:bodyPr wrap="square" lIns="0" tIns="0" rIns="0" bIns="0" rtlCol="0" anchor="ctr"/>
          <a:lstStyle/>
          <a:p>
            <a:pPr indent="0" marL="0">
              <a:buNone/>
            </a:pPr>
            <a:r>
              <a:rPr lang="en-US" sz="1700" dirty="0">
                <a:solidFill>
                  <a:srgbClr val="173C51"/>
                </a:solidFill>
                <a:latin typeface="Noto Sans" pitchFamily="34" charset="0"/>
                <a:ea typeface="Noto Sans" pitchFamily="34" charset="-122"/>
                <a:cs typeface="Noto Sans" pitchFamily="34" charset="-120"/>
              </a:rPr>
              <a:t>Steel supports are proposed for force transfer and connection detailing. Crown bamboo requires stiffness, treatment and fabrication checks.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SELECTION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Read the material inputs before making the choice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Representative screening inputs: section resistance, conductivity, carbon factor and equal-length material cost.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material-comparison workbook (P3). *Preliminary inputs; product, processing and factor boundaries need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0972800" cy="914400"/>
        </p:xfrm>
        <a:graphic>
          <a:graphicData uri="http://schemas.openxmlformats.org/drawingml/2006/table">
            <a:tbl>
              <a:tblPr/>
              <a:tblGrid>
                <a:gridCol w="3154680"/>
                <a:gridCol w="1325880"/>
                <a:gridCol w="1417320"/>
                <a:gridCol w="1691640"/>
                <a:gridCol w="3383280"/>
              </a:tblGrid>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 SECTION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BENDING*</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kN·m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λ*</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W/(m·K)</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CARBON*</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kgCO₂e/kg</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COST*</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CNY / 288.66 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18,394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4.78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13,983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Engineered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10,158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Treated timber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0.85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1.10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6,530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Raw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4,330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03504" y="5449824"/>
          <a:ext cx="10972800" cy="914400"/>
        </p:xfrm>
        <a:graphic>
          <a:graphicData uri="http://schemas.openxmlformats.org/drawingml/2006/table">
            <a:tbl>
              <a:tblPr/>
              <a:tblGrid>
                <a:gridCol w="5486400"/>
                <a:gridCol w="5486400"/>
              </a:tblGrid>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DURABILITY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ENVIRONMENTAL ADAPTABILITY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Protect steel coatings; treat bamboo; detail inspection and replacement.</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Check moisture, UV, wind exposure, local supply and plant suitability.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DECISION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Why steel supports and an engineered-bamboo crown?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Match structural roles first; weigh cost and environmental inputs together with practical constraints.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Design rationale P1/P3/P4. Screening values are preliminary; the hybrid strategy is not an optimised or certified structure.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06</a:t>
            </a:r>
            <a:endParaRPr lang="en-US" sz="1000" dirty="0"/>
          </a:p>
        </p:txBody>
      </p:sp>
      <p:sp>
        <p:nvSpPr>
          <p:cNvPr id="15" name="Shape 13"/>
          <p:cNvSpPr/>
          <p:nvPr/>
        </p:nvSpPr>
        <p:spPr>
          <a:xfrm>
            <a:off x="658368" y="2112264"/>
            <a:ext cx="5285232" cy="2596896"/>
          </a:xfrm>
          <a:prstGeom prst="rect">
            <a:avLst>
              <a:gd name="adj" fmla="val 3521"/>
            </a:avLst>
          </a:prstGeom>
          <a:solidFill>
            <a:srgbClr val="EDF1E9"/>
          </a:solidFill>
          <a:ln w="7620">
            <a:solidFill>
              <a:srgbClr val="D9DDD2"/>
            </a:solidFill>
            <a:prstDash val="solid"/>
          </a:ln>
        </p:spPr>
      </p:sp>
      <p:sp>
        <p:nvSpPr>
          <p:cNvPr id="16" name="Shape 14"/>
          <p:cNvSpPr/>
          <p:nvPr/>
        </p:nvSpPr>
        <p:spPr>
          <a:xfrm>
            <a:off x="6181344" y="2112264"/>
            <a:ext cx="5285232" cy="2596896"/>
          </a:xfrm>
          <a:prstGeom prst="rect">
            <a:avLst>
              <a:gd name="adj" fmla="val 3521"/>
            </a:avLst>
          </a:prstGeom>
          <a:solidFill>
            <a:srgbClr val="EDF1E9"/>
          </a:solidFill>
          <a:ln w="7620">
            <a:solidFill>
              <a:srgbClr val="D9DDD2"/>
            </a:solidFill>
            <a:prstDash val="solid"/>
          </a:ln>
        </p:spPr>
      </p:sp>
      <p:sp>
        <p:nvSpPr>
          <p:cNvPr id="17" name="Text 15"/>
          <p:cNvSpPr/>
          <p:nvPr/>
        </p:nvSpPr>
        <p:spPr>
          <a:xfrm>
            <a:off x="850392" y="2304288"/>
            <a:ext cx="4892040" cy="283464"/>
          </a:xfrm>
          <a:prstGeom prst="rect">
            <a:avLst/>
          </a:prstGeom>
          <a:noFill/>
          <a:ln/>
        </p:spPr>
        <p:txBody>
          <a:bodyPr wrap="square" lIns="0" tIns="0" rIns="0" bIns="0" rtlCol="0" anchor="ctr"/>
          <a:lstStyle/>
          <a:p>
            <a:pPr indent="0" marL="0">
              <a:buNone/>
            </a:pPr>
            <a:r>
              <a:rPr lang="en-US" sz="1500" b="1" dirty="0">
                <a:solidFill>
                  <a:srgbClr val="3E6E9E"/>
                </a:solidFill>
                <a:latin typeface="Noto Sans" pitchFamily="34" charset="0"/>
                <a:ea typeface="Noto Sans" pitchFamily="34" charset="-122"/>
                <a:cs typeface="Noto Sans" pitchFamily="34" charset="-120"/>
              </a:rPr>
              <a:t>STEEL • 12 GROUND-REACHING MEMBERS</a:t>
            </a:r>
            <a:endParaRPr lang="en-US" sz="1500" dirty="0"/>
          </a:p>
        </p:txBody>
      </p:sp>
      <p:sp>
        <p:nvSpPr>
          <p:cNvPr id="18" name="Text 16"/>
          <p:cNvSpPr/>
          <p:nvPr/>
        </p:nvSpPr>
        <p:spPr>
          <a:xfrm>
            <a:off x="850392" y="2770632"/>
            <a:ext cx="4892040" cy="640080"/>
          </a:xfrm>
          <a:prstGeom prst="rect">
            <a:avLst/>
          </a:prstGeom>
          <a:noFill/>
          <a:ln/>
        </p:spPr>
        <p:txBody>
          <a:bodyPr wrap="square" lIns="0" tIns="0" rIns="0" bIns="0" rtlCol="0" anchor="ctr"/>
          <a:lstStyle/>
          <a:p>
            <a:pPr indent="0" marL="0">
              <a:buNone/>
            </a:pPr>
            <a:r>
              <a:rPr lang="en-US" sz="2400" b="1" dirty="0">
                <a:solidFill>
                  <a:srgbClr val="173C51"/>
                </a:solidFill>
                <a:latin typeface="Noto Serif" pitchFamily="34" charset="0"/>
                <a:ea typeface="Noto Serif" pitchFamily="34" charset="-122"/>
                <a:cs typeface="Noto Serif" pitchFamily="34" charset="-120"/>
              </a:rPr>
              <a:t>Prioritise stiffness and force transfer</a:t>
            </a:r>
            <a:endParaRPr lang="en-US" sz="2400" dirty="0"/>
          </a:p>
        </p:txBody>
      </p:sp>
      <p:sp>
        <p:nvSpPr>
          <p:cNvPr id="19" name="Text 17"/>
          <p:cNvSpPr/>
          <p:nvPr/>
        </p:nvSpPr>
        <p:spPr>
          <a:xfrm>
            <a:off x="850392" y="3630168"/>
            <a:ext cx="4837176" cy="804672"/>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The workbook assigns steel to supports under compression and wind bending. Its tabulated section stiffness EI exceeds the proposed bamboo section.</a:t>
            </a:r>
            <a:endParaRPr lang="en-US" sz="1700" dirty="0"/>
          </a:p>
        </p:txBody>
      </p:sp>
      <p:sp>
        <p:nvSpPr>
          <p:cNvPr id="20" name="Text 18"/>
          <p:cNvSpPr/>
          <p:nvPr/>
        </p:nvSpPr>
        <p:spPr>
          <a:xfrm>
            <a:off x="6373368" y="2304288"/>
            <a:ext cx="4892040" cy="283464"/>
          </a:xfrm>
          <a:prstGeom prst="rect">
            <a:avLst/>
          </a:prstGeom>
          <a:noFill/>
          <a:ln/>
        </p:spPr>
        <p:txBody>
          <a:bodyPr wrap="square" lIns="0" tIns="0" rIns="0" bIns="0" rtlCol="0" anchor="ctr"/>
          <a:lstStyle/>
          <a:p>
            <a:pPr indent="0" marL="0">
              <a:buNone/>
            </a:pPr>
            <a:r>
              <a:rPr lang="en-US" sz="1500" b="1" dirty="0">
                <a:solidFill>
                  <a:srgbClr val="AA7E4A"/>
                </a:solidFill>
                <a:latin typeface="Noto Sans" pitchFamily="34" charset="0"/>
                <a:ea typeface="Noto Sans" pitchFamily="34" charset="-122"/>
                <a:cs typeface="Noto Sans" pitchFamily="34" charset="-120"/>
              </a:rPr>
              <a:t>ENGINEERED BAMBOO • 47 CROWN MEMBERS</a:t>
            </a:r>
            <a:endParaRPr lang="en-US" sz="1500" dirty="0"/>
          </a:p>
        </p:txBody>
      </p:sp>
      <p:sp>
        <p:nvSpPr>
          <p:cNvPr id="21" name="Text 19"/>
          <p:cNvSpPr/>
          <p:nvPr/>
        </p:nvSpPr>
        <p:spPr>
          <a:xfrm>
            <a:off x="6373368" y="2770632"/>
            <a:ext cx="4892040" cy="640080"/>
          </a:xfrm>
          <a:prstGeom prst="rect">
            <a:avLst/>
          </a:prstGeom>
          <a:noFill/>
          <a:ln/>
        </p:spPr>
        <p:txBody>
          <a:bodyPr wrap="square" lIns="0" tIns="0" rIns="0" bIns="0" rtlCol="0" anchor="ctr"/>
          <a:lstStyle/>
          <a:p>
            <a:pPr indent="0" marL="0">
              <a:buNone/>
            </a:pPr>
            <a:r>
              <a:rPr lang="en-US" sz="2400" b="1" dirty="0">
                <a:solidFill>
                  <a:srgbClr val="173C51"/>
                </a:solidFill>
                <a:latin typeface="Noto Serif" pitchFamily="34" charset="0"/>
                <a:ea typeface="Noto Serif" pitchFamily="34" charset="-122"/>
                <a:cs typeface="Noto Serif" pitchFamily="34" charset="-120"/>
              </a:rPr>
              <a:t>Use material benefits where feasible</a:t>
            </a:r>
            <a:endParaRPr lang="en-US" sz="2400" dirty="0"/>
          </a:p>
        </p:txBody>
      </p:sp>
      <p:sp>
        <p:nvSpPr>
          <p:cNvPr id="22" name="Text 20"/>
          <p:cNvSpPr/>
          <p:nvPr/>
        </p:nvSpPr>
        <p:spPr>
          <a:xfrm>
            <a:off x="6373368" y="3630168"/>
            <a:ext cx="4837176" cy="804672"/>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The workbook adopts bamboo for the crown using cost and carbon inputs. It also requires restrained joints and verification of node rotational stiffness.</a:t>
            </a:r>
            <a:endParaRPr lang="en-US" sz="1700" dirty="0"/>
          </a:p>
        </p:txBody>
      </p:sp>
      <p:sp>
        <p:nvSpPr>
          <p:cNvPr id="23" name="Shape 21"/>
          <p:cNvSpPr/>
          <p:nvPr/>
        </p:nvSpPr>
        <p:spPr>
          <a:xfrm>
            <a:off x="667512" y="5047488"/>
            <a:ext cx="2029968" cy="0"/>
          </a:xfrm>
          <a:prstGeom prst="line">
            <a:avLst/>
          </a:prstGeom>
          <a:noFill/>
          <a:ln w="12700">
            <a:solidFill>
              <a:srgbClr val="AA7E4A"/>
            </a:solidFill>
            <a:prstDash val="solid"/>
          </a:ln>
        </p:spPr>
      </p:sp>
      <p:sp>
        <p:nvSpPr>
          <p:cNvPr id="24" name="Text 22"/>
          <p:cNvSpPr/>
          <p:nvPr/>
        </p:nvSpPr>
        <p:spPr>
          <a:xfrm>
            <a:off x="667512"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DURABILITY</a:t>
            </a:r>
            <a:endParaRPr lang="en-US" sz="1240" dirty="0"/>
          </a:p>
        </p:txBody>
      </p:sp>
      <p:sp>
        <p:nvSpPr>
          <p:cNvPr id="25" name="Text 23"/>
          <p:cNvSpPr/>
          <p:nvPr/>
        </p:nvSpPr>
        <p:spPr>
          <a:xfrm>
            <a:off x="667512"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Coat steel; protect and inspect bamboo.</a:t>
            </a:r>
            <a:endParaRPr lang="en-US" sz="1380" dirty="0"/>
          </a:p>
        </p:txBody>
      </p:sp>
      <p:sp>
        <p:nvSpPr>
          <p:cNvPr id="26" name="Shape 24"/>
          <p:cNvSpPr/>
          <p:nvPr/>
        </p:nvSpPr>
        <p:spPr>
          <a:xfrm>
            <a:off x="2871216" y="5047488"/>
            <a:ext cx="2029968" cy="0"/>
          </a:xfrm>
          <a:prstGeom prst="line">
            <a:avLst/>
          </a:prstGeom>
          <a:noFill/>
          <a:ln w="12700">
            <a:solidFill>
              <a:srgbClr val="AA7E4A"/>
            </a:solidFill>
            <a:prstDash val="solid"/>
          </a:ln>
        </p:spPr>
      </p:sp>
      <p:sp>
        <p:nvSpPr>
          <p:cNvPr id="27" name="Text 25"/>
          <p:cNvSpPr/>
          <p:nvPr/>
        </p:nvSpPr>
        <p:spPr>
          <a:xfrm>
            <a:off x="2871216"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COST</a:t>
            </a:r>
            <a:endParaRPr lang="en-US" sz="1240" dirty="0"/>
          </a:p>
        </p:txBody>
      </p:sp>
      <p:sp>
        <p:nvSpPr>
          <p:cNvPr id="28" name="Text 26"/>
          <p:cNvSpPr/>
          <p:nvPr/>
        </p:nvSpPr>
        <p:spPr>
          <a:xfrm>
            <a:off x="2871216"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Include joints, installation and care.</a:t>
            </a:r>
            <a:endParaRPr lang="en-US" sz="1380" dirty="0"/>
          </a:p>
        </p:txBody>
      </p:sp>
      <p:sp>
        <p:nvSpPr>
          <p:cNvPr id="29" name="Shape 27"/>
          <p:cNvSpPr/>
          <p:nvPr/>
        </p:nvSpPr>
        <p:spPr>
          <a:xfrm>
            <a:off x="5074920" y="5047488"/>
            <a:ext cx="2029968" cy="0"/>
          </a:xfrm>
          <a:prstGeom prst="line">
            <a:avLst/>
          </a:prstGeom>
          <a:noFill/>
          <a:ln w="12700">
            <a:solidFill>
              <a:srgbClr val="AA7E4A"/>
            </a:solidFill>
            <a:prstDash val="solid"/>
          </a:ln>
        </p:spPr>
      </p:sp>
      <p:sp>
        <p:nvSpPr>
          <p:cNvPr id="30" name="Text 28"/>
          <p:cNvSpPr/>
          <p:nvPr/>
        </p:nvSpPr>
        <p:spPr>
          <a:xfrm>
            <a:off x="5074920"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CONDUCTIVITY</a:t>
            </a:r>
            <a:endParaRPr lang="en-US" sz="1240" dirty="0"/>
          </a:p>
        </p:txBody>
      </p:sp>
      <p:sp>
        <p:nvSpPr>
          <p:cNvPr id="31" name="Text 29"/>
          <p:cNvSpPr/>
          <p:nvPr/>
        </p:nvSpPr>
        <p:spPr>
          <a:xfrm>
            <a:off x="5074920"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A material property, not a cooling result.</a:t>
            </a:r>
            <a:endParaRPr lang="en-US" sz="1380" dirty="0"/>
          </a:p>
        </p:txBody>
      </p:sp>
      <p:sp>
        <p:nvSpPr>
          <p:cNvPr id="32" name="Shape 30"/>
          <p:cNvSpPr/>
          <p:nvPr/>
        </p:nvSpPr>
        <p:spPr>
          <a:xfrm>
            <a:off x="7278624" y="5047488"/>
            <a:ext cx="2029968" cy="0"/>
          </a:xfrm>
          <a:prstGeom prst="line">
            <a:avLst/>
          </a:prstGeom>
          <a:noFill/>
          <a:ln w="12700">
            <a:solidFill>
              <a:srgbClr val="AA7E4A"/>
            </a:solidFill>
            <a:prstDash val="solid"/>
          </a:ln>
        </p:spPr>
      </p:sp>
      <p:sp>
        <p:nvSpPr>
          <p:cNvPr id="33" name="Text 31"/>
          <p:cNvSpPr/>
          <p:nvPr/>
        </p:nvSpPr>
        <p:spPr>
          <a:xfrm>
            <a:off x="7278624"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CARBON</a:t>
            </a:r>
            <a:endParaRPr lang="en-US" sz="1240" dirty="0"/>
          </a:p>
        </p:txBody>
      </p:sp>
      <p:sp>
        <p:nvSpPr>
          <p:cNvPr id="34" name="Text 32"/>
          <p:cNvSpPr/>
          <p:nvPr/>
        </p:nvSpPr>
        <p:spPr>
          <a:xfrm>
            <a:off x="7278624"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Verify product factors and boundaries.</a:t>
            </a:r>
            <a:endParaRPr lang="en-US" sz="1380" dirty="0"/>
          </a:p>
        </p:txBody>
      </p:sp>
      <p:sp>
        <p:nvSpPr>
          <p:cNvPr id="35" name="Shape 33"/>
          <p:cNvSpPr/>
          <p:nvPr/>
        </p:nvSpPr>
        <p:spPr>
          <a:xfrm>
            <a:off x="9482328" y="5047488"/>
            <a:ext cx="2029968" cy="0"/>
          </a:xfrm>
          <a:prstGeom prst="line">
            <a:avLst/>
          </a:prstGeom>
          <a:noFill/>
          <a:ln w="12700">
            <a:solidFill>
              <a:srgbClr val="AA7E4A"/>
            </a:solidFill>
            <a:prstDash val="solid"/>
          </a:ln>
        </p:spPr>
      </p:sp>
      <p:sp>
        <p:nvSpPr>
          <p:cNvPr id="36" name="Text 34"/>
          <p:cNvSpPr/>
          <p:nvPr/>
        </p:nvSpPr>
        <p:spPr>
          <a:xfrm>
            <a:off x="9482328"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ADAPTABILITY</a:t>
            </a:r>
            <a:endParaRPr lang="en-US" sz="1240" dirty="0"/>
          </a:p>
        </p:txBody>
      </p:sp>
      <p:sp>
        <p:nvSpPr>
          <p:cNvPr id="37" name="Text 35"/>
          <p:cNvSpPr/>
          <p:nvPr/>
        </p:nvSpPr>
        <p:spPr>
          <a:xfrm>
            <a:off x="9482328"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Check moisture, UV and local supply.</a:t>
            </a:r>
            <a:endParaRPr lang="en-US" sz="1380" dirty="0"/>
          </a:p>
        </p:txBody>
      </p:sp>
      <p:sp>
        <p:nvSpPr>
          <p:cNvPr id="38" name="Text 36"/>
          <p:cNvSpPr/>
          <p:nvPr/>
        </p:nvSpPr>
        <p:spPr>
          <a:xfrm>
            <a:off x="749808" y="6135624"/>
            <a:ext cx="10735056" cy="210312"/>
          </a:xfrm>
          <a:prstGeom prst="rect">
            <a:avLst/>
          </a:prstGeom>
          <a:noFill/>
          <a:ln/>
        </p:spPr>
        <p:txBody>
          <a:bodyPr wrap="square" lIns="0" tIns="0" rIns="0" bIns="0" rtlCol="0" anchor="ctr"/>
          <a:lstStyle/>
          <a:p>
            <a:pPr algn="ctr" indent="0" marL="0">
              <a:buNone/>
            </a:pPr>
            <a:r>
              <a:rPr lang="en-US" sz="1400" b="1" dirty="0">
                <a:solidFill>
                  <a:srgbClr val="173C51"/>
                </a:solidFill>
                <a:latin typeface="Noto Sans" pitchFamily="34" charset="0"/>
                <a:ea typeface="Noto Sans" pitchFamily="34" charset="-122"/>
                <a:cs typeface="Noto Sans" pitchFamily="34" charset="-120"/>
              </a:rPr>
              <a:t>Source decision: bamboo crown + steel supports; node rotational stiffness still requires verification.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CONNECTIONS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beam check sets a requirement for the joint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Same member and loading assumptions; different ideal end restraints produce different deflections.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P3 beam check: self-weight + assumed wet foliage 18 kg/m² (plant input, p10). E = 10 GPa and L/200 are adopted inputs.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07</a:t>
            </a:r>
            <a:endParaRPr lang="en-US" sz="1000" dirty="0"/>
          </a:p>
        </p:txBody>
      </p:sp>
      <p:sp>
        <p:nvSpPr>
          <p:cNvPr id="15" name="Shape 13"/>
          <p:cNvSpPr/>
          <p:nvPr/>
        </p:nvSpPr>
        <p:spPr>
          <a:xfrm>
            <a:off x="694944" y="2048256"/>
            <a:ext cx="5961888" cy="411480"/>
          </a:xfrm>
          <a:prstGeom prst="rect">
            <a:avLst>
              <a:gd name="adj" fmla="val 22222"/>
            </a:avLst>
          </a:prstGeom>
          <a:solidFill>
            <a:srgbClr val="EDF1E9"/>
          </a:solidFill>
          <a:ln w="7620">
            <a:solidFill>
              <a:srgbClr val="EDF1E9"/>
            </a:solidFill>
            <a:prstDash val="solid"/>
          </a:ln>
        </p:spPr>
      </p:sp>
      <p:sp>
        <p:nvSpPr>
          <p:cNvPr id="16" name="Text 14"/>
          <p:cNvSpPr/>
          <p:nvPr/>
        </p:nvSpPr>
        <p:spPr>
          <a:xfrm>
            <a:off x="804672" y="2112264"/>
            <a:ext cx="5742432"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SIMPLIFIED MEMBER: L = 6.65 m  ·  SOLID Ø80 mm</a:t>
            </a:r>
            <a:endParaRPr lang="en-US" sz="1400" dirty="0"/>
          </a:p>
        </p:txBody>
      </p:sp>
      <p:sp>
        <p:nvSpPr>
          <p:cNvPr id="17" name="Shape 15"/>
          <p:cNvSpPr/>
          <p:nvPr/>
        </p:nvSpPr>
        <p:spPr>
          <a:xfrm>
            <a:off x="1170432" y="2816352"/>
            <a:ext cx="4754880" cy="0"/>
          </a:xfrm>
          <a:prstGeom prst="line">
            <a:avLst/>
          </a:prstGeom>
          <a:noFill/>
          <a:ln w="50800">
            <a:solidFill>
              <a:srgbClr val="AA7E4A"/>
            </a:solidFill>
            <a:prstDash val="solid"/>
          </a:ln>
        </p:spPr>
      </p:sp>
      <p:sp>
        <p:nvSpPr>
          <p:cNvPr id="18" name="Shape 16"/>
          <p:cNvSpPr/>
          <p:nvPr/>
        </p:nvSpPr>
        <p:spPr>
          <a:xfrm>
            <a:off x="1170432" y="2816352"/>
            <a:ext cx="0" cy="146304"/>
          </a:xfrm>
          <a:prstGeom prst="line">
            <a:avLst/>
          </a:prstGeom>
          <a:noFill/>
          <a:ln w="19050">
            <a:solidFill>
              <a:srgbClr val="173C51"/>
            </a:solidFill>
            <a:prstDash val="solid"/>
          </a:ln>
        </p:spPr>
      </p:sp>
      <p:sp>
        <p:nvSpPr>
          <p:cNvPr id="19" name="Shape 17"/>
          <p:cNvSpPr/>
          <p:nvPr/>
        </p:nvSpPr>
        <p:spPr>
          <a:xfrm>
            <a:off x="5925312" y="2816352"/>
            <a:ext cx="0" cy="146304"/>
          </a:xfrm>
          <a:prstGeom prst="line">
            <a:avLst/>
          </a:prstGeom>
          <a:noFill/>
          <a:ln w="19050">
            <a:solidFill>
              <a:srgbClr val="173C51"/>
            </a:solidFill>
            <a:prstDash val="solid"/>
          </a:ln>
        </p:spPr>
      </p:sp>
      <p:sp>
        <p:nvSpPr>
          <p:cNvPr id="20" name="Shape 18"/>
          <p:cNvSpPr/>
          <p:nvPr/>
        </p:nvSpPr>
        <p:spPr>
          <a:xfrm>
            <a:off x="1481328" y="2578608"/>
            <a:ext cx="0" cy="173736"/>
          </a:xfrm>
          <a:prstGeom prst="line">
            <a:avLst/>
          </a:prstGeom>
          <a:noFill/>
          <a:ln w="12700">
            <a:solidFill>
              <a:srgbClr val="66736D"/>
            </a:solidFill>
            <a:prstDash val="solid"/>
            <a:tailEnd type="triangle"/>
          </a:ln>
        </p:spPr>
      </p:sp>
      <p:sp>
        <p:nvSpPr>
          <p:cNvPr id="21" name="Shape 19"/>
          <p:cNvSpPr/>
          <p:nvPr/>
        </p:nvSpPr>
        <p:spPr>
          <a:xfrm>
            <a:off x="2249424" y="2578608"/>
            <a:ext cx="0" cy="173736"/>
          </a:xfrm>
          <a:prstGeom prst="line">
            <a:avLst/>
          </a:prstGeom>
          <a:noFill/>
          <a:ln w="12700">
            <a:solidFill>
              <a:srgbClr val="66736D"/>
            </a:solidFill>
            <a:prstDash val="solid"/>
            <a:tailEnd type="triangle"/>
          </a:ln>
        </p:spPr>
      </p:sp>
      <p:sp>
        <p:nvSpPr>
          <p:cNvPr id="22" name="Shape 20"/>
          <p:cNvSpPr/>
          <p:nvPr/>
        </p:nvSpPr>
        <p:spPr>
          <a:xfrm>
            <a:off x="3017520" y="2578608"/>
            <a:ext cx="0" cy="173736"/>
          </a:xfrm>
          <a:prstGeom prst="line">
            <a:avLst/>
          </a:prstGeom>
          <a:noFill/>
          <a:ln w="12700">
            <a:solidFill>
              <a:srgbClr val="66736D"/>
            </a:solidFill>
            <a:prstDash val="solid"/>
            <a:tailEnd type="triangle"/>
          </a:ln>
        </p:spPr>
      </p:sp>
      <p:sp>
        <p:nvSpPr>
          <p:cNvPr id="23" name="Shape 21"/>
          <p:cNvSpPr/>
          <p:nvPr/>
        </p:nvSpPr>
        <p:spPr>
          <a:xfrm>
            <a:off x="3785616" y="2578608"/>
            <a:ext cx="0" cy="173736"/>
          </a:xfrm>
          <a:prstGeom prst="line">
            <a:avLst/>
          </a:prstGeom>
          <a:noFill/>
          <a:ln w="12700">
            <a:solidFill>
              <a:srgbClr val="66736D"/>
            </a:solidFill>
            <a:prstDash val="solid"/>
            <a:tailEnd type="triangle"/>
          </a:ln>
        </p:spPr>
      </p:sp>
      <p:sp>
        <p:nvSpPr>
          <p:cNvPr id="24" name="Shape 22"/>
          <p:cNvSpPr/>
          <p:nvPr/>
        </p:nvSpPr>
        <p:spPr>
          <a:xfrm>
            <a:off x="4553712" y="2578608"/>
            <a:ext cx="0" cy="173736"/>
          </a:xfrm>
          <a:prstGeom prst="line">
            <a:avLst/>
          </a:prstGeom>
          <a:noFill/>
          <a:ln w="12700">
            <a:solidFill>
              <a:srgbClr val="66736D"/>
            </a:solidFill>
            <a:prstDash val="solid"/>
            <a:tailEnd type="triangle"/>
          </a:ln>
        </p:spPr>
      </p:sp>
      <p:sp>
        <p:nvSpPr>
          <p:cNvPr id="25" name="Shape 23"/>
          <p:cNvSpPr/>
          <p:nvPr/>
        </p:nvSpPr>
        <p:spPr>
          <a:xfrm>
            <a:off x="5321808" y="2578608"/>
            <a:ext cx="0" cy="173736"/>
          </a:xfrm>
          <a:prstGeom prst="line">
            <a:avLst/>
          </a:prstGeom>
          <a:noFill/>
          <a:ln w="12700">
            <a:solidFill>
              <a:srgbClr val="66736D"/>
            </a:solidFill>
            <a:prstDash val="solid"/>
            <a:tailEnd type="triangle"/>
          </a:ln>
        </p:spPr>
      </p:sp>
      <p:graphicFrame>
        <p:nvGraphicFramePr>
          <p:cNvPr id="26" name="Chart 0" descr=""/>
          <p:cNvGraphicFramePr/>
          <p:nvPr/>
        </p:nvGraphicFramePr>
        <p:xfrm>
          <a:off x="576072" y="3108960"/>
          <a:ext cx="6208776" cy="2331720"/>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p:nvPr/>
        </p:nvSpPr>
        <p:spPr>
          <a:xfrm>
            <a:off x="758952" y="5650992"/>
            <a:ext cx="6080760" cy="566928"/>
          </a:xfrm>
          <a:prstGeom prst="rect">
            <a:avLst/>
          </a:prstGeom>
          <a:noFill/>
          <a:ln/>
        </p:spPr>
        <p:txBody>
          <a:bodyPr wrap="square" lIns="0" tIns="0" rIns="0" bIns="0" rtlCol="0" anchor="ctr"/>
          <a:lstStyle/>
          <a:p>
            <a:pPr indent="0" marL="0">
              <a:buNone/>
            </a:pPr>
            <a:r>
              <a:rPr lang="en-US" sz="1540" b="1" dirty="0">
                <a:solidFill>
                  <a:srgbClr val="173C51"/>
                </a:solidFill>
                <a:latin typeface="Noto Sans" pitchFamily="34" charset="0"/>
                <a:ea typeface="Noto Sans" pitchFamily="34" charset="-122"/>
                <a:cs typeface="Noto Sans" pitchFamily="34" charset="-120"/>
              </a:rPr>
              <a:t>Simple support: 3.02 × target   |   Ideal fixity: 0.60 × target</a:t>
            </a:r>
            <a:endParaRPr lang="en-US" sz="1540" dirty="0"/>
          </a:p>
        </p:txBody>
      </p:sp>
      <p:sp>
        <p:nvSpPr>
          <p:cNvPr id="28" name="Shape 25"/>
          <p:cNvSpPr/>
          <p:nvPr/>
        </p:nvSpPr>
        <p:spPr>
          <a:xfrm>
            <a:off x="7351776" y="2057400"/>
            <a:ext cx="4096512" cy="3401568"/>
          </a:xfrm>
          <a:prstGeom prst="rect">
            <a:avLst>
              <a:gd name="adj" fmla="val 2688"/>
            </a:avLst>
          </a:prstGeom>
          <a:solidFill>
            <a:srgbClr val="EDF1E9"/>
          </a:solidFill>
          <a:ln w="7620">
            <a:solidFill>
              <a:srgbClr val="D9DDD2"/>
            </a:solidFill>
            <a:prstDash val="solid"/>
          </a:ln>
        </p:spPr>
      </p:sp>
      <p:sp>
        <p:nvSpPr>
          <p:cNvPr id="29" name="Text 26"/>
          <p:cNvSpPr/>
          <p:nvPr/>
        </p:nvSpPr>
        <p:spPr>
          <a:xfrm>
            <a:off x="7543800" y="2240280"/>
            <a:ext cx="3694176" cy="402336"/>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PROPOSED SUPPORT-HEAD NODE</a:t>
            </a:r>
            <a:endParaRPr lang="en-US" sz="1550" dirty="0"/>
          </a:p>
        </p:txBody>
      </p:sp>
      <p:sp>
        <p:nvSpPr>
          <p:cNvPr id="30" name="Shape 27"/>
          <p:cNvSpPr/>
          <p:nvPr/>
        </p:nvSpPr>
        <p:spPr>
          <a:xfrm>
            <a:off x="8247888" y="4370832"/>
            <a:ext cx="0" cy="-1170432"/>
          </a:xfrm>
          <a:prstGeom prst="line">
            <a:avLst/>
          </a:prstGeom>
          <a:noFill/>
          <a:ln w="165100">
            <a:solidFill>
              <a:srgbClr val="3E6E9E"/>
            </a:solidFill>
            <a:prstDash val="solid"/>
          </a:ln>
        </p:spPr>
      </p:sp>
      <p:sp>
        <p:nvSpPr>
          <p:cNvPr id="31" name="Shape 28"/>
          <p:cNvSpPr/>
          <p:nvPr/>
        </p:nvSpPr>
        <p:spPr>
          <a:xfrm>
            <a:off x="8247888" y="3200400"/>
            <a:ext cx="2194560" cy="-429768"/>
          </a:xfrm>
          <a:prstGeom prst="line">
            <a:avLst/>
          </a:prstGeom>
          <a:noFill/>
          <a:ln w="139700">
            <a:solidFill>
              <a:srgbClr val="AA7E4A"/>
            </a:solidFill>
            <a:prstDash val="solid"/>
          </a:ln>
        </p:spPr>
      </p:sp>
      <p:sp>
        <p:nvSpPr>
          <p:cNvPr id="32" name="Shape 29"/>
          <p:cNvSpPr/>
          <p:nvPr/>
        </p:nvSpPr>
        <p:spPr>
          <a:xfrm>
            <a:off x="7991856" y="3026664"/>
            <a:ext cx="566928" cy="384048"/>
          </a:xfrm>
          <a:prstGeom prst="rect">
            <a:avLst>
              <a:gd name="adj" fmla="val 23810"/>
            </a:avLst>
          </a:prstGeom>
          <a:solidFill>
            <a:srgbClr val="CED8DD"/>
          </a:solidFill>
          <a:ln w="7620">
            <a:solidFill>
              <a:srgbClr val="3E6E9E"/>
            </a:solidFill>
            <a:prstDash val="solid"/>
          </a:ln>
        </p:spPr>
      </p:sp>
      <p:sp>
        <p:nvSpPr>
          <p:cNvPr id="33" name="Shape 30"/>
          <p:cNvSpPr/>
          <p:nvPr/>
        </p:nvSpPr>
        <p:spPr>
          <a:xfrm>
            <a:off x="8101584" y="3090672"/>
            <a:ext cx="137160" cy="137160"/>
          </a:xfrm>
          <a:prstGeom prst="ellipse">
            <a:avLst/>
          </a:prstGeom>
          <a:solidFill>
            <a:srgbClr val="F8F7F2"/>
          </a:solidFill>
          <a:ln w="12700">
            <a:solidFill>
              <a:srgbClr val="173C51"/>
            </a:solidFill>
            <a:prstDash val="solid"/>
          </a:ln>
        </p:spPr>
      </p:sp>
      <p:sp>
        <p:nvSpPr>
          <p:cNvPr id="34" name="Text 31"/>
          <p:cNvSpPr/>
          <p:nvPr/>
        </p:nvSpPr>
        <p:spPr>
          <a:xfrm>
            <a:off x="7552944" y="4590288"/>
            <a:ext cx="3685032" cy="338328"/>
          </a:xfrm>
          <a:prstGeom prst="rect">
            <a:avLst/>
          </a:prstGeom>
          <a:noFill/>
          <a:ln/>
        </p:spPr>
        <p:txBody>
          <a:bodyPr wrap="square" lIns="0" tIns="0" rIns="0" bIns="0" rtlCol="0" anchor="ctr"/>
          <a:lstStyle/>
          <a:p>
            <a:pPr indent="0" marL="0">
              <a:buNone/>
            </a:pPr>
            <a:r>
              <a:rPr lang="en-US" sz="1500" dirty="0">
                <a:solidFill>
                  <a:srgbClr val="34434A"/>
                </a:solidFill>
                <a:latin typeface="Noto Sans" pitchFamily="34" charset="0"/>
                <a:ea typeface="Noto Sans" pitchFamily="34" charset="-122"/>
                <a:cs typeface="Noto Sans" pitchFamily="34" charset="-120"/>
              </a:rPr>
              <a:t>Plate + sleeve + adhesive + bolts</a:t>
            </a:r>
            <a:endParaRPr lang="en-US" sz="1500" dirty="0"/>
          </a:p>
        </p:txBody>
      </p:sp>
      <p:sp>
        <p:nvSpPr>
          <p:cNvPr id="35" name="Text 32"/>
          <p:cNvSpPr/>
          <p:nvPr/>
        </p:nvSpPr>
        <p:spPr>
          <a:xfrm>
            <a:off x="7552944" y="5074920"/>
            <a:ext cx="3685032" cy="24688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Concept: restraint is not yet demonstrated.</a:t>
            </a:r>
            <a:endParaRPr lang="en-US" sz="1250" dirty="0"/>
          </a:p>
        </p:txBody>
      </p:sp>
      <p:sp>
        <p:nvSpPr>
          <p:cNvPr id="36" name="Text 33"/>
          <p:cNvSpPr/>
          <p:nvPr/>
        </p:nvSpPr>
        <p:spPr>
          <a:xfrm>
            <a:off x="7370064" y="5632704"/>
            <a:ext cx="4078224" cy="566928"/>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Next: verify joint rotation and whole-frame behaviour before claiming compliance.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BUDGET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unit budget includes fabrication, installation and care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Preliminary total: CNY 51,676 per unit—not simply the price of the members.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Cost-Analysis.xlsx (P3). All rates remain reference estimates rather than confirmed quotations.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08</a:t>
            </a:r>
            <a:endParaRPr lang="en-US" sz="1000" dirty="0"/>
          </a:p>
        </p:txBody>
      </p:sp>
      <p:graphicFrame>
        <p:nvGraphicFramePr>
          <p:cNvPr id="15" name="Chart 0" descr=""/>
          <p:cNvGraphicFramePr/>
          <p:nvPr/>
        </p:nvGraphicFramePr>
        <p:xfrm>
          <a:off x="530352" y="2029968"/>
          <a:ext cx="6446520" cy="3877056"/>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24344" y="2084832"/>
            <a:ext cx="405079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7434072" y="2148840"/>
            <a:ext cx="383133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MATERIALS = 59.1% OF TOTAL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42632" y="2798064"/>
          <a:ext cx="4050792" cy="914400"/>
        </p:xfrm>
        <a:graphic>
          <a:graphicData uri="http://schemas.openxmlformats.org/drawingml/2006/table">
            <a:tbl>
              <a:tblPr/>
              <a:tblGrid>
                <a:gridCol w="2898648"/>
                <a:gridCol w="1152144"/>
              </a:tblGrid>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KEY COMPONENT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CNY</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Bamboo crown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7,716</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Steel supports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4,421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 rigid-head nodes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12,000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Counterweight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3,402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7370064" y="5495544"/>
            <a:ext cx="3986784" cy="603504"/>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These component rows are part of the full total. Nodes are a larger allowance than the primary steel members.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CARBON &amp; MAINTENANCE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Account for the members, base and maintenance needs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Current carbon estimate: approximately 2,820 kgCO₂e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Workbook estimate (P3). Factor boundaries and node inclusion require checking; no biogenic-carbon credit is taken.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09</a:t>
            </a:r>
            <a:endParaRPr lang="en-US" sz="1000" dirty="0"/>
          </a:p>
        </p:txBody>
      </p:sp>
      <p:graphicFrame>
        <p:nvGraphicFramePr>
          <p:cNvPr id="15" name="Chart 0" descr=""/>
          <p:cNvGraphicFramePr/>
          <p:nvPr/>
        </p:nvGraphicFramePr>
        <p:xfrm>
          <a:off x="530352" y="2039112"/>
          <a:ext cx="5431536" cy="34290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481328" y="3255264"/>
            <a:ext cx="3502152" cy="566928"/>
          </a:xfrm>
          <a:prstGeom prst="rect">
            <a:avLst/>
          </a:prstGeom>
          <a:noFill/>
          <a:ln/>
        </p:spPr>
        <p:txBody>
          <a:bodyPr wrap="square" lIns="0" tIns="0" rIns="0" bIns="0" rtlCol="0" anchor="ctr"/>
          <a:lstStyle/>
          <a:p>
            <a:pPr algn="ctr" indent="0" marL="0">
              <a:buNone/>
            </a:pPr>
            <a:r>
              <a:rPr lang="en-US" sz="3000" b="1" dirty="0">
                <a:solidFill>
                  <a:srgbClr val="173C51"/>
                </a:solidFill>
                <a:latin typeface="Noto Serif" pitchFamily="34" charset="0"/>
                <a:ea typeface="Noto Serif" pitchFamily="34" charset="-122"/>
                <a:cs typeface="Noto Serif" pitchFamily="34" charset="-120"/>
              </a:rPr>
              <a:t>≈ 2,820</a:t>
            </a:r>
            <a:endParaRPr lang="en-US" sz="3000" dirty="0"/>
          </a:p>
        </p:txBody>
      </p:sp>
      <p:sp>
        <p:nvSpPr>
          <p:cNvPr id="17" name="Text 14"/>
          <p:cNvSpPr/>
          <p:nvPr/>
        </p:nvSpPr>
        <p:spPr>
          <a:xfrm>
            <a:off x="1572768" y="3822192"/>
            <a:ext cx="3319272" cy="246888"/>
          </a:xfrm>
          <a:prstGeom prst="rect">
            <a:avLst/>
          </a:prstGeom>
          <a:noFill/>
          <a:ln/>
        </p:spPr>
        <p:txBody>
          <a:bodyPr wrap="square" lIns="0" tIns="0" rIns="0" bIns="0" rtlCol="0" anchor="ctr"/>
          <a:lstStyle/>
          <a:p>
            <a:pPr algn="ctr" indent="0" marL="0">
              <a:buNone/>
            </a:pPr>
            <a:r>
              <a:rPr lang="en-US" sz="1600" dirty="0">
                <a:solidFill>
                  <a:srgbClr val="66736D"/>
                </a:solidFill>
                <a:latin typeface="Noto Sans" pitchFamily="34" charset="0"/>
                <a:ea typeface="Noto Sans" pitchFamily="34" charset="-122"/>
                <a:cs typeface="Noto Sans" pitchFamily="34" charset="-120"/>
              </a:rPr>
              <a:t>kgCO₂e / unit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2331720"/>
          <a:ext cx="5010912" cy="914400"/>
        </p:xfrm>
        <a:graphic>
          <a:graphicData uri="http://schemas.openxmlformats.org/drawingml/2006/table">
            <a:tbl>
              <a:tblPr/>
              <a:tblGrid>
                <a:gridCol w="3657600"/>
                <a:gridCol w="1353312"/>
              </a:tblGrid>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CONTRIBUTOR</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kgCO₂e</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Primary members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1,581</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Counterweight</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1,089</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Other components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150</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6437376" y="4791456"/>
            <a:ext cx="4937760" cy="356616"/>
          </a:xfrm>
          <a:prstGeom prst="rect">
            <a:avLst/>
          </a:prstGeom>
          <a:noFill/>
          <a:ln/>
        </p:spPr>
        <p:txBody>
          <a:bodyPr wrap="square" lIns="0" tIns="0" rIns="0" bIns="0" rtlCol="0" anchor="ctr"/>
          <a:lstStyle/>
          <a:p>
            <a:pPr indent="0" marL="0">
              <a:buNone/>
            </a:pPr>
            <a:r>
              <a:rPr lang="en-US" sz="1800" b="1" dirty="0">
                <a:solidFill>
                  <a:srgbClr val="346A55"/>
                </a:solidFill>
                <a:latin typeface="Noto Sans" pitchFamily="34" charset="0"/>
                <a:ea typeface="Noto Sans" pitchFamily="34" charset="-122"/>
                <a:cs typeface="Noto Sans" pitchFamily="34" charset="-120"/>
              </a:rPr>
              <a:t>Counterweight ≈ 39% of the current estimate</a:t>
            </a:r>
            <a:endParaRPr lang="en-US" sz="1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13232" y="5541264"/>
          <a:ext cx="10771632" cy="914400"/>
        </p:xfrm>
        <a:graphic>
          <a:graphicData uri="http://schemas.openxmlformats.org/drawingml/2006/table">
            <a:tbl>
              <a:tblPr/>
              <a:tblGrid>
                <a:gridCol w="3566160"/>
                <a:gridCol w="3566160"/>
                <a:gridCol w="3639312"/>
              </a:tblGrid>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STEEL</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BAMBOO</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CONNECTIONS</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Protect coating</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Treat and inspect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Check fixings and grout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PLANTING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Link the planting screen to the assumed load</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Source mix: 2 Boston ivy + 1 Rangoon creeper; local suitability and attachment still need confirmation.</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*Wet mass: workbook P3 screening ranges; primary sources and area basis remain unverified. Not measured plant loads.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10</a:t>
            </a:r>
            <a:endParaRPr lang="en-US" sz="1000" dirty="0"/>
          </a:p>
        </p:txBody>
      </p:sp>
      <p:sp>
        <p:nvSpPr>
          <p:cNvPr id="15" name="Text 13"/>
          <p:cNvSpPr/>
          <p:nvPr/>
        </p:nvSpPr>
        <p:spPr>
          <a:xfrm>
            <a:off x="722376" y="1947672"/>
            <a:ext cx="10789920" cy="237744"/>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SCREENING INTENT: seasonal leaf loss + attachment to Ø80 rods</a:t>
            </a:r>
            <a:endParaRPr lang="en-US" sz="1400" dirty="0"/>
          </a:p>
        </p:txBody>
      </p:sp>
      <p:sp>
        <p:nvSpPr>
          <p:cNvPr id="16" name="Shape 14"/>
          <p:cNvSpPr/>
          <p:nvPr/>
        </p:nvSpPr>
        <p:spPr>
          <a:xfrm>
            <a:off x="621792" y="2350008"/>
            <a:ext cx="3602736" cy="2816352"/>
          </a:xfrm>
          <a:prstGeom prst="rect">
            <a:avLst>
              <a:gd name="adj" fmla="val 3247"/>
            </a:avLst>
          </a:prstGeom>
          <a:solidFill>
            <a:srgbClr val="EDF1E9"/>
          </a:solidFill>
          <a:ln w="7620">
            <a:solidFill>
              <a:srgbClr val="D9DDD2"/>
            </a:solidFill>
            <a:prstDash val="solid"/>
          </a:ln>
        </p:spPr>
      </p:sp>
      <p:sp>
        <p:nvSpPr>
          <p:cNvPr id="17" name="Text 15"/>
          <p:cNvSpPr/>
          <p:nvPr/>
        </p:nvSpPr>
        <p:spPr>
          <a:xfrm>
            <a:off x="804672" y="2532888"/>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PRIMARY • 2 PLANTS</a:t>
            </a:r>
            <a:endParaRPr lang="en-US" sz="1300" dirty="0"/>
          </a:p>
        </p:txBody>
      </p:sp>
      <p:sp>
        <p:nvSpPr>
          <p:cNvPr id="18" name="Text 16"/>
          <p:cNvSpPr/>
          <p:nvPr/>
        </p:nvSpPr>
        <p:spPr>
          <a:xfrm>
            <a:off x="804672" y="2926080"/>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Boston ivy</a:t>
            </a:r>
            <a:endParaRPr lang="en-US" sz="2300" dirty="0"/>
          </a:p>
        </p:txBody>
      </p:sp>
      <p:sp>
        <p:nvSpPr>
          <p:cNvPr id="19" name="Text 17"/>
          <p:cNvSpPr/>
          <p:nvPr/>
        </p:nvSpPr>
        <p:spPr>
          <a:xfrm>
            <a:off x="804672" y="3419856"/>
            <a:ext cx="3236976" cy="274320"/>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Parthenocissus tricuspidata</a:t>
            </a:r>
            <a:endParaRPr lang="en-US" sz="1400" dirty="0"/>
          </a:p>
        </p:txBody>
      </p:sp>
      <p:sp>
        <p:nvSpPr>
          <p:cNvPr id="20" name="Text 18"/>
          <p:cNvSpPr/>
          <p:nvPr/>
        </p:nvSpPr>
        <p:spPr>
          <a:xfrm>
            <a:off x="804672" y="3904488"/>
            <a:ext cx="3236976" cy="39319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Tendrils with adhesive pads</a:t>
            </a:r>
            <a:endParaRPr lang="en-US" sz="1600" dirty="0"/>
          </a:p>
        </p:txBody>
      </p:sp>
      <p:sp>
        <p:nvSpPr>
          <p:cNvPr id="21" name="Text 19"/>
          <p:cNvSpPr/>
          <p:nvPr/>
        </p:nvSpPr>
        <p:spPr>
          <a:xfrm>
            <a:off x="804672" y="4489704"/>
            <a:ext cx="3236976" cy="283464"/>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Wet mass*: 10–18 kg/m²</a:t>
            </a:r>
            <a:endParaRPr lang="en-US" sz="1550" dirty="0"/>
          </a:p>
        </p:txBody>
      </p:sp>
      <p:sp>
        <p:nvSpPr>
          <p:cNvPr id="22" name="Text 20"/>
          <p:cNvSpPr/>
          <p:nvPr/>
        </p:nvSpPr>
        <p:spPr>
          <a:xfrm>
            <a:off x="804672" y="4892040"/>
            <a:ext cx="3236976" cy="21031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Confirm support attachment.</a:t>
            </a:r>
            <a:endParaRPr lang="en-US" sz="1250" dirty="0"/>
          </a:p>
        </p:txBody>
      </p:sp>
      <p:sp>
        <p:nvSpPr>
          <p:cNvPr id="23" name="Shape 21"/>
          <p:cNvSpPr/>
          <p:nvPr/>
        </p:nvSpPr>
        <p:spPr>
          <a:xfrm>
            <a:off x="4416552" y="2350008"/>
            <a:ext cx="3602736" cy="2816352"/>
          </a:xfrm>
          <a:prstGeom prst="rect">
            <a:avLst>
              <a:gd name="adj" fmla="val 3247"/>
            </a:avLst>
          </a:prstGeom>
          <a:solidFill>
            <a:srgbClr val="EDF1E9"/>
          </a:solidFill>
          <a:ln w="7620">
            <a:solidFill>
              <a:srgbClr val="D9DDD2"/>
            </a:solidFill>
            <a:prstDash val="solid"/>
          </a:ln>
        </p:spPr>
      </p:sp>
      <p:sp>
        <p:nvSpPr>
          <p:cNvPr id="24" name="Text 22"/>
          <p:cNvSpPr/>
          <p:nvPr/>
        </p:nvSpPr>
        <p:spPr>
          <a:xfrm>
            <a:off x="4599432" y="2532888"/>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COMPANION • 1 PLANT</a:t>
            </a:r>
            <a:endParaRPr lang="en-US" sz="1300" dirty="0"/>
          </a:p>
        </p:txBody>
      </p:sp>
      <p:sp>
        <p:nvSpPr>
          <p:cNvPr id="25" name="Text 23"/>
          <p:cNvSpPr/>
          <p:nvPr/>
        </p:nvSpPr>
        <p:spPr>
          <a:xfrm>
            <a:off x="4599432" y="2926080"/>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Rangoon creeper</a:t>
            </a:r>
            <a:endParaRPr lang="en-US" sz="2300" dirty="0"/>
          </a:p>
        </p:txBody>
      </p:sp>
      <p:sp>
        <p:nvSpPr>
          <p:cNvPr id="26" name="Text 24"/>
          <p:cNvSpPr/>
          <p:nvPr/>
        </p:nvSpPr>
        <p:spPr>
          <a:xfrm>
            <a:off x="4599432" y="3419856"/>
            <a:ext cx="3236976" cy="274320"/>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Combretum indicum</a:t>
            </a:r>
            <a:endParaRPr lang="en-US" sz="1400" dirty="0"/>
          </a:p>
        </p:txBody>
      </p:sp>
      <p:sp>
        <p:nvSpPr>
          <p:cNvPr id="27" name="Text 25"/>
          <p:cNvSpPr/>
          <p:nvPr/>
        </p:nvSpPr>
        <p:spPr>
          <a:xfrm>
            <a:off x="4599432" y="3904488"/>
            <a:ext cx="3236976" cy="39319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Twining climber</a:t>
            </a:r>
            <a:endParaRPr lang="en-US" sz="1600" dirty="0"/>
          </a:p>
        </p:txBody>
      </p:sp>
      <p:sp>
        <p:nvSpPr>
          <p:cNvPr id="28" name="Text 26"/>
          <p:cNvSpPr/>
          <p:nvPr/>
        </p:nvSpPr>
        <p:spPr>
          <a:xfrm>
            <a:off x="4599432" y="4489704"/>
            <a:ext cx="3236976" cy="283464"/>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Wet mass*: 10–18 kg/m²</a:t>
            </a:r>
            <a:endParaRPr lang="en-US" sz="1550" dirty="0"/>
          </a:p>
        </p:txBody>
      </p:sp>
      <p:sp>
        <p:nvSpPr>
          <p:cNvPr id="29" name="Text 27"/>
          <p:cNvSpPr/>
          <p:nvPr/>
        </p:nvSpPr>
        <p:spPr>
          <a:xfrm>
            <a:off x="4599432" y="4892040"/>
            <a:ext cx="3236976" cy="21031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Confirm local climate suitability.</a:t>
            </a:r>
            <a:endParaRPr lang="en-US" sz="1250" dirty="0"/>
          </a:p>
        </p:txBody>
      </p:sp>
      <p:sp>
        <p:nvSpPr>
          <p:cNvPr id="30" name="Shape 28"/>
          <p:cNvSpPr/>
          <p:nvPr/>
        </p:nvSpPr>
        <p:spPr>
          <a:xfrm>
            <a:off x="8211312" y="2350008"/>
            <a:ext cx="3602736" cy="2816352"/>
          </a:xfrm>
          <a:prstGeom prst="rect">
            <a:avLst>
              <a:gd name="adj" fmla="val 3247"/>
            </a:avLst>
          </a:prstGeom>
          <a:solidFill>
            <a:srgbClr val="EDF1E9"/>
          </a:solidFill>
          <a:ln w="7620">
            <a:solidFill>
              <a:srgbClr val="D9DDD2"/>
            </a:solidFill>
            <a:prstDash val="solid"/>
          </a:ln>
        </p:spPr>
      </p:sp>
      <p:sp>
        <p:nvSpPr>
          <p:cNvPr id="31" name="Text 29"/>
          <p:cNvSpPr/>
          <p:nvPr/>
        </p:nvSpPr>
        <p:spPr>
          <a:xfrm>
            <a:off x="8394192" y="2532888"/>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ALTERNATIVE ONLY</a:t>
            </a:r>
            <a:endParaRPr lang="en-US" sz="1300" dirty="0"/>
          </a:p>
        </p:txBody>
      </p:sp>
      <p:sp>
        <p:nvSpPr>
          <p:cNvPr id="32" name="Text 30"/>
          <p:cNvSpPr/>
          <p:nvPr/>
        </p:nvSpPr>
        <p:spPr>
          <a:xfrm>
            <a:off x="8394192" y="2926080"/>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Trumpet creeper</a:t>
            </a:r>
            <a:endParaRPr lang="en-US" sz="2300" dirty="0"/>
          </a:p>
        </p:txBody>
      </p:sp>
      <p:sp>
        <p:nvSpPr>
          <p:cNvPr id="33" name="Text 31"/>
          <p:cNvSpPr/>
          <p:nvPr/>
        </p:nvSpPr>
        <p:spPr>
          <a:xfrm>
            <a:off x="8394192" y="3419856"/>
            <a:ext cx="3236976" cy="274320"/>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Campsis grandiflora</a:t>
            </a:r>
            <a:endParaRPr lang="en-US" sz="1400" dirty="0"/>
          </a:p>
        </p:txBody>
      </p:sp>
      <p:sp>
        <p:nvSpPr>
          <p:cNvPr id="34" name="Text 32"/>
          <p:cNvSpPr/>
          <p:nvPr/>
        </p:nvSpPr>
        <p:spPr>
          <a:xfrm>
            <a:off x="8394192" y="3904488"/>
            <a:ext cx="3236976" cy="39319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Aerial roots</a:t>
            </a:r>
            <a:endParaRPr lang="en-US" sz="1600" dirty="0"/>
          </a:p>
        </p:txBody>
      </p:sp>
      <p:sp>
        <p:nvSpPr>
          <p:cNvPr id="35" name="Text 33"/>
          <p:cNvSpPr/>
          <p:nvPr/>
        </p:nvSpPr>
        <p:spPr>
          <a:xfrm>
            <a:off x="8394192" y="4489704"/>
            <a:ext cx="3236976" cy="283464"/>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Wet mass*: 15–25 kg/m²</a:t>
            </a:r>
            <a:endParaRPr lang="en-US" sz="1550" dirty="0"/>
          </a:p>
        </p:txBody>
      </p:sp>
      <p:sp>
        <p:nvSpPr>
          <p:cNvPr id="36" name="Text 34"/>
          <p:cNvSpPr/>
          <p:nvPr/>
        </p:nvSpPr>
        <p:spPr>
          <a:xfrm>
            <a:off x="8394192" y="4892040"/>
            <a:ext cx="3236976" cy="21031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Reassess load before substitution.</a:t>
            </a:r>
            <a:endParaRPr lang="en-US" sz="1250" dirty="0"/>
          </a:p>
        </p:txBody>
      </p:sp>
      <p:sp>
        <p:nvSpPr>
          <p:cNvPr id="37" name="Shape 35"/>
          <p:cNvSpPr/>
          <p:nvPr/>
        </p:nvSpPr>
        <p:spPr>
          <a:xfrm>
            <a:off x="694944" y="5431536"/>
            <a:ext cx="10771632" cy="502920"/>
          </a:xfrm>
          <a:prstGeom prst="rect">
            <a:avLst>
              <a:gd name="adj" fmla="val 18182"/>
            </a:avLst>
          </a:prstGeom>
          <a:solidFill>
            <a:srgbClr val="EDF1E9"/>
          </a:solidFill>
          <a:ln w="7620">
            <a:solidFill>
              <a:srgbClr val="D9DDD2"/>
            </a:solidFill>
            <a:prstDash val="solid"/>
          </a:ln>
        </p:spPr>
      </p:sp>
      <p:sp>
        <p:nvSpPr>
          <p:cNvPr id="38" name="Text 36"/>
          <p:cNvSpPr/>
          <p:nvPr/>
        </p:nvSpPr>
        <p:spPr>
          <a:xfrm>
            <a:off x="868680" y="5559552"/>
            <a:ext cx="3767328" cy="237744"/>
          </a:xfrm>
          <a:prstGeom prst="rect">
            <a:avLst/>
          </a:prstGeom>
          <a:noFill/>
          <a:ln/>
        </p:spPr>
        <p:txBody>
          <a:bodyPr wrap="square" lIns="0" tIns="0" rIns="0" bIns="0" rtlCol="0" anchor="ctr"/>
          <a:lstStyle/>
          <a:p>
            <a:pPr indent="0" marL="0">
              <a:buNone/>
            </a:pPr>
            <a:r>
              <a:rPr lang="en-US" sz="1450" b="1" dirty="0">
                <a:solidFill>
                  <a:srgbClr val="173C51"/>
                </a:solidFill>
                <a:latin typeface="Noto Sans" pitchFamily="34" charset="0"/>
                <a:ea typeface="Noto Sans" pitchFamily="34" charset="-122"/>
                <a:cs typeface="Noto Sans" pitchFamily="34" charset="-120"/>
              </a:rPr>
              <a:t>BEAM LOAD INPUT (p7): 18 kg/m²</a:t>
            </a:r>
            <a:endParaRPr lang="en-US" sz="1450" dirty="0"/>
          </a:p>
        </p:txBody>
      </p:sp>
      <p:sp>
        <p:nvSpPr>
          <p:cNvPr id="39" name="Text 37"/>
          <p:cNvSpPr/>
          <p:nvPr/>
        </p:nvSpPr>
        <p:spPr>
          <a:xfrm>
            <a:off x="4645152" y="5541264"/>
            <a:ext cx="6629400" cy="265176"/>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Upper end of Boston ivy’s 10–18 kg/m² workbook range.</a:t>
            </a:r>
            <a:endParaRPr lang="en-US" sz="1400" dirty="0"/>
          </a:p>
        </p:txBody>
      </p:sp>
      <p:sp>
        <p:nvSpPr>
          <p:cNvPr id="40" name="Text 38"/>
          <p:cNvSpPr/>
          <p:nvPr/>
        </p:nvSpPr>
        <p:spPr>
          <a:xfrm>
            <a:off x="749808" y="6126480"/>
            <a:ext cx="10698480" cy="210312"/>
          </a:xfrm>
          <a:prstGeom prst="rect">
            <a:avLst/>
          </a:prstGeom>
          <a:noFill/>
          <a:ln/>
        </p:spPr>
        <p:txBody>
          <a:bodyPr wrap="square" lIns="0" tIns="0" rIns="0" bIns="0" rtlCol="0" anchor="ctr"/>
          <a:lstStyle/>
          <a:p>
            <a:pPr indent="0" marL="0">
              <a:buNone/>
            </a:pPr>
            <a:r>
              <a:rPr lang="en-US" sz="1260" dirty="0">
                <a:solidFill>
                  <a:srgbClr val="34434A"/>
                </a:solidFill>
                <a:latin typeface="Noto Sans" pitchFamily="34" charset="0"/>
                <a:ea typeface="Noto Sans" pitchFamily="34" charset="-122"/>
                <a:cs typeface="Noto Sans" pitchFamily="34" charset="-120"/>
              </a:rPr>
              <a:t>ROOTS + CARE: source allowance of 1.2 m³ substrate, drip irrigation, training and pruning.</a:t>
            </a:r>
            <a:endParaRPr lang="en-US" sz="12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ANALYSIS METHOD</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Two shade metrics answer different questions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30°N · assumed X=east/Y=north · true solar time 09–15 · same reference zone.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Solar geometry: NOAA [3]. Project methods/assumptions P2/P5. Reference zone is not net usable floor area; no temperature change is calculated.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11</a:t>
            </a:r>
            <a:endParaRPr lang="en-US" sz="1000" dirty="0"/>
          </a:p>
        </p:txBody>
      </p:sp>
      <p:sp>
        <p:nvSpPr>
          <p:cNvPr id="15" name="Shape 13"/>
          <p:cNvSpPr/>
          <p:nvPr/>
        </p:nvSpPr>
        <p:spPr>
          <a:xfrm>
            <a:off x="594360" y="2084832"/>
            <a:ext cx="2624328" cy="685800"/>
          </a:xfrm>
          <a:prstGeom prst="rect">
            <a:avLst>
              <a:gd name="adj" fmla="val 13333"/>
            </a:avLst>
          </a:prstGeom>
          <a:solidFill>
            <a:srgbClr val="EDF1E9"/>
          </a:solidFill>
          <a:ln w="7620">
            <a:solidFill>
              <a:srgbClr val="D9DDD2"/>
            </a:solidFill>
            <a:prstDash val="solid"/>
          </a:ln>
        </p:spPr>
      </p:sp>
      <p:sp>
        <p:nvSpPr>
          <p:cNvPr id="16" name="Text 14"/>
          <p:cNvSpPr/>
          <p:nvPr/>
        </p:nvSpPr>
        <p:spPr>
          <a:xfrm>
            <a:off x="713232"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01</a:t>
            </a:r>
            <a:endParaRPr lang="en-US" sz="1300" dirty="0"/>
          </a:p>
        </p:txBody>
      </p:sp>
      <p:sp>
        <p:nvSpPr>
          <p:cNvPr id="17" name="Text 15"/>
          <p:cNvSpPr/>
          <p:nvPr/>
        </p:nvSpPr>
        <p:spPr>
          <a:xfrm>
            <a:off x="1170432"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SUN DIRECTION</a:t>
            </a:r>
            <a:endParaRPr lang="en-US" sz="1270" dirty="0"/>
          </a:p>
        </p:txBody>
      </p:sp>
      <p:sp>
        <p:nvSpPr>
          <p:cNvPr id="18" name="Shape 16"/>
          <p:cNvSpPr/>
          <p:nvPr/>
        </p:nvSpPr>
        <p:spPr>
          <a:xfrm>
            <a:off x="3410712" y="2084832"/>
            <a:ext cx="2624328" cy="685800"/>
          </a:xfrm>
          <a:prstGeom prst="rect">
            <a:avLst>
              <a:gd name="adj" fmla="val 13333"/>
            </a:avLst>
          </a:prstGeom>
          <a:solidFill>
            <a:srgbClr val="EDF1E9"/>
          </a:solidFill>
          <a:ln w="7620">
            <a:solidFill>
              <a:srgbClr val="D9DDD2"/>
            </a:solidFill>
            <a:prstDash val="solid"/>
          </a:ln>
        </p:spPr>
      </p:sp>
      <p:sp>
        <p:nvSpPr>
          <p:cNvPr id="19" name="Text 17"/>
          <p:cNvSpPr/>
          <p:nvPr/>
        </p:nvSpPr>
        <p:spPr>
          <a:xfrm>
            <a:off x="3529584"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02</a:t>
            </a:r>
            <a:endParaRPr lang="en-US" sz="1300" dirty="0"/>
          </a:p>
        </p:txBody>
      </p:sp>
      <p:sp>
        <p:nvSpPr>
          <p:cNvPr id="20" name="Text 18"/>
          <p:cNvSpPr/>
          <p:nvPr/>
        </p:nvSpPr>
        <p:spPr>
          <a:xfrm>
            <a:off x="3986784"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MODEL + LEAVES</a:t>
            </a:r>
            <a:endParaRPr lang="en-US" sz="1270" dirty="0"/>
          </a:p>
        </p:txBody>
      </p:sp>
      <p:sp>
        <p:nvSpPr>
          <p:cNvPr id="21" name="Shape 19"/>
          <p:cNvSpPr/>
          <p:nvPr/>
        </p:nvSpPr>
        <p:spPr>
          <a:xfrm>
            <a:off x="6227064" y="2084832"/>
            <a:ext cx="2624328" cy="685800"/>
          </a:xfrm>
          <a:prstGeom prst="rect">
            <a:avLst>
              <a:gd name="adj" fmla="val 13333"/>
            </a:avLst>
          </a:prstGeom>
          <a:solidFill>
            <a:srgbClr val="EDF1E9"/>
          </a:solidFill>
          <a:ln w="7620">
            <a:solidFill>
              <a:srgbClr val="D9DDD2"/>
            </a:solidFill>
            <a:prstDash val="solid"/>
          </a:ln>
        </p:spPr>
      </p:sp>
      <p:sp>
        <p:nvSpPr>
          <p:cNvPr id="22" name="Text 20"/>
          <p:cNvSpPr/>
          <p:nvPr/>
        </p:nvSpPr>
        <p:spPr>
          <a:xfrm>
            <a:off x="6345936"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03</a:t>
            </a:r>
            <a:endParaRPr lang="en-US" sz="1300" dirty="0"/>
          </a:p>
        </p:txBody>
      </p:sp>
      <p:sp>
        <p:nvSpPr>
          <p:cNvPr id="23" name="Text 21"/>
          <p:cNvSpPr/>
          <p:nvPr/>
        </p:nvSpPr>
        <p:spPr>
          <a:xfrm>
            <a:off x="6803136"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SHADOW PROJECTION</a:t>
            </a:r>
            <a:endParaRPr lang="en-US" sz="1270" dirty="0"/>
          </a:p>
        </p:txBody>
      </p:sp>
      <p:sp>
        <p:nvSpPr>
          <p:cNvPr id="24" name="Shape 22"/>
          <p:cNvSpPr/>
          <p:nvPr/>
        </p:nvSpPr>
        <p:spPr>
          <a:xfrm>
            <a:off x="9043416" y="2084832"/>
            <a:ext cx="2624328" cy="685800"/>
          </a:xfrm>
          <a:prstGeom prst="rect">
            <a:avLst>
              <a:gd name="adj" fmla="val 13333"/>
            </a:avLst>
          </a:prstGeom>
          <a:solidFill>
            <a:srgbClr val="EDF1E9"/>
          </a:solidFill>
          <a:ln w="7620">
            <a:solidFill>
              <a:srgbClr val="D9DDD2"/>
            </a:solidFill>
            <a:prstDash val="solid"/>
          </a:ln>
        </p:spPr>
      </p:sp>
      <p:sp>
        <p:nvSpPr>
          <p:cNvPr id="25" name="Text 23"/>
          <p:cNvSpPr/>
          <p:nvPr/>
        </p:nvSpPr>
        <p:spPr>
          <a:xfrm>
            <a:off x="9162288"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04</a:t>
            </a:r>
            <a:endParaRPr lang="en-US" sz="1300" dirty="0"/>
          </a:p>
        </p:txBody>
      </p:sp>
      <p:sp>
        <p:nvSpPr>
          <p:cNvPr id="26" name="Text 24"/>
          <p:cNvSpPr/>
          <p:nvPr/>
        </p:nvSpPr>
        <p:spPr>
          <a:xfrm>
            <a:off x="9619488"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TARGET INTERSECTION</a:t>
            </a:r>
            <a:endParaRPr lang="en-US" sz="1270" dirty="0"/>
          </a:p>
        </p:txBody>
      </p:sp>
      <p:sp>
        <p:nvSpPr>
          <p:cNvPr id="27" name="Shape 25"/>
          <p:cNvSpPr/>
          <p:nvPr/>
        </p:nvSpPr>
        <p:spPr>
          <a:xfrm>
            <a:off x="612648" y="3063240"/>
            <a:ext cx="5330952" cy="2212848"/>
          </a:xfrm>
          <a:prstGeom prst="rect">
            <a:avLst>
              <a:gd name="adj" fmla="val 4132"/>
            </a:avLst>
          </a:prstGeom>
          <a:solidFill>
            <a:srgbClr val="FFFFFF"/>
          </a:solidFill>
          <a:ln w="7620">
            <a:solidFill>
              <a:srgbClr val="D9DDD2"/>
            </a:solidFill>
            <a:prstDash val="solid"/>
          </a:ln>
        </p:spPr>
      </p:sp>
      <p:sp>
        <p:nvSpPr>
          <p:cNvPr id="28" name="Text 26"/>
          <p:cNvSpPr/>
          <p:nvPr/>
        </p:nvSpPr>
        <p:spPr>
          <a:xfrm>
            <a:off x="804672" y="3246120"/>
            <a:ext cx="4919472" cy="292608"/>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01  IDEAL LEAF-SHADOW OVERLAP</a:t>
            </a:r>
            <a:endParaRPr lang="en-US" sz="1550" dirty="0"/>
          </a:p>
        </p:txBody>
      </p:sp>
      <p:sp>
        <p:nvSpPr>
          <p:cNvPr id="29" name="Text 27"/>
          <p:cNvSpPr/>
          <p:nvPr/>
        </p:nvSpPr>
        <p:spPr>
          <a:xfrm>
            <a:off x="804672" y="3767328"/>
            <a:ext cx="4892040" cy="713232"/>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Where could a continuous leaf envelope cast shade?</a:t>
            </a:r>
            <a:endParaRPr lang="en-US" sz="2300" dirty="0"/>
          </a:p>
        </p:txBody>
      </p:sp>
      <p:sp>
        <p:nvSpPr>
          <p:cNvPr id="30" name="Text 28"/>
          <p:cNvSpPr/>
          <p:nvPr/>
        </p:nvSpPr>
        <p:spPr>
          <a:xfrm>
            <a:off x="804672" y="4663440"/>
            <a:ext cx="4892040" cy="438912"/>
          </a:xfrm>
          <a:prstGeom prst="rect">
            <a:avLst/>
          </a:prstGeom>
          <a:noFill/>
          <a:ln/>
        </p:spPr>
        <p:txBody>
          <a:bodyPr wrap="square" lIns="0" tIns="0" rIns="0" bIns="0" rtlCol="0" anchor="ctr"/>
          <a:lstStyle/>
          <a:p>
            <a:pPr indent="0" marL="0">
              <a:buNone/>
            </a:pPr>
            <a:r>
              <a:rPr lang="en-US" sz="1460" dirty="0">
                <a:solidFill>
                  <a:srgbClr val="34434A"/>
                </a:solidFill>
                <a:latin typeface="Noto Sans" pitchFamily="34" charset="0"/>
                <a:ea typeface="Noto Sans" pitchFamily="34" charset="-122"/>
                <a:cs typeface="Noto Sans" pitchFamily="34" charset="-120"/>
              </a:rPr>
              <a:t>Leaf-envelope shadow on target ÷ target area. Used for the ideal daily / solar-season result.</a:t>
            </a:r>
            <a:endParaRPr lang="en-US" sz="1460" dirty="0"/>
          </a:p>
        </p:txBody>
      </p:sp>
      <p:sp>
        <p:nvSpPr>
          <p:cNvPr id="31" name="Shape 29"/>
          <p:cNvSpPr/>
          <p:nvPr/>
        </p:nvSpPr>
        <p:spPr>
          <a:xfrm>
            <a:off x="6190488" y="3063240"/>
            <a:ext cx="5330952" cy="2212848"/>
          </a:xfrm>
          <a:prstGeom prst="rect">
            <a:avLst>
              <a:gd name="adj" fmla="val 4132"/>
            </a:avLst>
          </a:prstGeom>
          <a:solidFill>
            <a:srgbClr val="FFFFFF"/>
          </a:solidFill>
          <a:ln w="7620">
            <a:solidFill>
              <a:srgbClr val="D9DDD2"/>
            </a:solidFill>
            <a:prstDash val="solid"/>
          </a:ln>
        </p:spPr>
      </p:sp>
      <p:sp>
        <p:nvSpPr>
          <p:cNvPr id="32" name="Text 30"/>
          <p:cNvSpPr/>
          <p:nvPr/>
        </p:nvSpPr>
        <p:spPr>
          <a:xfrm>
            <a:off x="6382512" y="3246120"/>
            <a:ext cx="4919472" cy="292608"/>
          </a:xfrm>
          <a:prstGeom prst="rect">
            <a:avLst/>
          </a:prstGeom>
          <a:noFill/>
          <a:ln/>
        </p:spPr>
        <p:txBody>
          <a:bodyPr wrap="square" lIns="0" tIns="0" rIns="0" bIns="0" rtlCol="0" anchor="ctr"/>
          <a:lstStyle/>
          <a:p>
            <a:pPr indent="0" marL="0">
              <a:buNone/>
            </a:pPr>
            <a:r>
              <a:rPr lang="en-US" sz="1410" b="1" dirty="0">
                <a:solidFill>
                  <a:srgbClr val="346A55"/>
                </a:solidFill>
                <a:latin typeface="Noto Sans" pitchFamily="34" charset="0"/>
                <a:ea typeface="Noto Sans" pitchFamily="34" charset="-122"/>
                <a:cs typeface="Noto Sans" pitchFamily="34" charset="-120"/>
              </a:rPr>
              <a:t>02  EQUIVALENT DIRECT-BEAM BLOCKAGE</a:t>
            </a:r>
            <a:endParaRPr lang="en-US" sz="1410" dirty="0"/>
          </a:p>
        </p:txBody>
      </p:sp>
      <p:sp>
        <p:nvSpPr>
          <p:cNvPr id="33" name="Text 31"/>
          <p:cNvSpPr/>
          <p:nvPr/>
        </p:nvSpPr>
        <p:spPr>
          <a:xfrm>
            <a:off x="6382512" y="3767328"/>
            <a:ext cx="4892040" cy="713232"/>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How much direct beam do the frame and assumed leaves block?</a:t>
            </a:r>
            <a:endParaRPr lang="en-US" sz="2300" dirty="0"/>
          </a:p>
        </p:txBody>
      </p:sp>
      <p:sp>
        <p:nvSpPr>
          <p:cNvPr id="34" name="Text 32"/>
          <p:cNvSpPr/>
          <p:nvPr/>
        </p:nvSpPr>
        <p:spPr>
          <a:xfrm>
            <a:off x="6382512" y="4663440"/>
            <a:ext cx="4892040" cy="438912"/>
          </a:xfrm>
          <a:prstGeom prst="rect">
            <a:avLst/>
          </a:prstGeom>
          <a:noFill/>
          <a:ln/>
        </p:spPr>
        <p:txBody>
          <a:bodyPr wrap="square" lIns="0" tIns="0" rIns="0" bIns="0" rtlCol="0" anchor="ctr"/>
          <a:lstStyle/>
          <a:p>
            <a:pPr indent="0" marL="0">
              <a:buNone/>
            </a:pPr>
            <a:r>
              <a:rPr lang="en-US" sz="1460" dirty="0">
                <a:solidFill>
                  <a:srgbClr val="34434A"/>
                </a:solidFill>
                <a:latin typeface="Noto Sans" pitchFamily="34" charset="0"/>
                <a:ea typeface="Noto Sans" pitchFamily="34" charset="-122"/>
                <a:cs typeface="Noto Sans" pitchFamily="34" charset="-120"/>
              </a:rPr>
              <a:t>Accounts for frame/leaf overlap and assumed leaf transmittance τ = 0.15; used for sensitivity tests.</a:t>
            </a:r>
            <a:endParaRPr lang="en-US" sz="1460" dirty="0"/>
          </a:p>
        </p:txBody>
      </p:sp>
      <p:sp>
        <p:nvSpPr>
          <p:cNvPr id="35" name="Shape 33"/>
          <p:cNvSpPr/>
          <p:nvPr/>
        </p:nvSpPr>
        <p:spPr>
          <a:xfrm>
            <a:off x="722376" y="5568696"/>
            <a:ext cx="10735056" cy="411480"/>
          </a:xfrm>
          <a:prstGeom prst="rect">
            <a:avLst>
              <a:gd name="adj" fmla="val 22222"/>
            </a:avLst>
          </a:prstGeom>
          <a:solidFill>
            <a:srgbClr val="EDF1E9"/>
          </a:solidFill>
          <a:ln w="7620">
            <a:solidFill>
              <a:srgbClr val="EDF1E9"/>
            </a:solidFill>
            <a:prstDash val="solid"/>
          </a:ln>
        </p:spPr>
      </p:sp>
      <p:sp>
        <p:nvSpPr>
          <p:cNvPr id="36" name="Text 34"/>
          <p:cNvSpPr/>
          <p:nvPr/>
        </p:nvSpPr>
        <p:spPr>
          <a:xfrm>
            <a:off x="832104" y="5632704"/>
            <a:ext cx="10515600"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COMMON TARGET: 5 × 5 m MINUS r = 0.75 m → 23.23 m²</a:t>
            </a:r>
            <a:endParaRPr lang="en-US" sz="1400" dirty="0"/>
          </a:p>
        </p:txBody>
      </p:sp>
      <p:sp>
        <p:nvSpPr>
          <p:cNvPr id="37" name="Text 35"/>
          <p:cNvSpPr/>
          <p:nvPr/>
        </p:nvSpPr>
        <p:spPr>
          <a:xfrm>
            <a:off x="777240" y="6126480"/>
            <a:ext cx="10625328" cy="219456"/>
          </a:xfrm>
          <a:prstGeom prst="rect">
            <a:avLst/>
          </a:prstGeom>
          <a:noFill/>
          <a:ln/>
        </p:spPr>
        <p:txBody>
          <a:bodyPr wrap="square" lIns="0" tIns="0" rIns="0" bIns="0" rtlCol="0" anchor="ctr"/>
          <a:lstStyle/>
          <a:p>
            <a:pPr algn="ctr" indent="0" marL="0">
              <a:buNone/>
            </a:pPr>
            <a:r>
              <a:rPr lang="en-US" sz="1400" b="1" dirty="0">
                <a:solidFill>
                  <a:srgbClr val="173C51"/>
                </a:solidFill>
                <a:latin typeface="Noto Sans" pitchFamily="34" charset="0"/>
                <a:ea typeface="Noto Sans" pitchFamily="34" charset="-122"/>
                <a:cs typeface="Noto Sans" pitchFamily="34" charset="-120"/>
              </a:rPr>
              <a:t>Compare results within the same metric and time window; do not add the two percentages.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SHADE PERFORMANCE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 noon peak does not ensure all-day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Metric 01: ideal leaf-shadow overlap. The animation follows the existing 09–15 solar-time samples.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projection P2/P5. GIF uses the same continuous leaf envelope, target and 25 solar times as the solstice curve; no new scenario.</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12</a:t>
            </a:r>
            <a:endParaRPr lang="en-US" sz="1000" dirty="0"/>
          </a:p>
        </p:txBody>
      </p:sp>
      <p:pic>
        <p:nvPicPr>
          <p:cNvPr id="15" name="Image 0" descr="/workspace/temp/presentation/v9/assets/ideal-shadow-sequence.gif">    </p:cNvPr>
          <p:cNvPicPr>
            <a:picLocks noChangeAspect="1"/>
          </p:cNvPicPr>
          <p:nvPr/>
        </p:nvPicPr>
        <p:blipFill>
          <a:blip r:embed="rId1"/>
          <a:stretch>
            <a:fillRect/>
          </a:stretch>
        </p:blipFill>
        <p:spPr>
          <a:xfrm>
            <a:off x="1301061" y="2249424"/>
            <a:ext cx="5682343" cy="2651760"/>
          </a:xfrm>
          <a:prstGeom prst="rect">
            <a:avLst/>
          </a:prstGeom>
        </p:spPr>
      </p:pic>
      <p:sp>
        <p:nvSpPr>
          <p:cNvPr id="16" name="Text 13"/>
          <p:cNvSpPr/>
          <p:nvPr/>
        </p:nvSpPr>
        <p:spPr>
          <a:xfrm>
            <a:off x="2240280" y="2039112"/>
            <a:ext cx="548640" cy="201168"/>
          </a:xfrm>
          <a:prstGeom prst="rect">
            <a:avLst/>
          </a:prstGeom>
          <a:noFill/>
          <a:ln/>
        </p:spPr>
        <p:txBody>
          <a:bodyPr wrap="square" lIns="0" tIns="0" rIns="0" bIns="0" rtlCol="0" anchor="ctr"/>
          <a:lstStyle/>
          <a:p>
            <a:pPr algn="ctr" indent="0" marL="0">
              <a:buNone/>
            </a:pPr>
            <a:r>
              <a:rPr lang="en-US" sz="1230" b="1" dirty="0">
                <a:solidFill>
                  <a:srgbClr val="66736D"/>
                </a:solidFill>
                <a:latin typeface="Noto Sans" pitchFamily="34" charset="0"/>
                <a:ea typeface="Noto Sans" pitchFamily="34" charset="-122"/>
                <a:cs typeface="Noto Sans" pitchFamily="34" charset="-120"/>
              </a:rPr>
              <a:t>09:00</a:t>
            </a:r>
            <a:endParaRPr lang="en-US" sz="1230" dirty="0"/>
          </a:p>
        </p:txBody>
      </p:sp>
      <p:sp>
        <p:nvSpPr>
          <p:cNvPr id="17" name="Text 14"/>
          <p:cNvSpPr/>
          <p:nvPr/>
        </p:nvSpPr>
        <p:spPr>
          <a:xfrm>
            <a:off x="3867912" y="2039112"/>
            <a:ext cx="548640" cy="201168"/>
          </a:xfrm>
          <a:prstGeom prst="rect">
            <a:avLst/>
          </a:prstGeom>
          <a:noFill/>
          <a:ln/>
        </p:spPr>
        <p:txBody>
          <a:bodyPr wrap="square" lIns="0" tIns="0" rIns="0" bIns="0" rtlCol="0" anchor="ctr"/>
          <a:lstStyle/>
          <a:p>
            <a:pPr algn="ctr" indent="0" marL="0">
              <a:buNone/>
            </a:pPr>
            <a:r>
              <a:rPr lang="en-US" sz="1230" b="1" dirty="0">
                <a:solidFill>
                  <a:srgbClr val="66736D"/>
                </a:solidFill>
                <a:latin typeface="Noto Sans" pitchFamily="34" charset="0"/>
                <a:ea typeface="Noto Sans" pitchFamily="34" charset="-122"/>
                <a:cs typeface="Noto Sans" pitchFamily="34" charset="-120"/>
              </a:rPr>
              <a:t>12:00</a:t>
            </a:r>
            <a:endParaRPr lang="en-US" sz="1230" dirty="0"/>
          </a:p>
        </p:txBody>
      </p:sp>
      <p:sp>
        <p:nvSpPr>
          <p:cNvPr id="18" name="Text 15"/>
          <p:cNvSpPr/>
          <p:nvPr/>
        </p:nvSpPr>
        <p:spPr>
          <a:xfrm>
            <a:off x="5495544" y="2039112"/>
            <a:ext cx="548640" cy="201168"/>
          </a:xfrm>
          <a:prstGeom prst="rect">
            <a:avLst/>
          </a:prstGeom>
          <a:noFill/>
          <a:ln/>
        </p:spPr>
        <p:txBody>
          <a:bodyPr wrap="square" lIns="0" tIns="0" rIns="0" bIns="0" rtlCol="0" anchor="ctr"/>
          <a:lstStyle/>
          <a:p>
            <a:pPr algn="ctr" indent="0" marL="0">
              <a:buNone/>
            </a:pPr>
            <a:r>
              <a:rPr lang="en-US" sz="1230" b="1" dirty="0">
                <a:solidFill>
                  <a:srgbClr val="66736D"/>
                </a:solidFill>
                <a:latin typeface="Noto Sans" pitchFamily="34" charset="0"/>
                <a:ea typeface="Noto Sans" pitchFamily="34" charset="-122"/>
                <a:cs typeface="Noto Sans" pitchFamily="34" charset="-120"/>
              </a:rPr>
              <a:t>15:00</a:t>
            </a:r>
            <a:endParaRPr lang="en-US" sz="1230" dirty="0"/>
          </a:p>
        </p:txBody>
      </p:sp>
      <p:sp>
        <p:nvSpPr>
          <p:cNvPr id="19" name="Text 16"/>
          <p:cNvSpPr/>
          <p:nvPr/>
        </p:nvSpPr>
        <p:spPr>
          <a:xfrm>
            <a:off x="941832" y="1847088"/>
            <a:ext cx="6400800" cy="17373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MOVING DOT: SOLAR TIME  •  15-MINUTE STEPS</a:t>
            </a:r>
            <a:endParaRPr lang="en-US" sz="1050" dirty="0"/>
          </a:p>
        </p:txBody>
      </p:sp>
      <p:sp>
        <p:nvSpPr>
          <p:cNvPr id="20" name="Shape 17"/>
          <p:cNvSpPr/>
          <p:nvPr/>
        </p:nvSpPr>
        <p:spPr>
          <a:xfrm>
            <a:off x="8001000" y="2139696"/>
            <a:ext cx="3447288" cy="2331720"/>
          </a:xfrm>
          <a:prstGeom prst="rect">
            <a:avLst>
              <a:gd name="adj" fmla="val 3922"/>
            </a:avLst>
          </a:prstGeom>
          <a:solidFill>
            <a:srgbClr val="EDF1E9"/>
          </a:solidFill>
          <a:ln w="7620">
            <a:solidFill>
              <a:srgbClr val="D9DDD2"/>
            </a:solidFill>
            <a:prstDash val="solid"/>
          </a:ln>
        </p:spPr>
      </p:sp>
      <p:sp>
        <p:nvSpPr>
          <p:cNvPr id="21" name="Text 18"/>
          <p:cNvSpPr/>
          <p:nvPr/>
        </p:nvSpPr>
        <p:spPr>
          <a:xfrm>
            <a:off x="8193024" y="2313432"/>
            <a:ext cx="3063240"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SOLSTICE • KEY VALUES</a:t>
            </a:r>
            <a:endParaRPr lang="en-US" sz="1400" dirty="0"/>
          </a:p>
        </p:txBody>
      </p:sp>
      <p:sp>
        <p:nvSpPr>
          <p:cNvPr id="22" name="Text 19"/>
          <p:cNvSpPr/>
          <p:nvPr/>
        </p:nvSpPr>
        <p:spPr>
          <a:xfrm>
            <a:off x="8229600" y="2798064"/>
            <a:ext cx="1143000" cy="283464"/>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09:00</a:t>
            </a:r>
            <a:endParaRPr lang="en-US" sz="1700" dirty="0"/>
          </a:p>
        </p:txBody>
      </p:sp>
      <p:sp>
        <p:nvSpPr>
          <p:cNvPr id="23" name="Text 20"/>
          <p:cNvSpPr/>
          <p:nvPr/>
        </p:nvSpPr>
        <p:spPr>
          <a:xfrm>
            <a:off x="9674352" y="2798064"/>
            <a:ext cx="1335024" cy="310896"/>
          </a:xfrm>
          <a:prstGeom prst="rect">
            <a:avLst/>
          </a:prstGeom>
          <a:noFill/>
          <a:ln/>
        </p:spPr>
        <p:txBody>
          <a:bodyPr wrap="square" lIns="0" tIns="0" rIns="0" bIns="0" rtlCol="0" anchor="ctr"/>
          <a:lstStyle/>
          <a:p>
            <a:pPr algn="r" indent="0" marL="0">
              <a:buNone/>
            </a:pPr>
            <a:r>
              <a:rPr lang="en-US" sz="2100" b="1" dirty="0">
                <a:solidFill>
                  <a:srgbClr val="173C51"/>
                </a:solidFill>
                <a:latin typeface="Noto Sans" pitchFamily="34" charset="0"/>
                <a:ea typeface="Noto Sans" pitchFamily="34" charset="-122"/>
                <a:cs typeface="Noto Sans" pitchFamily="34" charset="-120"/>
              </a:rPr>
              <a:t>47.2%</a:t>
            </a:r>
            <a:endParaRPr lang="en-US" sz="2100" dirty="0"/>
          </a:p>
        </p:txBody>
      </p:sp>
      <p:sp>
        <p:nvSpPr>
          <p:cNvPr id="24" name="Text 21"/>
          <p:cNvSpPr/>
          <p:nvPr/>
        </p:nvSpPr>
        <p:spPr>
          <a:xfrm>
            <a:off x="8229600" y="3264408"/>
            <a:ext cx="1143000" cy="283464"/>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12:00</a:t>
            </a:r>
            <a:endParaRPr lang="en-US" sz="1700" dirty="0"/>
          </a:p>
        </p:txBody>
      </p:sp>
      <p:sp>
        <p:nvSpPr>
          <p:cNvPr id="25" name="Text 22"/>
          <p:cNvSpPr/>
          <p:nvPr/>
        </p:nvSpPr>
        <p:spPr>
          <a:xfrm>
            <a:off x="9674352" y="3264408"/>
            <a:ext cx="1335024" cy="310896"/>
          </a:xfrm>
          <a:prstGeom prst="rect">
            <a:avLst/>
          </a:prstGeom>
          <a:noFill/>
          <a:ln/>
        </p:spPr>
        <p:txBody>
          <a:bodyPr wrap="square" lIns="0" tIns="0" rIns="0" bIns="0" rtlCol="0" anchor="ctr"/>
          <a:lstStyle/>
          <a:p>
            <a:pPr algn="r" indent="0" marL="0">
              <a:buNone/>
            </a:pPr>
            <a:r>
              <a:rPr lang="en-US" sz="2100" b="1" dirty="0">
                <a:solidFill>
                  <a:srgbClr val="173C51"/>
                </a:solidFill>
                <a:latin typeface="Noto Sans" pitchFamily="34" charset="0"/>
                <a:ea typeface="Noto Sans" pitchFamily="34" charset="-122"/>
                <a:cs typeface="Noto Sans" pitchFamily="34" charset="-120"/>
              </a:rPr>
              <a:t>98.7%</a:t>
            </a:r>
            <a:endParaRPr lang="en-US" sz="2100" dirty="0"/>
          </a:p>
        </p:txBody>
      </p:sp>
      <p:sp>
        <p:nvSpPr>
          <p:cNvPr id="26" name="Text 23"/>
          <p:cNvSpPr/>
          <p:nvPr/>
        </p:nvSpPr>
        <p:spPr>
          <a:xfrm>
            <a:off x="8229600" y="3730752"/>
            <a:ext cx="1143000" cy="283464"/>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15:00</a:t>
            </a:r>
            <a:endParaRPr lang="en-US" sz="1700" dirty="0"/>
          </a:p>
        </p:txBody>
      </p:sp>
      <p:sp>
        <p:nvSpPr>
          <p:cNvPr id="27" name="Text 24"/>
          <p:cNvSpPr/>
          <p:nvPr/>
        </p:nvSpPr>
        <p:spPr>
          <a:xfrm>
            <a:off x="9674352" y="3730752"/>
            <a:ext cx="1335024" cy="310896"/>
          </a:xfrm>
          <a:prstGeom prst="rect">
            <a:avLst/>
          </a:prstGeom>
          <a:noFill/>
          <a:ln/>
        </p:spPr>
        <p:txBody>
          <a:bodyPr wrap="square" lIns="0" tIns="0" rIns="0" bIns="0" rtlCol="0" anchor="ctr"/>
          <a:lstStyle/>
          <a:p>
            <a:pPr algn="r" indent="0" marL="0">
              <a:buNone/>
            </a:pPr>
            <a:r>
              <a:rPr lang="en-US" sz="2100" b="1" dirty="0">
                <a:solidFill>
                  <a:srgbClr val="173C51"/>
                </a:solidFill>
                <a:latin typeface="Noto Sans" pitchFamily="34" charset="0"/>
                <a:ea typeface="Noto Sans" pitchFamily="34" charset="-122"/>
                <a:cs typeface="Noto Sans" pitchFamily="34" charset="-120"/>
              </a:rPr>
              <a:t>47.2%</a:t>
            </a:r>
            <a:endParaRPr lang="en-US" sz="2100" dirty="0"/>
          </a:p>
        </p:txBody>
      </p:sp>
      <p:sp>
        <p:nvSpPr>
          <p:cNvPr id="28" name="Shape 25"/>
          <p:cNvSpPr/>
          <p:nvPr/>
        </p:nvSpPr>
        <p:spPr>
          <a:xfrm>
            <a:off x="8174736" y="4709160"/>
            <a:ext cx="155448" cy="155448"/>
          </a:xfrm>
          <a:prstGeom prst="rect">
            <a:avLst>
              <a:gd name="adj" fmla="val 58824"/>
            </a:avLst>
          </a:prstGeom>
          <a:solidFill>
            <a:srgbClr val="C1D3BE"/>
          </a:solidFill>
          <a:ln w="7620">
            <a:solidFill>
              <a:srgbClr val="C1D3BE"/>
            </a:solidFill>
            <a:prstDash val="solid"/>
          </a:ln>
        </p:spPr>
      </p:sp>
      <p:sp>
        <p:nvSpPr>
          <p:cNvPr id="29" name="Text 26"/>
          <p:cNvSpPr/>
          <p:nvPr/>
        </p:nvSpPr>
        <p:spPr>
          <a:xfrm>
            <a:off x="8458200" y="4654296"/>
            <a:ext cx="2852928" cy="237744"/>
          </a:xfrm>
          <a:prstGeom prst="rect">
            <a:avLst/>
          </a:prstGeom>
          <a:noFill/>
          <a:ln/>
        </p:spPr>
        <p:txBody>
          <a:bodyPr wrap="square" lIns="0" tIns="0" rIns="0" bIns="0" rtlCol="0" anchor="ctr"/>
          <a:lstStyle/>
          <a:p>
            <a:pPr indent="0" marL="0">
              <a:buNone/>
            </a:pPr>
            <a:r>
              <a:rPr lang="en-US" sz="1220" dirty="0">
                <a:solidFill>
                  <a:srgbClr val="34434A"/>
                </a:solidFill>
                <a:latin typeface="Noto Sans" pitchFamily="34" charset="0"/>
                <a:ea typeface="Noto Sans" pitchFamily="34" charset="-122"/>
                <a:cs typeface="Noto Sans" pitchFamily="34" charset="-120"/>
              </a:rPr>
              <a:t>Leaf-envelope shadow</a:t>
            </a:r>
            <a:endParaRPr lang="en-US" sz="1220" dirty="0"/>
          </a:p>
        </p:txBody>
      </p:sp>
      <p:sp>
        <p:nvSpPr>
          <p:cNvPr id="30" name="Shape 27"/>
          <p:cNvSpPr/>
          <p:nvPr/>
        </p:nvSpPr>
        <p:spPr>
          <a:xfrm>
            <a:off x="8174736" y="5074920"/>
            <a:ext cx="155448" cy="155448"/>
          </a:xfrm>
          <a:prstGeom prst="rect">
            <a:avLst>
              <a:gd name="adj" fmla="val 58824"/>
            </a:avLst>
          </a:prstGeom>
          <a:solidFill>
            <a:srgbClr val="639274"/>
          </a:solidFill>
          <a:ln w="7620">
            <a:solidFill>
              <a:srgbClr val="639274"/>
            </a:solidFill>
            <a:prstDash val="solid"/>
          </a:ln>
        </p:spPr>
      </p:sp>
      <p:sp>
        <p:nvSpPr>
          <p:cNvPr id="31" name="Text 28"/>
          <p:cNvSpPr/>
          <p:nvPr/>
        </p:nvSpPr>
        <p:spPr>
          <a:xfrm>
            <a:off x="8458200" y="5020056"/>
            <a:ext cx="2852928" cy="237744"/>
          </a:xfrm>
          <a:prstGeom prst="rect">
            <a:avLst/>
          </a:prstGeom>
          <a:noFill/>
          <a:ln/>
        </p:spPr>
        <p:txBody>
          <a:bodyPr wrap="square" lIns="0" tIns="0" rIns="0" bIns="0" rtlCol="0" anchor="ctr"/>
          <a:lstStyle/>
          <a:p>
            <a:pPr indent="0" marL="0">
              <a:buNone/>
            </a:pPr>
            <a:r>
              <a:rPr lang="en-US" sz="1220" dirty="0">
                <a:solidFill>
                  <a:srgbClr val="34434A"/>
                </a:solidFill>
                <a:latin typeface="Noto Sans" pitchFamily="34" charset="0"/>
                <a:ea typeface="Noto Sans" pitchFamily="34" charset="-122"/>
                <a:cs typeface="Noto Sans" pitchFamily="34" charset="-120"/>
              </a:rPr>
              <a:t>Overlap within target</a:t>
            </a:r>
            <a:endParaRPr lang="en-US" sz="1220" dirty="0"/>
          </a:p>
        </p:txBody>
      </p:sp>
      <p:graphicFrame>
        <p:nvGraphicFramePr>
          <p:cNvPr id="32" name="Chart 0" descr=""/>
          <p:cNvGraphicFramePr/>
          <p:nvPr/>
        </p:nvGraphicFramePr>
        <p:xfrm>
          <a:off x="704088" y="4983480"/>
          <a:ext cx="7059168" cy="1298448"/>
        </p:xfrm>
        <a:graphic xmlns:a="http://schemas.openxmlformats.org/drawingml/2006/main">
          <a:graphicData uri="http://schemas.openxmlformats.org/drawingml/2006/chart">
            <c:chart xmlns:c="http://schemas.openxmlformats.org/drawingml/2006/chart" r:id="rId2"/>
          </a:graphicData>
        </a:graphic>
      </p:graphicFrame>
      <p:sp>
        <p:nvSpPr>
          <p:cNvPr id="33" name="Text 29"/>
          <p:cNvSpPr/>
          <p:nvPr/>
        </p:nvSpPr>
        <p:spPr>
          <a:xfrm>
            <a:off x="8193024" y="5458968"/>
            <a:ext cx="3072384" cy="228600"/>
          </a:xfrm>
          <a:prstGeom prst="rect">
            <a:avLst/>
          </a:prstGeom>
          <a:noFill/>
          <a:ln/>
        </p:spPr>
        <p:txBody>
          <a:bodyPr wrap="square" lIns="0" tIns="0" rIns="0" bIns="0" rtlCol="0" anchor="ctr"/>
          <a:lstStyle/>
          <a:p>
            <a:pPr indent="0" marL="0">
              <a:buNone/>
            </a:pPr>
            <a:r>
              <a:rPr lang="en-US" sz="1200" b="1" dirty="0">
                <a:solidFill>
                  <a:srgbClr val="346A55"/>
                </a:solidFill>
                <a:latin typeface="Noto Sans" pitchFamily="34" charset="0"/>
                <a:ea typeface="Noto Sans" pitchFamily="34" charset="-122"/>
                <a:cs typeface="Noto Sans" pitchFamily="34" charset="-120"/>
              </a:rPr>
              <a:t>09–15 TIME MEAN</a:t>
            </a:r>
            <a:endParaRPr lang="en-US" sz="1200" dirty="0"/>
          </a:p>
        </p:txBody>
      </p:sp>
      <p:sp>
        <p:nvSpPr>
          <p:cNvPr id="34" name="Text 30"/>
          <p:cNvSpPr/>
          <p:nvPr/>
        </p:nvSpPr>
        <p:spPr>
          <a:xfrm>
            <a:off x="8193024" y="5733288"/>
            <a:ext cx="3072384" cy="521208"/>
          </a:xfrm>
          <a:prstGeom prst="rect">
            <a:avLst/>
          </a:prstGeom>
          <a:noFill/>
          <a:ln/>
        </p:spPr>
        <p:txBody>
          <a:bodyPr wrap="square" lIns="0" tIns="0" rIns="0" bIns="0" rtlCol="0" anchor="ctr"/>
          <a:lstStyle/>
          <a:p>
            <a:pPr indent="0" marL="0">
              <a:buNone/>
            </a:pPr>
            <a:r>
              <a:rPr lang="en-US" sz="1650" b="1" dirty="0">
                <a:solidFill>
                  <a:srgbClr val="173C51"/>
                </a:solidFill>
                <a:latin typeface="Noto Sans" pitchFamily="34" charset="0"/>
                <a:ea typeface="Noto Sans" pitchFamily="34" charset="-122"/>
                <a:cs typeface="Noto Sans" pitchFamily="34" charset="-120"/>
              </a:rPr>
              <a:t>Solstice 75.3%</a:t>
            </a:r>
            <a:endParaRPr lang="en-US" sz="1650" dirty="0"/>
          </a:p>
          <a:p>
            <a:pPr indent="0" marL="0">
              <a:buNone/>
            </a:pPr>
            <a:r>
              <a:rPr lang="en-US" sz="1650" b="1" dirty="0">
                <a:solidFill>
                  <a:srgbClr val="173C51"/>
                </a:solidFill>
                <a:latin typeface="Noto Sans" pitchFamily="34" charset="0"/>
                <a:ea typeface="Noto Sans" pitchFamily="34" charset="-122"/>
                <a:cs typeface="Noto Sans" pitchFamily="34" charset="-120"/>
              </a:rPr>
              <a:t>Equinox 49.8%</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SENSITIVITY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Expanding the crown raises mean blockage: 52.3% → 66.1%</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Metric 02: 09–15 mean blockage; one control at a time, 50% plan cover, solstice and τ = 0.15.</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parameter study (P5). Controls are not uniform scaling; larger cover percentage does not imply equal plant/material input.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13</a:t>
            </a:r>
            <a:endParaRPr lang="en-US" sz="1000" dirty="0"/>
          </a:p>
        </p:txBody>
      </p:sp>
      <p:pic>
        <p:nvPicPr>
          <p:cNvPr id="15" name="Image 0" descr="/workspace/temp/presentation/v9/assets/width-small.png">    </p:cNvPr>
          <p:cNvPicPr>
            <a:picLocks noChangeAspect="1"/>
          </p:cNvPicPr>
          <p:nvPr/>
        </p:nvPicPr>
        <p:blipFill>
          <a:blip r:embed="rId1"/>
          <a:stretch>
            <a:fillRect/>
          </a:stretch>
        </p:blipFill>
        <p:spPr>
          <a:xfrm>
            <a:off x="812635" y="1938528"/>
            <a:ext cx="3175329" cy="2112264"/>
          </a:xfrm>
          <a:prstGeom prst="rect">
            <a:avLst/>
          </a:prstGeom>
        </p:spPr>
      </p:pic>
      <p:pic>
        <p:nvPicPr>
          <p:cNvPr id="16" name="Image 1" descr="/workspace/temp/presentation/v9/assets/width-base.png">    </p:cNvPr>
          <p:cNvPicPr>
            <a:picLocks noChangeAspect="1"/>
          </p:cNvPicPr>
          <p:nvPr/>
        </p:nvPicPr>
        <p:blipFill>
          <a:blip r:embed="rId2"/>
          <a:stretch>
            <a:fillRect/>
          </a:stretch>
        </p:blipFill>
        <p:spPr>
          <a:xfrm>
            <a:off x="4579963" y="1938528"/>
            <a:ext cx="3175329" cy="2112264"/>
          </a:xfrm>
          <a:prstGeom prst="rect">
            <a:avLst/>
          </a:prstGeom>
        </p:spPr>
      </p:pic>
      <p:pic>
        <p:nvPicPr>
          <p:cNvPr id="17" name="Image 2" descr="/workspace/temp/presentation/v9/assets/width-large.png">    </p:cNvPr>
          <p:cNvPicPr>
            <a:picLocks noChangeAspect="1"/>
          </p:cNvPicPr>
          <p:nvPr/>
        </p:nvPicPr>
        <p:blipFill>
          <a:blip r:embed="rId3"/>
          <a:stretch>
            <a:fillRect/>
          </a:stretch>
        </p:blipFill>
        <p:spPr>
          <a:xfrm>
            <a:off x="8347291" y="1938528"/>
            <a:ext cx="3175329" cy="2112264"/>
          </a:xfrm>
          <a:prstGeom prst="rect">
            <a:avLst/>
          </a:prstGeom>
        </p:spPr>
      </p:pic>
      <p:sp>
        <p:nvSpPr>
          <p:cNvPr id="18" name="Text 13"/>
          <p:cNvSpPr/>
          <p:nvPr/>
        </p:nvSpPr>
        <p:spPr>
          <a:xfrm>
            <a:off x="594360"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SMALLER CROWN</a:t>
            </a:r>
            <a:endParaRPr lang="en-US" sz="1150" dirty="0"/>
          </a:p>
        </p:txBody>
      </p:sp>
      <p:sp>
        <p:nvSpPr>
          <p:cNvPr id="19" name="Text 14"/>
          <p:cNvSpPr/>
          <p:nvPr/>
        </p:nvSpPr>
        <p:spPr>
          <a:xfrm>
            <a:off x="4361688"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BASELINE</a:t>
            </a:r>
            <a:endParaRPr lang="en-US" sz="1150" dirty="0"/>
          </a:p>
        </p:txBody>
      </p:sp>
      <p:sp>
        <p:nvSpPr>
          <p:cNvPr id="20" name="Text 15"/>
          <p:cNvSpPr/>
          <p:nvPr/>
        </p:nvSpPr>
        <p:spPr>
          <a:xfrm>
            <a:off x="8129016"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LARGER CROWN</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10789920" cy="914400"/>
        </p:xfrm>
        <a:graphic>
          <a:graphicData uri="http://schemas.openxmlformats.org/drawingml/2006/table">
            <a:tbl>
              <a:tblPr/>
              <a:tblGrid>
                <a:gridCol w="2834640"/>
                <a:gridCol w="3200400"/>
                <a:gridCol w="4754880"/>
              </a:tblGrid>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TESTED SETTINGS</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MEAN BLOCKAGE: LOW / BASE / HIGH</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 expansion</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0.92 / 1.08 / 1.24</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52.3% / 60.2% / 66.1%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Upper-height 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−0.4 / 0 / +0.4 m</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62.6% / 60.2% / 57.8%</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Corner factor</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0.55 / 0.85 / 1.00</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61.8% / 60.2% / 59.1%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22" name="Text 16"/>
          <p:cNvSpPr/>
          <p:nvPr/>
        </p:nvSpPr>
        <p:spPr>
          <a:xfrm>
            <a:off x="758952" y="6144768"/>
            <a:ext cx="10744200" cy="201168"/>
          </a:xfrm>
          <a:prstGeom prst="rect">
            <a:avLst/>
          </a:prstGeom>
          <a:noFill/>
          <a:ln/>
        </p:spPr>
        <p:txBody>
          <a:bodyPr wrap="square" lIns="0" tIns="0" rIns="0" bIns="0" rtlCol="0" anchor="ctr"/>
          <a:lstStyle/>
          <a:p>
            <a:pPr algn="ctr" indent="0" marL="0">
              <a:buNone/>
            </a:pPr>
            <a:r>
              <a:rPr lang="en-US" sz="1370" b="1" dirty="0">
                <a:solidFill>
                  <a:srgbClr val="346A55"/>
                </a:solidFill>
                <a:latin typeface="Noto Sans" pitchFamily="34" charset="0"/>
                <a:ea typeface="Noto Sans" pitchFamily="34" charset="-122"/>
                <a:cs typeface="Noto Sans" pitchFamily="34" charset="-120"/>
              </a:rPr>
              <a:t>Wider crown → more planted area at the same cover percentage; input quantities are not held equal.</a:t>
            </a:r>
            <a:endParaRPr lang="en-US" sz="13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SPATIAL PLANT COVER</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Coverage amount alone does not determine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Metric 02: fixed structure, five spatial-cover scenarios; 09–15 mean blockage under the same assumptions.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spatial-cover calculation (P5). Frame/leaf overlap deducted, τ = 0.15; equivalent direct-beam blockage, not cooling.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14</a:t>
            </a:r>
            <a:endParaRPr lang="en-US" sz="1000" dirty="0"/>
          </a:p>
        </p:txBody>
      </p:sp>
      <p:pic>
        <p:nvPicPr>
          <p:cNvPr id="15" name="Image 0" descr="/workspace/temp/presentation/v9/assets/cover-sequence.gif">    </p:cNvPr>
          <p:cNvPicPr>
            <a:picLocks noChangeAspect="1"/>
          </p:cNvPicPr>
          <p:nvPr/>
        </p:nvPicPr>
        <p:blipFill>
          <a:blip r:embed="rId1"/>
          <a:stretch>
            <a:fillRect/>
          </a:stretch>
        </p:blipFill>
        <p:spPr>
          <a:xfrm>
            <a:off x="700016" y="2011680"/>
            <a:ext cx="4753880" cy="3438144"/>
          </a:xfrm>
          <a:prstGeom prst="rect">
            <a:avLst/>
          </a:prstGeom>
        </p:spPr>
      </p:pic>
      <p:graphicFrame>
        <p:nvGraphicFramePr>
          <p:cNvPr id="16" name="Chart 0" descr=""/>
          <p:cNvGraphicFramePr/>
          <p:nvPr/>
        </p:nvGraphicFramePr>
        <p:xfrm>
          <a:off x="6044184" y="2340864"/>
          <a:ext cx="5413248" cy="2770632"/>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217920" y="1975104"/>
            <a:ext cx="5102352" cy="237744"/>
          </a:xfrm>
          <a:prstGeom prst="rect">
            <a:avLst/>
          </a:prstGeom>
          <a:noFill/>
          <a:ln/>
        </p:spPr>
        <p:txBody>
          <a:bodyPr wrap="square" lIns="0" tIns="0" rIns="0" bIns="0" rtlCol="0" anchor="ctr"/>
          <a:lstStyle/>
          <a:p>
            <a:pPr indent="0" marL="0">
              <a:buNone/>
            </a:pPr>
            <a:r>
              <a:rPr lang="en-US" sz="1180" b="1" dirty="0">
                <a:solidFill>
                  <a:srgbClr val="346A55"/>
                </a:solidFill>
                <a:latin typeface="Noto Sans" pitchFamily="34" charset="0"/>
                <a:ea typeface="Noto Sans" pitchFamily="34" charset="-122"/>
                <a:cs typeface="Noto Sans" pitchFamily="34" charset="-120"/>
              </a:rPr>
              <a:t>09–15 MEAN DIRECT-BEAM BLOCKAGE (%)</a:t>
            </a:r>
            <a:endParaRPr lang="en-US" sz="1180" dirty="0"/>
          </a:p>
        </p:txBody>
      </p:sp>
      <p:sp>
        <p:nvSpPr>
          <p:cNvPr id="18" name="Text 14"/>
          <p:cNvSpPr/>
          <p:nvPr/>
        </p:nvSpPr>
        <p:spPr>
          <a:xfrm>
            <a:off x="6409944" y="5166360"/>
            <a:ext cx="4709160" cy="228600"/>
          </a:xfrm>
          <a:prstGeom prst="rect">
            <a:avLst/>
          </a:prstGeom>
          <a:noFill/>
          <a:ln/>
        </p:spPr>
        <p:txBody>
          <a:bodyPr wrap="square" lIns="0" tIns="0" rIns="0" bIns="0" rtlCol="0" anchor="ctr"/>
          <a:lstStyle/>
          <a:p>
            <a:pPr algn="ctr" indent="0" marL="0">
              <a:buNone/>
            </a:pPr>
            <a:r>
              <a:rPr lang="en-US" sz="1200" b="1" dirty="0">
                <a:solidFill>
                  <a:srgbClr val="66736D"/>
                </a:solidFill>
                <a:latin typeface="Noto Sans" pitchFamily="34" charset="0"/>
                <a:ea typeface="Noto Sans" pitchFamily="34" charset="-122"/>
                <a:cs typeface="Noto Sans" pitchFamily="34" charset="-120"/>
              </a:rPr>
              <a:t>PLAN COVER (%)</a:t>
            </a:r>
            <a:endParaRPr lang="en-US" sz="1200" dirty="0"/>
          </a:p>
        </p:txBody>
      </p:sp>
      <p:sp>
        <p:nvSpPr>
          <p:cNvPr id="19" name="Text 15"/>
          <p:cNvSpPr/>
          <p:nvPr/>
        </p:nvSpPr>
        <p:spPr>
          <a:xfrm>
            <a:off x="6236208" y="5486400"/>
            <a:ext cx="5093208" cy="22860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80 → 95% cover adds only 2.8 pp here.</a:t>
            </a:r>
            <a:endParaRPr lang="en-US" sz="1400" dirty="0"/>
          </a:p>
        </p:txBody>
      </p:sp>
      <p:sp>
        <p:nvSpPr>
          <p:cNvPr id="20" name="Text 16"/>
          <p:cNvSpPr/>
          <p:nvPr/>
        </p:nvSpPr>
        <p:spPr>
          <a:xfrm>
            <a:off x="612648" y="5495544"/>
            <a:ext cx="5020056"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VIEW SEQUENCE: 0 → 20 → 50 → 80 → 95% PLAN COVER</a:t>
            </a:r>
            <a:endParaRPr lang="en-US" sz="1050" dirty="0"/>
          </a:p>
        </p:txBody>
      </p:sp>
      <p:sp>
        <p:nvSpPr>
          <p:cNvPr id="21" name="Shape 17"/>
          <p:cNvSpPr/>
          <p:nvPr/>
        </p:nvSpPr>
        <p:spPr>
          <a:xfrm>
            <a:off x="676656" y="5843016"/>
            <a:ext cx="10835640" cy="393192"/>
          </a:xfrm>
          <a:prstGeom prst="rect">
            <a:avLst>
              <a:gd name="adj" fmla="val 23256"/>
            </a:avLst>
          </a:prstGeom>
          <a:solidFill>
            <a:srgbClr val="EDF1E9"/>
          </a:solidFill>
          <a:ln w="7620">
            <a:solidFill>
              <a:srgbClr val="EDF1E9"/>
            </a:solidFill>
            <a:prstDash val="solid"/>
          </a:ln>
        </p:spPr>
      </p:sp>
      <p:sp>
        <p:nvSpPr>
          <p:cNvPr id="22" name="Text 18"/>
          <p:cNvSpPr/>
          <p:nvPr/>
        </p:nvSpPr>
        <p:spPr>
          <a:xfrm>
            <a:off x="832104" y="5907024"/>
            <a:ext cx="10515600" cy="237744"/>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Same 50% cover: noon blockage varies from 62.6% to 77.5%. Leaf location matters.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APPLICATION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Put occupied-hour shade into the layout decision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rest node must coordinate seating, through movement, roots and a substantial base.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Conceptual application P4; fixed-50%-cover projection P5. No real-site compliance or measured comfort result is claimed; method lead [4].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15</a:t>
            </a:r>
            <a:endParaRPr lang="en-US" sz="1000" dirty="0"/>
          </a:p>
        </p:txBody>
      </p:sp>
      <p:pic>
        <p:nvPicPr>
          <p:cNvPr id="15" name="Image 0" descr="/workspace/temp/presentation/v9/assets/shadow-sequence.gif">    </p:cNvPr>
          <p:cNvPicPr>
            <a:picLocks noChangeAspect="1"/>
          </p:cNvPicPr>
          <p:nvPr/>
        </p:nvPicPr>
        <p:blipFill>
          <a:blip r:embed="rId1"/>
          <a:stretch>
            <a:fillRect/>
          </a:stretch>
        </p:blipFill>
        <p:spPr>
          <a:xfrm>
            <a:off x="829361" y="2020824"/>
            <a:ext cx="5299862" cy="3785616"/>
          </a:xfrm>
          <a:prstGeom prst="rect">
            <a:avLst/>
          </a:prstGeom>
        </p:spPr>
      </p:pic>
      <p:sp>
        <p:nvSpPr>
          <p:cNvPr id="16" name="Text 13"/>
          <p:cNvSpPr/>
          <p:nvPr/>
        </p:nvSpPr>
        <p:spPr>
          <a:xfrm>
            <a:off x="621792" y="5897880"/>
            <a:ext cx="5715000"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FIXED 50% PLAN COVER • SOLAR TIME 09:00 → 15:00</a:t>
            </a:r>
            <a:endParaRPr lang="en-US" sz="1050" dirty="0"/>
          </a:p>
        </p:txBody>
      </p:sp>
      <p:sp>
        <p:nvSpPr>
          <p:cNvPr id="17" name="Text 14"/>
          <p:cNvSpPr/>
          <p:nvPr/>
        </p:nvSpPr>
        <p:spPr>
          <a:xfrm>
            <a:off x="6693408" y="21031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8" name="Text 15"/>
          <p:cNvSpPr/>
          <p:nvPr/>
        </p:nvSpPr>
        <p:spPr>
          <a:xfrm>
            <a:off x="7260336" y="2103120"/>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SEATING LOCATION</a:t>
            </a:r>
            <a:endParaRPr lang="en-US" sz="2100" dirty="0"/>
          </a:p>
        </p:txBody>
      </p:sp>
      <p:sp>
        <p:nvSpPr>
          <p:cNvPr id="19" name="Text 16"/>
          <p:cNvSpPr/>
          <p:nvPr/>
        </p:nvSpPr>
        <p:spPr>
          <a:xfrm>
            <a:off x="7260336" y="2578608"/>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Use the occupied-hour footprint, not just the crown outline or shadow centroid.</a:t>
            </a:r>
            <a:endParaRPr lang="en-US" sz="1700" dirty="0"/>
          </a:p>
        </p:txBody>
      </p:sp>
      <p:sp>
        <p:nvSpPr>
          <p:cNvPr id="20" name="Text 17"/>
          <p:cNvSpPr/>
          <p:nvPr/>
        </p:nvSpPr>
        <p:spPr>
          <a:xfrm>
            <a:off x="6693408" y="34655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1" name="Text 18"/>
          <p:cNvSpPr/>
          <p:nvPr/>
        </p:nvSpPr>
        <p:spPr>
          <a:xfrm>
            <a:off x="7260336" y="34655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SPACE FOR ACCESS &amp; ROOTS</a:t>
            </a:r>
            <a:endParaRPr lang="en-US" sz="2100" dirty="0"/>
          </a:p>
        </p:txBody>
      </p:sp>
      <p:sp>
        <p:nvSpPr>
          <p:cNvPr id="22" name="Text 19"/>
          <p:cNvSpPr/>
          <p:nvPr/>
        </p:nvSpPr>
        <p:spPr>
          <a:xfrm>
            <a:off x="7260336" y="39410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Allow for circulation, counterweight, root zone, irrigation and maintenance.</a:t>
            </a:r>
            <a:endParaRPr lang="en-US" sz="1700" dirty="0"/>
          </a:p>
        </p:txBody>
      </p:sp>
      <p:sp>
        <p:nvSpPr>
          <p:cNvPr id="23" name="Text 20"/>
          <p:cNvSpPr/>
          <p:nvPr/>
        </p:nvSpPr>
        <p:spPr>
          <a:xfrm>
            <a:off x="6693408" y="48371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4" name="Text 21"/>
          <p:cNvSpPr/>
          <p:nvPr/>
        </p:nvSpPr>
        <p:spPr>
          <a:xfrm>
            <a:off x="7260336" y="48371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VALIDATE THE OUTCOME</a:t>
            </a:r>
            <a:endParaRPr lang="en-US" sz="2100" dirty="0"/>
          </a:p>
        </p:txBody>
      </p:sp>
      <p:sp>
        <p:nvSpPr>
          <p:cNvPr id="25" name="Text 22"/>
          <p:cNvSpPr/>
          <p:nvPr/>
        </p:nvSpPr>
        <p:spPr>
          <a:xfrm>
            <a:off x="7260336" y="53126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Confirm site and planting; compare radiation, temperature, humidity and wind.</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MODULAR CONSTRUCTION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Coordinate prefabricated modules and site interfaces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Numbered components help assembly; long members, heavy base and grouted joints constrain 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member/assembly and cost schedule (P3, P4). Proposed detail and labour quantities, not a tested construction programme.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85216" y="2185416"/>
          <a:ext cx="4992624" cy="914400"/>
        </p:xfrm>
        <a:graphic>
          <a:graphicData uri="http://schemas.openxmlformats.org/drawingml/2006/table">
            <a:tbl>
              <a:tblPr/>
              <a:tblGrid>
                <a:gridCol w="1417320"/>
                <a:gridCol w="3575304"/>
              </a:tblGrid>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MODULE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WHAT IS PREPARED</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Crown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47 formed/treatment-ready bamboo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Supports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12 proposed galvanised steel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Connections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Head nodes, sleeves, clamps and base flange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Foundation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Precast counterweight with anchorage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Planting</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2 + 1 plants, substrate and drip provision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98464" y="2176272"/>
            <a:ext cx="5440680" cy="475488"/>
          </a:xfrm>
          <a:prstGeom prst="rect">
            <a:avLst>
              <a:gd name="adj" fmla="val 19231"/>
            </a:avLst>
          </a:prstGeom>
          <a:solidFill>
            <a:srgbClr val="EDF1E9"/>
          </a:solidFill>
          <a:ln w="7620">
            <a:solidFill>
              <a:srgbClr val="D9DDD2"/>
            </a:solidFill>
            <a:prstDash val="solid"/>
          </a:ln>
        </p:spPr>
      </p:sp>
      <p:sp>
        <p:nvSpPr>
          <p:cNvPr id="17" name="Text 14"/>
          <p:cNvSpPr/>
          <p:nvPr/>
        </p:nvSpPr>
        <p:spPr>
          <a:xfrm>
            <a:off x="6163056" y="2258568"/>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8" name="Text 15"/>
          <p:cNvSpPr/>
          <p:nvPr/>
        </p:nvSpPr>
        <p:spPr>
          <a:xfrm>
            <a:off x="6693408" y="2249424"/>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Prefab, treat &amp; number</a:t>
            </a:r>
            <a:endParaRPr lang="en-US" sz="1700" dirty="0"/>
          </a:p>
        </p:txBody>
      </p:sp>
      <p:sp>
        <p:nvSpPr>
          <p:cNvPr id="19" name="Shape 16"/>
          <p:cNvSpPr/>
          <p:nvPr/>
        </p:nvSpPr>
        <p:spPr>
          <a:xfrm>
            <a:off x="5998464" y="2798064"/>
            <a:ext cx="5440680" cy="475488"/>
          </a:xfrm>
          <a:prstGeom prst="rect">
            <a:avLst>
              <a:gd name="adj" fmla="val 19231"/>
            </a:avLst>
          </a:prstGeom>
          <a:solidFill>
            <a:srgbClr val="EDF1E9"/>
          </a:solidFill>
          <a:ln w="7620">
            <a:solidFill>
              <a:srgbClr val="D9DDD2"/>
            </a:solidFill>
            <a:prstDash val="solid"/>
          </a:ln>
        </p:spPr>
      </p:sp>
      <p:sp>
        <p:nvSpPr>
          <p:cNvPr id="20" name="Text 17"/>
          <p:cNvSpPr/>
          <p:nvPr/>
        </p:nvSpPr>
        <p:spPr>
          <a:xfrm>
            <a:off x="6163056" y="2880360"/>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1" name="Text 18"/>
          <p:cNvSpPr/>
          <p:nvPr/>
        </p:nvSpPr>
        <p:spPr>
          <a:xfrm>
            <a:off x="6693408" y="2871216"/>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Lift base and set out</a:t>
            </a:r>
            <a:endParaRPr lang="en-US" sz="1700" dirty="0"/>
          </a:p>
        </p:txBody>
      </p:sp>
      <p:sp>
        <p:nvSpPr>
          <p:cNvPr id="22" name="Shape 19"/>
          <p:cNvSpPr/>
          <p:nvPr/>
        </p:nvSpPr>
        <p:spPr>
          <a:xfrm>
            <a:off x="5998464" y="3419856"/>
            <a:ext cx="5440680" cy="475488"/>
          </a:xfrm>
          <a:prstGeom prst="rect">
            <a:avLst>
              <a:gd name="adj" fmla="val 19231"/>
            </a:avLst>
          </a:prstGeom>
          <a:solidFill>
            <a:srgbClr val="EDF1E9"/>
          </a:solidFill>
          <a:ln w="7620">
            <a:solidFill>
              <a:srgbClr val="D9DDD2"/>
            </a:solidFill>
            <a:prstDash val="solid"/>
          </a:ln>
        </p:spPr>
      </p:sp>
      <p:sp>
        <p:nvSpPr>
          <p:cNvPr id="23" name="Text 20"/>
          <p:cNvSpPr/>
          <p:nvPr/>
        </p:nvSpPr>
        <p:spPr>
          <a:xfrm>
            <a:off x="6163056" y="3502152"/>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4" name="Text 21"/>
          <p:cNvSpPr/>
          <p:nvPr/>
        </p:nvSpPr>
        <p:spPr>
          <a:xfrm>
            <a:off x="6693408" y="3493008"/>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Support, align &amp; assemble</a:t>
            </a:r>
            <a:endParaRPr lang="en-US" sz="1700" dirty="0"/>
          </a:p>
        </p:txBody>
      </p:sp>
      <p:sp>
        <p:nvSpPr>
          <p:cNvPr id="25" name="Shape 22"/>
          <p:cNvSpPr/>
          <p:nvPr/>
        </p:nvSpPr>
        <p:spPr>
          <a:xfrm>
            <a:off x="5998464" y="4041648"/>
            <a:ext cx="5440680" cy="475488"/>
          </a:xfrm>
          <a:prstGeom prst="rect">
            <a:avLst>
              <a:gd name="adj" fmla="val 19231"/>
            </a:avLst>
          </a:prstGeom>
          <a:solidFill>
            <a:srgbClr val="EDF1E9"/>
          </a:solidFill>
          <a:ln w="7620">
            <a:solidFill>
              <a:srgbClr val="D9DDD2"/>
            </a:solidFill>
            <a:prstDash val="solid"/>
          </a:ln>
        </p:spPr>
      </p:sp>
      <p:sp>
        <p:nvSpPr>
          <p:cNvPr id="26" name="Text 23"/>
          <p:cNvSpPr/>
          <p:nvPr/>
        </p:nvSpPr>
        <p:spPr>
          <a:xfrm>
            <a:off x="6163056" y="4123944"/>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7" name="Text 24"/>
          <p:cNvSpPr/>
          <p:nvPr/>
        </p:nvSpPr>
        <p:spPr>
          <a:xfrm>
            <a:off x="6693408" y="4114800"/>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Grout, cure &amp; recheck</a:t>
            </a:r>
            <a:endParaRPr lang="en-US" sz="1700" dirty="0"/>
          </a:p>
        </p:txBody>
      </p:sp>
      <p:sp>
        <p:nvSpPr>
          <p:cNvPr id="28" name="Shape 25"/>
          <p:cNvSpPr/>
          <p:nvPr/>
        </p:nvSpPr>
        <p:spPr>
          <a:xfrm>
            <a:off x="5998464" y="4663440"/>
            <a:ext cx="5440680" cy="475488"/>
          </a:xfrm>
          <a:prstGeom prst="rect">
            <a:avLst>
              <a:gd name="adj" fmla="val 19231"/>
            </a:avLst>
          </a:prstGeom>
          <a:solidFill>
            <a:srgbClr val="EDF1E9"/>
          </a:solidFill>
          <a:ln w="7620">
            <a:solidFill>
              <a:srgbClr val="D9DDD2"/>
            </a:solidFill>
            <a:prstDash val="solid"/>
          </a:ln>
        </p:spPr>
      </p:sp>
      <p:sp>
        <p:nvSpPr>
          <p:cNvPr id="29" name="Text 26"/>
          <p:cNvSpPr/>
          <p:nvPr/>
        </p:nvSpPr>
        <p:spPr>
          <a:xfrm>
            <a:off x="6163056" y="4745736"/>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05</a:t>
            </a:r>
            <a:endParaRPr lang="en-US" sz="1400" dirty="0"/>
          </a:p>
        </p:txBody>
      </p:sp>
      <p:sp>
        <p:nvSpPr>
          <p:cNvPr id="30" name="Text 27"/>
          <p:cNvSpPr/>
          <p:nvPr/>
        </p:nvSpPr>
        <p:spPr>
          <a:xfrm>
            <a:off x="6693408" y="4736592"/>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Plant, train &amp; restore</a:t>
            </a:r>
            <a:endParaRPr lang="en-US" sz="1700" dirty="0"/>
          </a:p>
        </p:txBody>
      </p:sp>
      <p:sp>
        <p:nvSpPr>
          <p:cNvPr id="31" name="Text 28"/>
          <p:cNvSpPr/>
          <p:nvPr/>
        </p:nvSpPr>
        <p:spPr>
          <a:xfrm>
            <a:off x="722376" y="5824728"/>
            <a:ext cx="10744200" cy="420624"/>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14 person-days estimated ≠ 14 calendar days. The ≈9.07 t base controls lifting; grouted nodes limit lossless reversal.</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WORK SUMMARY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 geometry, construction and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design workstreams now have traceable outputs.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Synthesis of project records P1–P5. Product, joint and site-specific evidence are the next verification priorities.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17</a:t>
            </a:r>
            <a:endParaRPr lang="en-US" sz="1000" dirty="0"/>
          </a:p>
        </p:txBody>
      </p:sp>
      <p:sp>
        <p:nvSpPr>
          <p:cNvPr id="15" name="Shape 13"/>
          <p:cNvSpPr/>
          <p:nvPr/>
        </p:nvSpPr>
        <p:spPr>
          <a:xfrm>
            <a:off x="594360" y="2295144"/>
            <a:ext cx="3566160" cy="2377440"/>
          </a:xfrm>
          <a:prstGeom prst="rect">
            <a:avLst>
              <a:gd name="adj" fmla="val 3846"/>
            </a:avLst>
          </a:prstGeom>
          <a:solidFill>
            <a:srgbClr val="EDF1E9"/>
          </a:solidFill>
          <a:ln w="7620">
            <a:solidFill>
              <a:srgbClr val="D9DDD2"/>
            </a:solidFill>
            <a:prstDash val="solid"/>
          </a:ln>
        </p:spPr>
      </p:sp>
      <p:sp>
        <p:nvSpPr>
          <p:cNvPr id="16" name="Text 14"/>
          <p:cNvSpPr/>
          <p:nvPr/>
        </p:nvSpPr>
        <p:spPr>
          <a:xfrm>
            <a:off x="777240"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GEOMETRY</a:t>
            </a:r>
            <a:endParaRPr lang="en-US" sz="1600" dirty="0"/>
          </a:p>
        </p:txBody>
      </p:sp>
      <p:sp>
        <p:nvSpPr>
          <p:cNvPr id="17" name="Text 15"/>
          <p:cNvSpPr/>
          <p:nvPr/>
        </p:nvSpPr>
        <p:spPr>
          <a:xfrm>
            <a:off x="777240"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Rhino/GH model and parameters</a:t>
            </a:r>
            <a:endParaRPr lang="en-US" sz="2200" dirty="0"/>
          </a:p>
        </p:txBody>
      </p:sp>
      <p:sp>
        <p:nvSpPr>
          <p:cNvPr id="18" name="Text 16"/>
          <p:cNvSpPr/>
          <p:nvPr/>
        </p:nvSpPr>
        <p:spPr>
          <a:xfrm>
            <a:off x="777240"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Final form, drawings and material take-off</a:t>
            </a:r>
            <a:endParaRPr lang="en-US" sz="1600" dirty="0"/>
          </a:p>
        </p:txBody>
      </p:sp>
      <p:sp>
        <p:nvSpPr>
          <p:cNvPr id="19" name="Shape 17"/>
          <p:cNvSpPr/>
          <p:nvPr/>
        </p:nvSpPr>
        <p:spPr>
          <a:xfrm>
            <a:off x="4370832" y="2295144"/>
            <a:ext cx="3566160" cy="2377440"/>
          </a:xfrm>
          <a:prstGeom prst="rect">
            <a:avLst>
              <a:gd name="adj" fmla="val 3846"/>
            </a:avLst>
          </a:prstGeom>
          <a:solidFill>
            <a:srgbClr val="EDF1E9"/>
          </a:solidFill>
          <a:ln w="7620">
            <a:solidFill>
              <a:srgbClr val="D9DDD2"/>
            </a:solidFill>
            <a:prstDash val="solid"/>
          </a:ln>
        </p:spPr>
      </p:sp>
      <p:sp>
        <p:nvSpPr>
          <p:cNvPr id="20" name="Text 18"/>
          <p:cNvSpPr/>
          <p:nvPr/>
        </p:nvSpPr>
        <p:spPr>
          <a:xfrm>
            <a:off x="4553712"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MATERIALS &amp; BUILD-UP</a:t>
            </a:r>
            <a:endParaRPr lang="en-US" sz="1600" dirty="0"/>
          </a:p>
        </p:txBody>
      </p:sp>
      <p:sp>
        <p:nvSpPr>
          <p:cNvPr id="21" name="Text 19"/>
          <p:cNvSpPr/>
          <p:nvPr/>
        </p:nvSpPr>
        <p:spPr>
          <a:xfrm>
            <a:off x="4553712"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Screening, sections, budget and modules</a:t>
            </a:r>
            <a:endParaRPr lang="en-US" sz="2200" dirty="0"/>
          </a:p>
        </p:txBody>
      </p:sp>
      <p:sp>
        <p:nvSpPr>
          <p:cNvPr id="22" name="Text 20"/>
          <p:cNvSpPr/>
          <p:nvPr/>
        </p:nvSpPr>
        <p:spPr>
          <a:xfrm>
            <a:off x="4553712"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Proposed interfaces and implementation constraints</a:t>
            </a:r>
            <a:endParaRPr lang="en-US" sz="1600" dirty="0"/>
          </a:p>
        </p:txBody>
      </p:sp>
      <p:sp>
        <p:nvSpPr>
          <p:cNvPr id="23" name="Shape 21"/>
          <p:cNvSpPr/>
          <p:nvPr/>
        </p:nvSpPr>
        <p:spPr>
          <a:xfrm>
            <a:off x="8147304" y="2295144"/>
            <a:ext cx="3566160" cy="2377440"/>
          </a:xfrm>
          <a:prstGeom prst="rect">
            <a:avLst>
              <a:gd name="adj" fmla="val 3846"/>
            </a:avLst>
          </a:prstGeom>
          <a:solidFill>
            <a:srgbClr val="EDF1E9"/>
          </a:solidFill>
          <a:ln w="7620">
            <a:solidFill>
              <a:srgbClr val="D9DDD2"/>
            </a:solidFill>
            <a:prstDash val="solid"/>
          </a:ln>
        </p:spPr>
      </p:sp>
      <p:sp>
        <p:nvSpPr>
          <p:cNvPr id="24" name="Text 22"/>
          <p:cNvSpPr/>
          <p:nvPr/>
        </p:nvSpPr>
        <p:spPr>
          <a:xfrm>
            <a:off x="8330184"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PERFORMANCE</a:t>
            </a:r>
            <a:endParaRPr lang="en-US" sz="1600" dirty="0"/>
          </a:p>
        </p:txBody>
      </p:sp>
      <p:sp>
        <p:nvSpPr>
          <p:cNvPr id="25" name="Text 23"/>
          <p:cNvSpPr/>
          <p:nvPr/>
        </p:nvSpPr>
        <p:spPr>
          <a:xfrm>
            <a:off x="8330184"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Time-dependent shade and sensitivity</a:t>
            </a:r>
            <a:endParaRPr lang="en-US" sz="2200" dirty="0"/>
          </a:p>
        </p:txBody>
      </p:sp>
      <p:sp>
        <p:nvSpPr>
          <p:cNvPr id="26" name="Text 24"/>
          <p:cNvSpPr/>
          <p:nvPr/>
        </p:nvSpPr>
        <p:spPr>
          <a:xfrm>
            <a:off x="8330184"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cover and spatial-distribution effects</a:t>
            </a:r>
            <a:endParaRPr lang="en-US" sz="1600" dirty="0"/>
          </a:p>
        </p:txBody>
      </p:sp>
      <p:sp>
        <p:nvSpPr>
          <p:cNvPr id="27" name="Shape 25"/>
          <p:cNvSpPr/>
          <p:nvPr/>
        </p:nvSpPr>
        <p:spPr>
          <a:xfrm>
            <a:off x="749808" y="5148072"/>
            <a:ext cx="3474720" cy="411480"/>
          </a:xfrm>
          <a:prstGeom prst="rect">
            <a:avLst>
              <a:gd name="adj" fmla="val 22222"/>
            </a:avLst>
          </a:prstGeom>
          <a:solidFill>
            <a:srgbClr val="EDF1E9"/>
          </a:solidFill>
          <a:ln w="7620">
            <a:solidFill>
              <a:srgbClr val="EDF1E9"/>
            </a:solidFill>
            <a:prstDash val="solid"/>
          </a:ln>
        </p:spPr>
      </p:sp>
      <p:sp>
        <p:nvSpPr>
          <p:cNvPr id="28" name="Text 26"/>
          <p:cNvSpPr/>
          <p:nvPr/>
        </p:nvSpPr>
        <p:spPr>
          <a:xfrm>
            <a:off x="859536"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7 PARAMETER MODELS</a:t>
            </a:r>
            <a:endParaRPr lang="en-US" sz="1400" dirty="0"/>
          </a:p>
        </p:txBody>
      </p:sp>
      <p:sp>
        <p:nvSpPr>
          <p:cNvPr id="29" name="Shape 27"/>
          <p:cNvSpPr/>
          <p:nvPr/>
        </p:nvSpPr>
        <p:spPr>
          <a:xfrm>
            <a:off x="4389120" y="5148072"/>
            <a:ext cx="3474720" cy="411480"/>
          </a:xfrm>
          <a:prstGeom prst="rect">
            <a:avLst>
              <a:gd name="adj" fmla="val 22222"/>
            </a:avLst>
          </a:prstGeom>
          <a:solidFill>
            <a:srgbClr val="EDF1E9"/>
          </a:solidFill>
          <a:ln w="7620">
            <a:solidFill>
              <a:srgbClr val="EDF1E9"/>
            </a:solidFill>
            <a:prstDash val="solid"/>
          </a:ln>
        </p:spPr>
      </p:sp>
      <p:sp>
        <p:nvSpPr>
          <p:cNvPr id="30" name="Text 28"/>
          <p:cNvSpPr/>
          <p:nvPr/>
        </p:nvSpPr>
        <p:spPr>
          <a:xfrm>
            <a:off x="4498848"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 COVER STATES</a:t>
            </a:r>
            <a:endParaRPr lang="en-US" sz="1400" dirty="0"/>
          </a:p>
        </p:txBody>
      </p:sp>
      <p:sp>
        <p:nvSpPr>
          <p:cNvPr id="31" name="Shape 29"/>
          <p:cNvSpPr/>
          <p:nvPr/>
        </p:nvSpPr>
        <p:spPr>
          <a:xfrm>
            <a:off x="8028432" y="5148072"/>
            <a:ext cx="3474720" cy="411480"/>
          </a:xfrm>
          <a:prstGeom prst="rect">
            <a:avLst>
              <a:gd name="adj" fmla="val 22222"/>
            </a:avLst>
          </a:prstGeom>
          <a:solidFill>
            <a:srgbClr val="EDF1E9"/>
          </a:solidFill>
          <a:ln w="7620">
            <a:solidFill>
              <a:srgbClr val="EDF1E9"/>
            </a:solidFill>
            <a:prstDash val="solid"/>
          </a:ln>
        </p:spPr>
      </p:sp>
      <p:sp>
        <p:nvSpPr>
          <p:cNvPr id="32" name="Text 30"/>
          <p:cNvSpPr/>
          <p:nvPr/>
        </p:nvSpPr>
        <p:spPr>
          <a:xfrm>
            <a:off x="8138160"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1,750 TIME-STEP RESULTS</a:t>
            </a:r>
            <a:endParaRPr lang="en-US" sz="1400" dirty="0"/>
          </a:p>
        </p:txBody>
      </p:sp>
      <p:sp>
        <p:nvSpPr>
          <p:cNvPr id="33" name="Text 31"/>
          <p:cNvSpPr/>
          <p:nvPr/>
        </p:nvSpPr>
        <p:spPr>
          <a:xfrm>
            <a:off x="795528" y="5870448"/>
            <a:ext cx="10652760" cy="320040"/>
          </a:xfrm>
          <a:prstGeom prst="rect">
            <a:avLst/>
          </a:prstGeom>
          <a:noFill/>
          <a:ln/>
        </p:spPr>
        <p:txBody>
          <a:bodyPr wrap="square" lIns="0" tIns="0" rIns="0" bIns="0" rtlCol="0" anchor="ctr"/>
          <a:lstStyle/>
          <a:p>
            <a:pPr algn="ctr" indent="0" marL="0">
              <a:buNone/>
            </a:pPr>
            <a:r>
              <a:rPr lang="en-US" sz="1800" b="1" dirty="0">
                <a:solidFill>
                  <a:srgbClr val="173C51"/>
                </a:solidFill>
                <a:latin typeface="Noto Sans" pitchFamily="34" charset="0"/>
                <a:ea typeface="Noto Sans" pitchFamily="34" charset="-122"/>
                <a:cs typeface="Noto Sans" pitchFamily="34" charset="-120"/>
              </a:rPr>
              <a:t>Next: confirm products and joints, check plant suitability, and test the real site.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REFERENCES / Q&amp;A</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References and project evidence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Method sources and project inputs are separate; drawings, brief and schedules accompany the deck.</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entries were supplied with project records; original-source checks remain pending. Unverified factors are not presented as certified standards.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18</a:t>
            </a:r>
            <a:endParaRPr lang="en-US" sz="1000" dirty="0"/>
          </a:p>
        </p:txBody>
      </p:sp>
      <p:sp>
        <p:nvSpPr>
          <p:cNvPr id="15" name="Text 13"/>
          <p:cNvSpPr/>
          <p:nvPr/>
        </p:nvSpPr>
        <p:spPr>
          <a:xfrm>
            <a:off x="59436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[1] OUTDOOR SHADE &amp; COMFORT</a:t>
            </a:r>
            <a:endParaRPr lang="en-US" sz="1300" dirty="0"/>
          </a:p>
        </p:txBody>
      </p:sp>
      <p:sp>
        <p:nvSpPr>
          <p:cNvPr id="16" name="Text 14"/>
          <p:cNvSpPr/>
          <p:nvPr/>
        </p:nvSpPr>
        <p:spPr>
          <a:xfrm>
            <a:off x="59436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Watanabe et al. (2014). Evaluation of outdoor thermal comfort in sunlight, building shade, and pergola shade during summer in a humid subtropical region. Building and Environment, 82, 556–565.</a:t>
            </a:r>
            <a:endParaRPr lang="en-US" sz="1350" dirty="0"/>
          </a:p>
        </p:txBody>
      </p:sp>
      <p:sp>
        <p:nvSpPr>
          <p:cNvPr id="17" name="Text 15"/>
          <p:cNvSpPr/>
          <p:nvPr/>
        </p:nvSpPr>
        <p:spPr>
          <a:xfrm>
            <a:off x="621792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[2] GREENING MECHANISMS</a:t>
            </a:r>
            <a:endParaRPr lang="en-US" sz="1300" dirty="0"/>
          </a:p>
        </p:txBody>
      </p:sp>
      <p:sp>
        <p:nvSpPr>
          <p:cNvPr id="18" name="Text 16"/>
          <p:cNvSpPr/>
          <p:nvPr/>
        </p:nvSpPr>
        <p:spPr>
          <a:xfrm>
            <a:off x="621792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Hoelscher et al. (2016). Quantifying cooling effects of facade greening: Shading, transpiration and insulation. Energy and Buildings, 114, 283–290.</a:t>
            </a:r>
            <a:endParaRPr lang="en-US" sz="1350" dirty="0"/>
          </a:p>
        </p:txBody>
      </p:sp>
      <p:sp>
        <p:nvSpPr>
          <p:cNvPr id="19" name="Text 17"/>
          <p:cNvSpPr/>
          <p:nvPr/>
        </p:nvSpPr>
        <p:spPr>
          <a:xfrm>
            <a:off x="59436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[3] SOLAR GEOMETRY</a:t>
            </a:r>
            <a:endParaRPr lang="en-US" sz="1300" dirty="0"/>
          </a:p>
        </p:txBody>
      </p:sp>
      <p:sp>
        <p:nvSpPr>
          <p:cNvPr id="20" name="Text 18"/>
          <p:cNvSpPr/>
          <p:nvPr/>
        </p:nvSpPr>
        <p:spPr>
          <a:xfrm>
            <a:off x="59436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NOAA Global Monitoring Division. General Solar Position Calculations.</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gml.noaa.gov/grad/solcalc/solareqns.PDF</a:t>
            </a:r>
            <a:endParaRPr lang="en-US" sz="1350" dirty="0"/>
          </a:p>
        </p:txBody>
      </p:sp>
      <p:sp>
        <p:nvSpPr>
          <p:cNvPr id="21" name="Text 19"/>
          <p:cNvSpPr/>
          <p:nvPr/>
        </p:nvSpPr>
        <p:spPr>
          <a:xfrm>
            <a:off x="621792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[4] COMFORT METHOD</a:t>
            </a:r>
            <a:endParaRPr lang="en-US" sz="1300" dirty="0"/>
          </a:p>
        </p:txBody>
      </p:sp>
      <p:sp>
        <p:nvSpPr>
          <p:cNvPr id="22" name="Text 20"/>
          <p:cNvSpPr/>
          <p:nvPr/>
        </p:nvSpPr>
        <p:spPr>
          <a:xfrm>
            <a:off x="621792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UTCI Calculator / COST Action 730.</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www.utci.org/utci_calc.php</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Method lead only; no project UTCI result is reported.</a:t>
            </a:r>
            <a:endParaRPr lang="en-US" sz="1350" dirty="0"/>
          </a:p>
        </p:txBody>
      </p:sp>
      <p:sp>
        <p:nvSpPr>
          <p:cNvPr id="23" name="Shape 21"/>
          <p:cNvSpPr/>
          <p:nvPr/>
        </p:nvSpPr>
        <p:spPr>
          <a:xfrm>
            <a:off x="594360" y="5120640"/>
            <a:ext cx="10927080" cy="0"/>
          </a:xfrm>
          <a:prstGeom prst="line">
            <a:avLst/>
          </a:prstGeom>
          <a:noFill/>
          <a:ln w="8890">
            <a:solidFill>
              <a:srgbClr val="D9DDD2"/>
            </a:solidFill>
            <a:prstDash val="solid"/>
          </a:ln>
        </p:spPr>
      </p:sp>
      <p:sp>
        <p:nvSpPr>
          <p:cNvPr id="24" name="Text 22"/>
          <p:cNvSpPr/>
          <p:nvPr/>
        </p:nvSpPr>
        <p:spPr>
          <a:xfrm>
            <a:off x="594360" y="5285232"/>
            <a:ext cx="210312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PROJECT RECORDS</a:t>
            </a:r>
            <a:endParaRPr lang="en-US" sz="1300" dirty="0"/>
          </a:p>
        </p:txBody>
      </p:sp>
      <p:sp>
        <p:nvSpPr>
          <p:cNvPr id="25" name="Text 23"/>
          <p:cNvSpPr/>
          <p:nvPr/>
        </p:nvSpPr>
        <p:spPr>
          <a:xfrm>
            <a:off x="2743200" y="5257800"/>
            <a:ext cx="8686800" cy="640080"/>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P1 Model &amp; take-off  •  P2 Ideal shade analysis  •  P3 Cost-Analysis.xlsx</a:t>
            </a:r>
            <a:endParaRPr lang="en-US" sz="1400" dirty="0"/>
          </a:p>
          <a:p>
            <a:pPr indent="0" marL="0">
              <a:buNone/>
            </a:pPr>
            <a:r>
              <a:rPr lang="en-US" sz="1400" dirty="0">
                <a:solidFill>
                  <a:srgbClr val="34434A"/>
                </a:solidFill>
                <a:latin typeface="Noto Sans" pitchFamily="34" charset="0"/>
                <a:ea typeface="Noto Sans" pitchFamily="34" charset="-122"/>
                <a:cs typeface="Noto Sans" pitchFamily="34" charset="-120"/>
              </a:rPr>
              <a:t>P4 Proposed design &amp; build-up  •  P5 Parameter and spatial-cover simulation</a:t>
            </a:r>
            <a:endParaRPr lang="en-US" sz="1400" dirty="0"/>
          </a:p>
        </p:txBody>
      </p:sp>
      <p:sp>
        <p:nvSpPr>
          <p:cNvPr id="26" name="Text 24"/>
          <p:cNvSpPr/>
          <p:nvPr/>
        </p:nvSpPr>
        <p:spPr>
          <a:xfrm>
            <a:off x="594360" y="6035040"/>
            <a:ext cx="10972800" cy="25603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Project models, optical scenarios and estimates are identified separately from published literature.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VineWeave Canopy — Course-aligned Draft V9</dc:title>
  <dc:subject>green building — VineWeave Canopy</dc:subject>
  <dc:creator>Group 12</dc:creator>
  <cp:lastModifiedBy>Group 12</cp:lastModifiedBy>
  <cp:revision>1</cp:revision>
  <dcterms:created xsi:type="dcterms:W3CDTF">2026-10-25T12:28:07Z</dcterms:created>
  <dcterms:modified xsi:type="dcterms:W3CDTF">2026-10-25T12:28:07Z</dcterms:modified>
</cp:coreProperties>
</file>